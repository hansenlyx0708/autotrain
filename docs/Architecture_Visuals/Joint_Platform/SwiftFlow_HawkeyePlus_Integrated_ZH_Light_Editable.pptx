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6"/>
    <p:sldId id="257" r:id="rId8"/>
    <p:sldId id="258" r:id="rId9"/>
    <p:sldId id="259" r:id="rId10"/>
    <p:sldId id="260" r:id="rId5"/>
    <p:sldId id="261" r:id="rId4"/>
    <p:sldId id="262" r:id="rId3"/>
    <p:sldId id="263" r:id="rId2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场与目录" id="{3D948A26-D3CA-5D21-AE52-D9C0F9DF5AD9}">
          <p14:sldIdLst>
            <p14:sldId id="256"/>
            <p14:sldId id="257"/>
          </p14:sldIdLst>
        </p14:section>
        <p14:section name="01 总体概念与建设目的" id="{555D7790-52B7-52BB-A85A-B92DA569A824}">
          <p14:sldIdLst>
            <p14:sldId id="258"/>
            <p14:sldId id="259"/>
            <p14:sldId id="260"/>
            <p14:sldId id="261"/>
          </p14:sldIdLst>
        </p14:section>
        <p14:section name="02 SwiftFlow" id="{DF6230D3-5069-590E-93D1-3575B8B7D9C7}">
          <p14:sldIdLst>
            <p14:sldId id="262"/>
            <p14:sldId id="263"/>
            <p14:sldId id="264"/>
            <p14:sldId id="265"/>
          </p14:sldIdLst>
        </p14:section>
        <p14:section name="03 HawkeyePlus" id="{DEC436D3-2216-5E55-95FA-26EB39640443}">
          <p14:sldIdLst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04 协同交付" id="{8B22EB54-2A45-523E-998E-F65D6C00DFF0}">
          <p14:sldIdLst>
            <p14:sldId id="272"/>
            <p14:sldId id="273"/>
          </p14:sldIdLst>
        </p14:section>
        <p14:section name="总结与交流" id="{16B0AC5B-99E9-5F1F-93DD-AD8C92D6E0B8}">
          <p14:sldIdLst>
            <p14:sldId id="274"/>
            <p14:sldId id="27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96" y="4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8.xml"/><Relationship Id="rId3" Type="http://schemas.openxmlformats.org/officeDocument/2006/relationships/slide" Target="slides/slide7.xml"/><Relationship Id="rId4" Type="http://schemas.openxmlformats.org/officeDocument/2006/relationships/slide" Target="slides/slide6.xml"/><Relationship Id="rId5" Type="http://schemas.openxmlformats.org/officeDocument/2006/relationships/slide" Target="slides/slide5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完整汇报标题为《SwiftFlow + HawkeyePlus：工业检测与测量标准化平台——架构、流程与协同交付》。先说明总体概念与标准化目的，再分别介绍设备与流程执行平台、模型研发平台，最后说明联合验收和交付基线。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全篇分四章：总体概念与建设目的、SwiftFlow、HawkeyePlus、协同交付，最后总结交流。目录卡片可在 PowerPoint 放映时点击，跳到对应章节首页。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章节过渡：总体概念与建设目的。本章重点：建立统一的工程方法。引导问题：如何让硬件、工艺与算法形成统一方法？。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这是一套统一工程方法下的两个互补平台。SwiftFlow 将设备、流程、传统视觉、模型推理和结果组织为现场执行链；HawkeyePlus 负责训练数据、模型研发、评估与版本管理。工程目标先确定检测缺陷或测量对象，再决定硬件和算法路线。双向箭头表示经过人工整理的样本/需求以及经过适配验证的模型交付，不表示现有软件已实现自动数据回流或模型同步。</a:t>
            </a:r>
          </a:p>
          <a:p/>
          <a:p>
            <a:r>
              <a:t>依据与说明：</a:t>
            </a:r>
          </a:p>
          <a:p>
            <a:r>
              <a:t>HawkeyePlus: docs/ARCHITECTURE.md; docs/FEATURES.md; src/lib/model-yaml.ts; model registry routes.</a:t>
            </a:r>
          </a:p>
          <a:p>
            <a:r>
              <a:t>SwiftFlow: docs/Architecture.md; docs/Flow_Engine_Internals.md; InferenceSessionFactory.cs; ModelInstanceConfig.cs.</a:t>
            </a:r>
          </a:p>
          <a:p>
            <a:r>
              <a:t>配图包含概念插画与既有项目示例，不作为性能、精度或量产验收证明。所有文字、模块与连线可编辑，图片可独立替换。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统一方法的目的，是减少硬件、工艺与算法在衔接处的反复工作。这里描述缺少标准时的工程风险和预期收益，不是对某团队的现状调查，也没有未经测量的效率数字。标准化输入、可复用配置和联合验收，使参与者知道每一步需要什么、交付什么以及如何判断完成。</a:t>
            </a:r>
          </a:p>
          <a:p/>
          <a:p>
            <a:r>
              <a:t>依据与说明：</a:t>
            </a:r>
          </a:p>
          <a:p>
            <a:r>
              <a:t>HawkeyePlus: docs/ARCHITECTURE.md; docs/FEATURES.md; src/lib/model-yaml.ts; model registry routes.</a:t>
            </a:r>
          </a:p>
          <a:p>
            <a:r>
              <a:t>SwiftFlow: docs/Architecture.md; docs/Flow_Engine_Internals.md; InferenceSessionFactory.cs; ModelInstanceConfig.cs.</a:t>
            </a:r>
          </a:p>
          <a:p>
            <a:r>
              <a:t>配图包含概念插画与既有项目示例，不作为性能、精度或量产验收证明。所有文字、模块与连线可编辑，图片可独立替换。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本页提出推荐标准流程，不宣称已上线一个自动化审批或交付系统。硬件设计和光机电选型由工程人员完成；SwiftFlow 提供设备接入、调试、标定与流程执行。算法开发可以选择传统视觉/数值测量，也可以由 HawkeyePlus 训练 AI。联合验证需要独立样本、误检漏检与节拍检查；测量任务还需要单位、标定与参考值一致性。各阶段交付物形成建议基线。</a:t>
            </a:r>
          </a:p>
          <a:p/>
          <a:p>
            <a:r>
              <a:t>依据与说明：</a:t>
            </a:r>
          </a:p>
          <a:p>
            <a:r>
              <a:t>HawkeyePlus: docs/ARCHITECTURE.md; docs/FEATURES.md; src/lib/model-yaml.ts; model registry routes.</a:t>
            </a:r>
          </a:p>
          <a:p>
            <a:r>
              <a:t>SwiftFlow: docs/Architecture.md; docs/Flow_Engine_Internals.md; InferenceSessionFactory.cs; ModelInstanceConfig.cs.</a:t>
            </a:r>
          </a:p>
          <a:p>
            <a:r>
              <a:t>配图包含概念插画与既有项目示例，不作为性能、精度或量产验收证明。所有文字、模块与连线可编辑，图片可独立替换。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章节过渡：SwiftFlow。本章重点：设备、流程与算法执行。引导问题：如何把设备与算法组织成可执行流程？。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SwiftFlow 是 HawkeyeUltra 的流程与执行底座。流程定义是数据，可以组合设备、视觉、AI 推理和结果节点，支持子流程、并行协同和运行控制。设备通过厂商无关接口与多实例路由接入。日志、计时、存储与结果支撑全流程。本图不表示所有设备或模型都已完成现场验收，也不代表分布式调度平台。</a:t>
            </a:r>
          </a:p>
          <a:p/>
          <a:p>
            <a:r>
              <a:t>依据与说明：</a:t>
            </a:r>
          </a:p>
          <a:p>
            <a:r>
              <a:t>HawkeyePlus: docs/ARCHITECTURE.md; docs/FEATURES.md; src/lib/model-yaml.ts; model registry routes.</a:t>
            </a:r>
          </a:p>
          <a:p>
            <a:r>
              <a:t>SwiftFlow: docs/Architecture.md; docs/Flow_Engine_Internals.md; InferenceSessionFactory.cs; ModelInstanceConfig.cs.</a:t>
            </a:r>
          </a:p>
          <a:p>
            <a:r>
              <a:t>配图包含概念插画与既有项目示例，不作为性能、精度或量产验收证明。所有文字、模块与连线可编辑，图片可独立替换。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户从相机、镜头、光源、运动和测量器件的工程方案开始。机型配置将物理设备映射到逻辑实例，调试与标定确认输入质量。再用流程节点组织定位、采集、分析、判定与结果。交付的不只是一个能运行的界面，而是设备映射、标定和工艺配置等可复用资产。SwiftFlow 不替代 CAD、光学设计或机械工程工具。</a:t>
            </a:r>
          </a:p>
          <a:p/>
          <a:p>
            <a:r>
              <a:t>依据与说明：</a:t>
            </a:r>
          </a:p>
          <a:p>
            <a:r>
              <a:t>HawkeyePlus: docs/ARCHITECTURE.md; docs/FEATURES.md; src/lib/model-yaml.ts; model registry routes.</a:t>
            </a:r>
          </a:p>
          <a:p>
            <a:r>
              <a:t>SwiftFlow: docs/Architecture.md; docs/Flow_Engine_Internals.md; InferenceSessionFactory.cs; ModelInstanceConfig.cs.</a:t>
            </a:r>
          </a:p>
          <a:p>
            <a:r>
              <a:t>配图包含概念插画与既有项目示例，不作为性能、精度或量产验收证明。所有文字、模块与连线可编辑，图片可独立替换。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检测与测量可以共用采集、编排和结果追溯底座，但输出不同。检测输出位置、类别与判定；测量输出有定义的尺寸、高度或几何指标。AI 可以帮助定位或分割，物理尺寸仍依赖标定、单位和测量算法，不能把像素掩码直接当作尺寸。传统视觉或激光/几何测量无需先训练 AI 模型。插图只说明方法，不作为精度或量产能力证明。</a:t>
            </a:r>
          </a:p>
          <a:p/>
          <a:p>
            <a:r>
              <a:t>依据与说明：</a:t>
            </a:r>
          </a:p>
          <a:p>
            <a:r>
              <a:t>HawkeyePlus: docs/ARCHITECTURE.md; docs/FEATURES.md; src/lib/model-yaml.ts; model registry routes.</a:t>
            </a:r>
          </a:p>
          <a:p>
            <a:r>
              <a:t>SwiftFlow: docs/Architecture.md; docs/Flow_Engine_Internals.md; InferenceSessionFactory.cs; ModelInstanceConfig.cs.</a:t>
            </a:r>
          </a:p>
          <a:p>
            <a:r>
              <a:t>配图包含概念插画与既有项目示例，不作为性能、精度或量产验收证明。所有文字、模块与连线可编辑，图片可独立替换。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章节过渡：HawkeyePlus。本章重点：工业视觉模型研发与验证。引导问题：如何从数据出发，形成可验证、可交付的模型？。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HawkeyePlus 是工业视觉模型训练平台。数据集、训练参数、模型三份配置深度合并成任务配置，由平台启动对应 Python 框架的训练子进程。平台负责配置、启停、监控、验证与模型资产管理，并非另一个训练算法框架。PaddlePaddle 对应 PaddleDetection/PaddleClas/PaddleSeg，PyTorch 对应TorchDet/TorchSeg，anomalib 是基于 PyTorch 的 TorchAnomaly 后端。三者是接入能力的概括，不代表三个完全独立的运行时家族。运行期是单机服务加训练子进程；图中的任务编排和 GPU 选择不代表分布式集群调度。</a:t>
            </a:r>
          </a:p>
          <a:p>
            <a:r>
              <a:t>本页展示训练平台能力；接入 SwiftFlow 前仍需按目标推理后端适配和验收。</a:t>
            </a:r>
          </a:p>
          <a:p/>
          <a:p>
            <a:r>
              <a:t>依据与说明：</a:t>
            </a:r>
          </a:p>
          <a:p>
            <a:r>
              <a:t>HawkeyePlus: docs/ARCHITECTURE.md; docs/FEATURES.md; src/lib/model-yaml.ts; model registry routes.</a:t>
            </a:r>
          </a:p>
          <a:p>
            <a:r>
              <a:t>SwiftFlow: docs/Architecture.md; docs/Flow_Engine_Internals.md; InferenceSessionFactory.cs; ModelInstanceConfig.cs.</a:t>
            </a:r>
          </a:p>
          <a:p>
            <a:r>
              <a:t>配图包含概念插画与既有项目示例，不作为性能、精度或量产验收证明。所有文字、模块与连线可编辑，图片可独立替换。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页面用项目内已有的 TEM 标注、创建训练任务、训练曲线和分割结果示例串起工作流。napari 是本仓库配套的桌面分割标注工具，内置 Web 标注是矩形框工具，二者不混为同一个浏览器页面。模型导出格式随框架支持情况而定；PaddleClas 无平台导出入口。发布指登记配置与权重、按产品管理版本并切换激活版本，外部推理服务可通过 API 查询当前版本，不代表平台自动把模型部署到现场设备。回路表示人工结合验证结果更新数据与配置，不是自动学习回流。</a:t>
            </a:r>
          </a:p>
          <a:p>
            <a:r>
              <a:t>本页展示训练平台能力；接入 SwiftFlow 前仍需按目标推理后端适配和验收。</a:t>
            </a:r>
          </a:p>
          <a:p/>
          <a:p>
            <a:r>
              <a:t>依据与说明：</a:t>
            </a:r>
          </a:p>
          <a:p>
            <a:r>
              <a:t>HawkeyePlus: docs/ARCHITECTURE.md; docs/FEATURES.md; src/lib/model-yaml.ts; model registry routes.</a:t>
            </a:r>
          </a:p>
          <a:p>
            <a:r>
              <a:t>SwiftFlow: docs/Architecture.md; docs/Flow_Engine_Internals.md; InferenceSessionFactory.cs; ModelInstanceConfig.cs.</a:t>
            </a:r>
          </a:p>
          <a:p>
            <a:r>
              <a:t>配图包含概念插画与既有项目示例，不作为性能、精度或量产验收证明。所有文字、模块与连线可编辑，图片可独立替换。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检测模型直接读取 DETECTION_PRESETS/TORCH_DET_PRESETS。PaddleDetection 有七组预设，TorchDet 有四组。SSD 的 VGG16 变体使用 SSD300，MobileNetV3-Large 变体使用 SSDLite320。PP-YOLOE、YOLOv3、PicoDet、RT-DETR、CenterNet 不属于 TorchDet。示意检测框不是实际模型预测。</a:t>
            </a:r>
          </a:p>
          <a:p>
            <a:r>
              <a:t>本页展示训练平台能力；接入 SwiftFlow 前仍需按目标推理后端适配和验收。</a:t>
            </a:r>
          </a:p>
          <a:p/>
          <a:p>
            <a:r>
              <a:t>依据与说明：</a:t>
            </a:r>
          </a:p>
          <a:p>
            <a:r>
              <a:t>HawkeyePlus: docs/ARCHITECTURE.md; docs/FEATURES.md; src/lib/model-yaml.ts; model registry routes.</a:t>
            </a:r>
          </a:p>
          <a:p>
            <a:r>
              <a:t>SwiftFlow: docs/Architecture.md; docs/Flow_Engine_Internals.md; InferenceSessionFactory.cs; ModelInstanceConfig.cs.</a:t>
            </a:r>
          </a:p>
          <a:p>
            <a:r>
              <a:t>配图包含概念插画与既有项目示例，不作为性能、精度或量产验收证明。所有文字、模块与连线可编辑，图片可独立替换。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PaddleSeg 有七个界面预设，TorchSeg 有四个。TorchSeg 中的 DeepLabV3P / DeepLabV3+ 界面名称实际对应 torchvision DeepLabV3，不含 V3+ 解码器。运行器也接受 DeepLabV3 别名，但它不是额外的第五个界面预设。TEM 图来自当前项目示例。</a:t>
            </a:r>
          </a:p>
          <a:p>
            <a:r>
              <a:t>本页展示训练平台能力；接入 SwiftFlow 前仍需按目标推理后端适配和验收。</a:t>
            </a:r>
          </a:p>
          <a:p/>
          <a:p>
            <a:r>
              <a:t>依据与说明：</a:t>
            </a:r>
          </a:p>
          <a:p>
            <a:r>
              <a:t>HawkeyePlus: docs/ARCHITECTURE.md; docs/FEATURES.md; src/lib/model-yaml.ts; model registry routes.</a:t>
            </a:r>
          </a:p>
          <a:p>
            <a:r>
              <a:t>SwiftFlow: docs/Architecture.md; docs/Flow_Engine_Internals.md; InferenceSessionFactory.cs; ModelInstanceConfig.cs.</a:t>
            </a:r>
          </a:p>
          <a:p>
            <a:r>
              <a:t>配图包含概念插画与既有项目示例，不作为性能、精度或量产验收证明。所有文字、模块与连线可编辑，图片可独立替换。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分类与异常检测预设从源码提取。分类模型按具体变体统计共九项；TorchAnomaly 五项为 PatchCore、PaDiM、STFPM、EfficientAD、SuperSimpleNet。ReverseDistillation 不是当前界面预设。图片为概念示意。完整配置值和可选骨干见 Supported_Models.md。</a:t>
            </a:r>
          </a:p>
          <a:p>
            <a:r>
              <a:t>本页展示训练平台能力；接入 SwiftFlow 前仍需按目标推理后端适配和验收。</a:t>
            </a:r>
          </a:p>
          <a:p/>
          <a:p>
            <a:r>
              <a:t>依据与说明：</a:t>
            </a:r>
          </a:p>
          <a:p>
            <a:r>
              <a:t>HawkeyePlus: docs/ARCHITECTURE.md; docs/FEATURES.md; src/lib/model-yaml.ts; model registry routes.</a:t>
            </a:r>
          </a:p>
          <a:p>
            <a:r>
              <a:t>SwiftFlow: docs/Architecture.md; docs/Flow_Engine_Internals.md; InferenceSessionFactory.cs; ModelInstanceConfig.cs.</a:t>
            </a:r>
          </a:p>
          <a:p>
            <a:r>
              <a:t>配图包含概念插画与既有项目示例，不作为性能、精度或量产验收证明。所有文字、模块与连线可编辑，图片可独立替换。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章节过渡：协同交付。本章重点：从研发效果到现场可用。引导问题：如何用交付包与联合验证连接两个平台？。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推荐以交付包加联合验收衔接两个平台。HawkeyePlus 可导出受支持框架的推理产物，并按产品登记模型版本、提供激活模型查询 API。SwiftFlow 的当前工厂实现 ONNX（含 YOLO 路径）和 Paddle 后端，模型配置包含标签、尺寸、通道顺序、归一化、阈值和输出解码。训练支持列表不等于 SwiftFlow 可直接加载列表：需逐项核对格式、算子、输入输出和预后处理。Torch 训练检查点不是可直接交付的推理模型；TorchSharp 是保留后端；当前任务枚举为检测、分类、分割，没有独立异常检测解码任务。异常模型接入需要额外适配验证。未发现现有 SwiftFlow 服务自动调用 HawkeyePlus 模型注册 API 的证据，本报告不声称自动发布/自动回流已打通。建议交付资产是工程约定，不是新增软件功能。</a:t>
            </a:r>
          </a:p>
          <a:p/>
          <a:p>
            <a:r>
              <a:t>依据与说明：</a:t>
            </a:r>
          </a:p>
          <a:p>
            <a:r>
              <a:t>HawkeyePlus: docs/ARCHITECTURE.md; docs/FEATURES.md; src/lib/model-yaml.ts; model registry routes.</a:t>
            </a:r>
          </a:p>
          <a:p>
            <a:r>
              <a:t>SwiftFlow: docs/Architecture.md; docs/Flow_Engine_Internals.md; InferenceSessionFactory.cs; ModelInstanceConfig.cs.</a:t>
            </a:r>
          </a:p>
          <a:p>
            <a:r>
              <a:t>配图包含概念插画与既有项目示例，不作为性能、精度或量产验收证明。所有文字、模块与连线可编辑，图片可独立替换。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收束为三点：统一工程方法、两个互补平台、标准化交付。强调每一步的输入输出与验收依据，将配置、模型和证据形成可复用资产。再次区分推荐工程方法与已实现自动连接器，不引入新的产品能力承诺。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结束正式介绍，围绕优先应用场景、验收与交付基线、可复用流程及模型展开交流。讨论问题不代表已经确定实施范围或量产承诺。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microsoft.com/office/2007/relationships/hdphoto" Target="../media/hdphoto1.wdp"/><Relationship Id="rId4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svg"/><Relationship Id="rId4" Type="http://schemas.openxmlformats.org/officeDocument/2006/relationships/image" Target="../media/image5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Relationship Id="rId4" Type="http://schemas.openxmlformats.org/officeDocument/2006/relationships/image" Target="../media/image8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svg"/><Relationship Id="rId3" Type="http://schemas.openxmlformats.org/officeDocument/2006/relationships/image" Target="../media/image4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Relationship Id="rId3" Type="http://schemas.openxmlformats.org/officeDocument/2006/relationships/image" Target="../media/image17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svg"/><Relationship Id="rId3" Type="http://schemas.openxmlformats.org/officeDocument/2006/relationships/image" Target="../media/image20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4.sv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microsoft.com/office/2007/relationships/hdphoto" Target="../media/hdphoto1.wdp"/><Relationship Id="rId4" Type="http://schemas.openxmlformats.org/officeDocument/2006/relationships/image" Target="../media/image2.sv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sv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svg"/><Relationship Id="rId3" Type="http://schemas.openxmlformats.org/officeDocument/2006/relationships/image" Target="../media/image4.sv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svg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4.svg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svg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,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D10952D-DE30-6FCD-1C26-B8C1FDB14C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8000" contrast="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5555" t="5555"/>
          <a:stretch>
            <a:fillRect/>
          </a:stretch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444D2225-0B72-F23D-3A3A-862838ED0D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19100" y="419100"/>
            <a:ext cx="1327152" cy="336551"/>
          </a:xfrm>
          <a:prstGeom prst="rect">
            <a:avLst/>
          </a:prstGeo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93BE6416-D41E-422A-CD46-E5463E33AC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3445344"/>
            <a:ext cx="5718175" cy="2446824"/>
          </a:xfrm>
          <a:prstGeom prst="rect">
            <a:avLst/>
          </a:prstGeom>
        </p:spPr>
        <p:txBody>
          <a:bodyPr wrap="square" lIns="27432" rIns="0" anchor="b">
            <a:spAutoFit/>
          </a:bodyPr>
          <a:lstStyle>
            <a:lvl1pPr>
              <a:lnSpc>
                <a:spcPct val="85000"/>
              </a:lnSpc>
              <a:defRPr sz="6000" b="0" i="0" spc="-17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Name or Title Goes Here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8BB7A67F-CD27-2F0E-FD90-0EFC6E6C0C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944100" y="6218118"/>
            <a:ext cx="1908175" cy="320088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 algn="r">
              <a:buNone/>
              <a:tabLst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Month 2026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42BCA8D2-68CB-4711-404F-19C993424C5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6224274"/>
            <a:ext cx="3811874" cy="313932"/>
          </a:xfrm>
          <a:prstGeom prst="rect">
            <a:avLst/>
          </a:prstGeom>
        </p:spPr>
        <p:txBody>
          <a:bodyPr wrap="square" lIns="73152" rIns="0" anchor="b">
            <a:spAutoFit/>
          </a:bodyPr>
          <a:lstStyle>
            <a:lvl1pPr marL="12700" marR="0" indent="-127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2700" marR="0" lvl="0" indent="-127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Optional subtitle goes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49AD6C-421A-2E3D-F648-B03EEB84FF43}"/>
              </a:ext>
            </a:extLst>
          </p:cNvPr>
          <p:cNvSpPr txBox="1"/>
          <p:nvPr/>
        </p:nvSpPr>
        <p:spPr>
          <a:xfrm>
            <a:off x="14737976" y="-618565"/>
            <a:ext cx="83164" cy="307777"/>
          </a:xfrm>
          <a:prstGeom prst="rect">
            <a:avLst/>
          </a:prstGeom>
        </p:spPr>
        <p:txBody>
          <a:bodyPr spcFirstLastPara="1" wrap="none" lIns="82296" tIns="45720" rIns="0" bIns="45720" rtlCol="0" anchor="t" anchorCtr="0">
            <a:spAutoFit/>
          </a:bodyPr>
          <a:lstStyle/>
          <a:p>
            <a:pPr marL="0" indent="0" algn="l">
              <a:buClr>
                <a:schemeClr val="dk1"/>
              </a:buClr>
              <a:buSzPts val="1100"/>
              <a:buFont typeface="Arial"/>
              <a:buNone/>
            </a:pPr>
            <a:endParaRPr lang="en-US" sz="1400" dirty="0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8B29DD-080A-CE13-DAD6-168F8A2A43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8000" contrast="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5555" t="5555"/>
          <a:stretch>
            <a:fillRect/>
          </a:stretch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AD317206-D91F-1336-CC8E-1F966C0D7D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19100" y="419100"/>
            <a:ext cx="1327152" cy="3365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DB8055-86D8-8523-039D-70EFE0ED66D1}"/>
              </a:ext>
            </a:extLst>
          </p:cNvPr>
          <p:cNvSpPr txBox="1"/>
          <p:nvPr/>
        </p:nvSpPr>
        <p:spPr>
          <a:xfrm>
            <a:off x="14737976" y="-618565"/>
            <a:ext cx="83164" cy="307777"/>
          </a:xfrm>
          <a:prstGeom prst="rect">
            <a:avLst/>
          </a:prstGeom>
        </p:spPr>
        <p:txBody>
          <a:bodyPr spcFirstLastPara="1" wrap="none" lIns="82296" tIns="45720" rIns="0" bIns="45720" rtlCol="0" anchor="t" anchorCtr="0">
            <a:spAutoFit/>
          </a:bodyPr>
          <a:lstStyle/>
          <a:p>
            <a:pPr marL="0" indent="0" algn="l">
              <a:buClr>
                <a:schemeClr val="dk1"/>
              </a:buClr>
              <a:buSzPts val="1100"/>
              <a:buFont typeface="Arial"/>
              <a:buNone/>
            </a:pPr>
            <a:endParaRPr lang="en-US" sz="1400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990013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vider Signal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oup 197" descr="preencoded.png">
            <a:extLst>
              <a:ext uri="{FF2B5EF4-FFF2-40B4-BE49-F238E27FC236}">
                <a16:creationId xmlns:a16="http://schemas.microsoft.com/office/drawing/2014/main" id="{51A8D2AF-7E0C-0AF4-43D7-6E68396E4D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4718050" cy="6858000"/>
          </a:xfrm>
          <a:prstGeom prst="rect">
            <a:avLst/>
          </a:prstGeom>
        </p:spPr>
      </p:pic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81A6D0E4-19D6-A8B1-AE88-0D5213F7E3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50C5E51-178B-176D-0130-2BE8EFF3DC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2892314"/>
            <a:ext cx="10480767" cy="1073371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D5BD7DCF-7E2A-1192-F4AA-30FB9E8B0299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7C2EB268-A146-B69B-39B1-B0DF171D2FBF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81A61111-DE25-4C61-E0B4-6B599695291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Group 197" descr="preencoded.png">
            <a:extLst>
              <a:ext uri="{FF2B5EF4-FFF2-40B4-BE49-F238E27FC236}">
                <a16:creationId xmlns:a16="http://schemas.microsoft.com/office/drawing/2014/main" id="{4B8A1DC3-C7F2-0815-D274-288BE1E63E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0" y="0"/>
            <a:ext cx="4718050" cy="6858000"/>
          </a:xfrm>
          <a:prstGeom prst="rect">
            <a:avLst/>
          </a:prstGeom>
        </p:spPr>
      </p:pic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31E83117-2520-4E9C-E79D-5E07E8A7AF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0A8399F9-4C95-FE3A-F317-9812913D2A36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D226227E-BAEF-CDE3-90B0-7ECD14B3EF38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WD Confidential">
            <a:extLst>
              <a:ext uri="{FF2B5EF4-FFF2-40B4-BE49-F238E27FC236}">
                <a16:creationId xmlns:a16="http://schemas.microsoft.com/office/drawing/2014/main" id="{28D55F3E-1E80-4BEF-005B-183FC593CC4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2140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vider Sync Gree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ttern 8" descr="preencoded.png">
            <a:extLst>
              <a:ext uri="{FF2B5EF4-FFF2-40B4-BE49-F238E27FC236}">
                <a16:creationId xmlns:a16="http://schemas.microsoft.com/office/drawing/2014/main" id="{492EA7CD-5111-530E-136C-AE4F91E2B1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4737100" cy="6858000"/>
          </a:xfrm>
          <a:prstGeom prst="rect">
            <a:avLst/>
          </a:prstGeom>
        </p:spPr>
      </p:pic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3CA8747C-2F9D-A88F-9F56-4F0E69FCC7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9F02862-025A-1C91-8D4A-A286A326F9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2892314"/>
            <a:ext cx="10480767" cy="1073371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7" name="2026 Western Digital Corporation All rights reserved">
            <a:extLst>
              <a:ext uri="{FF2B5EF4-FFF2-40B4-BE49-F238E27FC236}">
                <a16:creationId xmlns:a16="http://schemas.microsoft.com/office/drawing/2014/main" id="{43543C3C-242D-5BA5-F4DC-085A79D21018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7BEF80A2-97B3-E3B6-0390-74CF0FC4FFC8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WD Confidential">
            <a:extLst>
              <a:ext uri="{FF2B5EF4-FFF2-40B4-BE49-F238E27FC236}">
                <a16:creationId xmlns:a16="http://schemas.microsoft.com/office/drawing/2014/main" id="{C851D4AA-FCD6-014E-71EE-98D35FB95ED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attern 8" descr="preencoded.png">
            <a:extLst>
              <a:ext uri="{FF2B5EF4-FFF2-40B4-BE49-F238E27FC236}">
                <a16:creationId xmlns:a16="http://schemas.microsoft.com/office/drawing/2014/main" id="{B8E80A6B-5BA5-70C0-B12B-3DC2E63FE9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4737100" cy="6858000"/>
          </a:xfrm>
          <a:prstGeom prst="rect">
            <a:avLst/>
          </a:prstGeom>
        </p:spPr>
      </p:pic>
      <p:pic>
        <p:nvPicPr>
          <p:cNvPr id="6" name="Logo" descr="preencoded.png">
            <a:extLst>
              <a:ext uri="{FF2B5EF4-FFF2-40B4-BE49-F238E27FC236}">
                <a16:creationId xmlns:a16="http://schemas.microsoft.com/office/drawing/2014/main" id="{C5000C53-B8E4-94E7-8D3D-447AC585A1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0E901877-029A-B0C5-675B-F28FE38053B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7816F44E-91FA-4B17-32C7-B4FC86255156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WD Confidential">
            <a:extLst>
              <a:ext uri="{FF2B5EF4-FFF2-40B4-BE49-F238E27FC236}">
                <a16:creationId xmlns:a16="http://schemas.microsoft.com/office/drawing/2014/main" id="{66F2E182-5788-561E-827E-2FE15A4958B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5286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" name="Title 2">
            <a:extLst>
              <a:ext uri="{FF2B5EF4-FFF2-40B4-BE49-F238E27FC236}">
                <a16:creationId xmlns:a16="http://schemas.microsoft.com/office/drawing/2014/main" id="{E1F49F80-97C1-A66E-2B5D-2D79ECAD15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298" y="334667"/>
            <a:ext cx="7623267" cy="911788"/>
          </a:xfrm>
          <a:prstGeom prst="rect">
            <a:avLst/>
          </a:prstGeom>
        </p:spPr>
        <p:txBody>
          <a:bodyPr wrap="square" lIns="27432" rIns="0">
            <a:spAutoFit/>
          </a:bodyPr>
          <a:lstStyle>
            <a:lvl1pPr>
              <a:lnSpc>
                <a:spcPct val="85000"/>
              </a:lnSpc>
              <a:defRPr sz="6000" b="0" i="0" spc="-17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2" name="2026 Western Digital Corporation All rights reserved">
            <a:extLst>
              <a:ext uri="{FF2B5EF4-FFF2-40B4-BE49-F238E27FC236}">
                <a16:creationId xmlns:a16="http://schemas.microsoft.com/office/drawing/2014/main" id="{B56F9E43-CC60-AD46-0771-B41F30E06271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E2FA0076-C2ED-8AE2-2269-A99AE3C564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WD Confidential">
            <a:extLst>
              <a:ext uri="{FF2B5EF4-FFF2-40B4-BE49-F238E27FC236}">
                <a16:creationId xmlns:a16="http://schemas.microsoft.com/office/drawing/2014/main" id="{A445F926-5EF7-039C-1FEA-3E71860713A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Logo" descr="preencoded.png">
            <a:extLst>
              <a:ext uri="{FF2B5EF4-FFF2-40B4-BE49-F238E27FC236}">
                <a16:creationId xmlns:a16="http://schemas.microsoft.com/office/drawing/2014/main" id="{8D5C5AA6-FEAB-3DD7-F35A-7501ACB099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7" name="2026 Western Digital Corporation All rights reserved">
            <a:extLst>
              <a:ext uri="{FF2B5EF4-FFF2-40B4-BE49-F238E27FC236}">
                <a16:creationId xmlns:a16="http://schemas.microsoft.com/office/drawing/2014/main" id="{1476D00D-D330-F4CE-4B89-C7CC0B66897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96DFFAB2-90C7-B619-D564-62E14EC6B43F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4478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294B6A9-B7FB-A2F8-725C-0C3085265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3473" cy="6858000"/>
          </a:xfrm>
          <a:prstGeom prst="rect">
            <a:avLst/>
          </a:prstGeom>
        </p:spPr>
      </p:pic>
      <p:pic>
        <p:nvPicPr>
          <p:cNvPr id="8" name="Rectangle" descr="preencoded.png">
            <a:extLst>
              <a:ext uri="{FF2B5EF4-FFF2-40B4-BE49-F238E27FC236}">
                <a16:creationId xmlns:a16="http://schemas.microsoft.com/office/drawing/2014/main" id="{9A9E5856-D20D-ACE0-68EA-E4FA4B643E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Logo" descr="preencoded.png">
            <a:extLst>
              <a:ext uri="{FF2B5EF4-FFF2-40B4-BE49-F238E27FC236}">
                <a16:creationId xmlns:a16="http://schemas.microsoft.com/office/drawing/2014/main" id="{9E2799DA-0768-9639-C65E-1ED02F8197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73442" cy="222250"/>
          </a:xfrm>
          <a:prstGeom prst="rect">
            <a:avLst/>
          </a:prstGeom>
        </p:spPr>
      </p:pic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14E6A3D2-A345-D628-2F66-1D46F055FD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6" y="333800"/>
            <a:ext cx="2872160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7CA18611-94F7-7119-2BBD-ED593743CB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1996845"/>
            <a:ext cx="9528175" cy="2171813"/>
          </a:xfrm>
          <a:prstGeom prst="rect">
            <a:avLst/>
          </a:prstGeom>
        </p:spPr>
        <p:txBody>
          <a:bodyPr wrap="square" lIns="27432" rIns="0">
            <a:spAutoFit/>
          </a:bodyPr>
          <a:lstStyle>
            <a:lvl1pPr marL="0" indent="0">
              <a:lnSpc>
                <a:spcPct val="75000"/>
              </a:lnSpc>
              <a:buNone/>
              <a:tabLst/>
              <a:defRPr sz="6000" b="0" i="0" spc="-17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700" indent="0">
              <a:buNone/>
              <a:tabLst/>
              <a:defRPr/>
            </a:lvl2pPr>
          </a:lstStyle>
          <a:p>
            <a:pPr lvl="0"/>
            <a:r>
              <a:rPr lang="en-US" dirty="0" err="1"/>
              <a:t>Neque</a:t>
            </a:r>
            <a:r>
              <a:rPr lang="en-US" dirty="0"/>
              <a:t> porro </a:t>
            </a:r>
            <a:r>
              <a:rPr lang="en-US" dirty="0" err="1"/>
              <a:t>quisquam</a:t>
            </a:r>
            <a:r>
              <a:rPr lang="en-US" dirty="0"/>
              <a:t>  lest, qui </a:t>
            </a:r>
            <a:r>
              <a:rPr lang="en-US" dirty="0" err="1"/>
              <a:t>dolorem</a:t>
            </a:r>
            <a:r>
              <a:rPr lang="en-US" dirty="0"/>
              <a:t> ipsum </a:t>
            </a:r>
            <a:r>
              <a:rPr lang="en-US" dirty="0" err="1"/>
              <a:t>mquia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nconsectetur</a:t>
            </a:r>
            <a:r>
              <a:rPr lang="en-US" dirty="0"/>
              <a:t>.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1BAA1096-F8B4-4413-0738-4053B96B614C}"/>
              </a:ext>
            </a:extLst>
          </p:cNvPr>
          <p:cNvSpPr/>
          <p:nvPr/>
        </p:nvSpPr>
        <p:spPr>
          <a:xfrm>
            <a:off x="419100" y="6638989"/>
            <a:ext cx="2805217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A8ED09C-4867-2EC6-26F9-085BAE7B12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61477" cy="215444"/>
          </a:xfrm>
          <a:prstGeom prst="rect">
            <a:avLst/>
          </a:prstGeom>
        </p:spPr>
        <p:txBody>
          <a:bodyPr vert="horz" wrap="square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WD Confidential">
            <a:extLst>
              <a:ext uri="{FF2B5EF4-FFF2-40B4-BE49-F238E27FC236}">
                <a16:creationId xmlns:a16="http://schemas.microsoft.com/office/drawing/2014/main" id="{7D4CEC89-40AA-1B5B-CE12-440B364A7BA9}"/>
              </a:ext>
            </a:extLst>
          </p:cNvPr>
          <p:cNvSpPr/>
          <p:nvPr/>
        </p:nvSpPr>
        <p:spPr>
          <a:xfrm>
            <a:off x="8991600" y="6638990"/>
            <a:ext cx="1249597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FA5448F-7CFF-8266-10E6-61DE5C655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3473" cy="6858000"/>
          </a:xfrm>
          <a:prstGeom prst="rect">
            <a:avLst/>
          </a:prstGeom>
        </p:spPr>
      </p:pic>
      <p:pic>
        <p:nvPicPr>
          <p:cNvPr id="3" name="Rectangle" descr="preencoded.png">
            <a:extLst>
              <a:ext uri="{FF2B5EF4-FFF2-40B4-BE49-F238E27FC236}">
                <a16:creationId xmlns:a16="http://schemas.microsoft.com/office/drawing/2014/main" id="{5D79DFEB-C225-1261-AFEB-F7442840C2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7117A0D9-97CF-05FE-83BB-8EC1958335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73442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616A89E2-9E9D-DCC1-A6A7-FACB9FB222B6}"/>
              </a:ext>
            </a:extLst>
          </p:cNvPr>
          <p:cNvSpPr/>
          <p:nvPr/>
        </p:nvSpPr>
        <p:spPr>
          <a:xfrm>
            <a:off x="419100" y="6638989"/>
            <a:ext cx="2805217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86E166A4-5F37-185C-6F42-2F705278EF3B}"/>
              </a:ext>
            </a:extLst>
          </p:cNvPr>
          <p:cNvSpPr/>
          <p:nvPr/>
        </p:nvSpPr>
        <p:spPr>
          <a:xfrm>
            <a:off x="8991600" y="6638990"/>
            <a:ext cx="1249597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6218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7C55D363-7694-CD53-29C0-725701C95B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541" y="3679"/>
            <a:ext cx="12185459" cy="6854320"/>
          </a:xfrm>
          <a:prstGeom prst="rect">
            <a:avLst/>
          </a:prstGeom>
        </p:spPr>
      </p:pic>
      <p:pic>
        <p:nvPicPr>
          <p:cNvPr id="44" name="Rectangle" descr="preencoded.png">
            <a:extLst>
              <a:ext uri="{FF2B5EF4-FFF2-40B4-BE49-F238E27FC236}">
                <a16:creationId xmlns:a16="http://schemas.microsoft.com/office/drawing/2014/main" id="{93A76456-5A83-44A5-396E-9B6B07335C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-6541" y="21640"/>
            <a:ext cx="12192000" cy="6858000"/>
          </a:xfrm>
          <a:prstGeom prst="rect">
            <a:avLst/>
          </a:prstGeom>
        </p:spPr>
      </p:pic>
      <p:sp>
        <p:nvSpPr>
          <p:cNvPr id="47" name="Title 2">
            <a:extLst>
              <a:ext uri="{FF2B5EF4-FFF2-40B4-BE49-F238E27FC236}">
                <a16:creationId xmlns:a16="http://schemas.microsoft.com/office/drawing/2014/main" id="{F4A4DB78-4158-E9DF-DB03-2DBF85B2F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2401795"/>
            <a:ext cx="8575674" cy="2097690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 b="0" i="0" spc="-2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Digital </a:t>
            </a:r>
            <a:br>
              <a:rPr lang="en-US" dirty="0"/>
            </a:br>
            <a:r>
              <a:rPr lang="en-US" dirty="0"/>
              <a:t>Campaigns</a:t>
            </a:r>
          </a:p>
        </p:txBody>
      </p:sp>
      <p:pic>
        <p:nvPicPr>
          <p:cNvPr id="49" name="Logo" descr="preencoded.png">
            <a:extLst>
              <a:ext uri="{FF2B5EF4-FFF2-40B4-BE49-F238E27FC236}">
                <a16:creationId xmlns:a16="http://schemas.microsoft.com/office/drawing/2014/main" id="{78EA91C3-11B6-12D0-336F-79203E70EF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0D627A0-30FA-A34F-7E8C-E42A1E8E88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8A6C3D5C-1D46-E951-0EEE-0C4E22F1C309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3AC8F0BD-A374-B680-2814-21AC8F94A83C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bg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8E9AEFF2-5CA9-3547-82F8-27FFCA36DFD7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9FCA6C-5E91-371E-F6D8-3BC784B462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541" y="3679"/>
            <a:ext cx="12185459" cy="6854320"/>
          </a:xfrm>
          <a:prstGeom prst="rect">
            <a:avLst/>
          </a:prstGeom>
        </p:spPr>
      </p:pic>
      <p:pic>
        <p:nvPicPr>
          <p:cNvPr id="3" name="Rectangle" descr="preencoded.png">
            <a:extLst>
              <a:ext uri="{FF2B5EF4-FFF2-40B4-BE49-F238E27FC236}">
                <a16:creationId xmlns:a16="http://schemas.microsoft.com/office/drawing/2014/main" id="{3667A855-22D6-A798-4ECC-D78A8C05B62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-6541" y="21640"/>
            <a:ext cx="12192000" cy="6858000"/>
          </a:xfrm>
          <a:prstGeom prst="rect">
            <a:avLst/>
          </a:prstGeom>
        </p:spPr>
      </p:pic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9E76867D-9CC8-F74B-C61C-695F1E8B7B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5536699C-5E35-4C3F-E47A-5D4264B2681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7A6491E-D2AE-28FB-61D1-982D84867254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bg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324C0605-140B-C7F0-FB36-D99ADFA7A6D2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5780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7C55D363-7694-CD53-29C0-725701C95B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4" name="Rectangle" descr="preencoded.png">
            <a:extLst>
              <a:ext uri="{FF2B5EF4-FFF2-40B4-BE49-F238E27FC236}">
                <a16:creationId xmlns:a16="http://schemas.microsoft.com/office/drawing/2014/main" id="{93A76456-5A83-44A5-396E-9B6B07335C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7" name="Title 2">
            <a:extLst>
              <a:ext uri="{FF2B5EF4-FFF2-40B4-BE49-F238E27FC236}">
                <a16:creationId xmlns:a16="http://schemas.microsoft.com/office/drawing/2014/main" id="{F4A4DB78-4158-E9DF-DB03-2DBF85B2F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2401795"/>
            <a:ext cx="8575674" cy="2097690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 b="0" i="0" spc="-2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Digital </a:t>
            </a:r>
            <a:br>
              <a:rPr lang="en-US" dirty="0"/>
            </a:br>
            <a:r>
              <a:rPr lang="en-US" dirty="0"/>
              <a:t>Campaigns</a:t>
            </a:r>
          </a:p>
        </p:txBody>
      </p:sp>
      <p:pic>
        <p:nvPicPr>
          <p:cNvPr id="49" name="Logo" descr="preencoded.png">
            <a:extLst>
              <a:ext uri="{FF2B5EF4-FFF2-40B4-BE49-F238E27FC236}">
                <a16:creationId xmlns:a16="http://schemas.microsoft.com/office/drawing/2014/main" id="{78EA91C3-11B6-12D0-336F-79203E70EF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0D627A0-30FA-A34F-7E8C-E42A1E8E88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D363C1E8-5089-B9FA-CE6E-836B104C789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BF820EF3-2F7F-19FA-D6A9-D73972234C0B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bg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699DF058-C076-F33E-85A6-735C51323807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D76353-BD20-46D2-A72C-5C484B5513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ectangle" descr="preencoded.png">
            <a:extLst>
              <a:ext uri="{FF2B5EF4-FFF2-40B4-BE49-F238E27FC236}">
                <a16:creationId xmlns:a16="http://schemas.microsoft.com/office/drawing/2014/main" id="{9D0E6881-060A-AB9B-5A7C-27172765E9B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07D63953-6E28-D248-EEF7-4EF1AE9639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55F8251C-6E56-45F3-67C1-19338E462990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5DFB88CA-7BDD-C5D2-D0D9-42576E51CD3F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bg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B081D625-CB24-F79C-BCA5-9D73F71545B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3898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7C55D363-7694-CD53-29C0-725701C95B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44" name="Rectangle" descr="preencoded.png">
            <a:extLst>
              <a:ext uri="{FF2B5EF4-FFF2-40B4-BE49-F238E27FC236}">
                <a16:creationId xmlns:a16="http://schemas.microsoft.com/office/drawing/2014/main" id="{93A76456-5A83-44A5-396E-9B6B07335C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0" y="21640"/>
            <a:ext cx="12192000" cy="6858000"/>
          </a:xfrm>
          <a:prstGeom prst="rect">
            <a:avLst/>
          </a:prstGeom>
        </p:spPr>
      </p:pic>
      <p:sp>
        <p:nvSpPr>
          <p:cNvPr id="47" name="Title 2">
            <a:extLst>
              <a:ext uri="{FF2B5EF4-FFF2-40B4-BE49-F238E27FC236}">
                <a16:creationId xmlns:a16="http://schemas.microsoft.com/office/drawing/2014/main" id="{F4A4DB78-4158-E9DF-DB03-2DBF85B2F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2401795"/>
            <a:ext cx="8575674" cy="2097690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 b="0" i="0" spc="-2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Digital </a:t>
            </a:r>
            <a:br>
              <a:rPr lang="en-US" dirty="0"/>
            </a:br>
            <a:r>
              <a:rPr lang="en-US" dirty="0"/>
              <a:t>Campaigns</a:t>
            </a:r>
          </a:p>
        </p:txBody>
      </p:sp>
      <p:pic>
        <p:nvPicPr>
          <p:cNvPr id="49" name="Logo" descr="preencoded.png">
            <a:extLst>
              <a:ext uri="{FF2B5EF4-FFF2-40B4-BE49-F238E27FC236}">
                <a16:creationId xmlns:a16="http://schemas.microsoft.com/office/drawing/2014/main" id="{78EA91C3-11B6-12D0-336F-79203E70EF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0D627A0-30FA-A34F-7E8C-E42A1E8E88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6D8E48EE-FF4E-C7B4-43D5-60E5BCEA561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7099DFAC-E659-27B5-C5E0-9880EB7B67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67FD7E3D-698C-FAF6-DC44-1696CB6F75F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3EDA09F-2CAE-03F5-559E-7163E6F5D6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3" name="Rectangle" descr="preencoded.png">
            <a:extLst>
              <a:ext uri="{FF2B5EF4-FFF2-40B4-BE49-F238E27FC236}">
                <a16:creationId xmlns:a16="http://schemas.microsoft.com/office/drawing/2014/main" id="{DDDDCE1A-2BFE-3539-1DC7-03BCCBE2D68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0" y="21640"/>
            <a:ext cx="12192000" cy="6858000"/>
          </a:xfrm>
          <a:prstGeom prst="rect">
            <a:avLst/>
          </a:prstGeom>
        </p:spPr>
      </p:pic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5C13EDCC-C727-934F-B6F6-513EE85A15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8D453EB8-8FBB-E049-F733-858FB7188C0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WD Confidential">
            <a:extLst>
              <a:ext uri="{FF2B5EF4-FFF2-40B4-BE49-F238E27FC236}">
                <a16:creationId xmlns:a16="http://schemas.microsoft.com/office/drawing/2014/main" id="{09545377-FB9F-72DD-893C-D3A86AB4598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519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7C55D363-7694-CD53-29C0-725701C95B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44" name="Rectangle" descr="preencoded.png">
            <a:extLst>
              <a:ext uri="{FF2B5EF4-FFF2-40B4-BE49-F238E27FC236}">
                <a16:creationId xmlns:a16="http://schemas.microsoft.com/office/drawing/2014/main" id="{93A76456-5A83-44A5-396E-9B6B07335C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-1" y="21640"/>
            <a:ext cx="12192000" cy="6858000"/>
          </a:xfrm>
          <a:prstGeom prst="rect">
            <a:avLst/>
          </a:prstGeom>
        </p:spPr>
      </p:pic>
      <p:sp>
        <p:nvSpPr>
          <p:cNvPr id="47" name="Title 2">
            <a:extLst>
              <a:ext uri="{FF2B5EF4-FFF2-40B4-BE49-F238E27FC236}">
                <a16:creationId xmlns:a16="http://schemas.microsoft.com/office/drawing/2014/main" id="{F4A4DB78-4158-E9DF-DB03-2DBF85B2F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2401795"/>
            <a:ext cx="8575674" cy="2097690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 b="0" i="0" spc="-2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Digital </a:t>
            </a:r>
            <a:br>
              <a:rPr lang="en-US" dirty="0"/>
            </a:br>
            <a:r>
              <a:rPr lang="en-US" dirty="0"/>
              <a:t>Campaigns</a:t>
            </a:r>
          </a:p>
        </p:txBody>
      </p:sp>
      <p:pic>
        <p:nvPicPr>
          <p:cNvPr id="49" name="Logo" descr="preencoded.png">
            <a:extLst>
              <a:ext uri="{FF2B5EF4-FFF2-40B4-BE49-F238E27FC236}">
                <a16:creationId xmlns:a16="http://schemas.microsoft.com/office/drawing/2014/main" id="{78EA91C3-11B6-12D0-336F-79203E70EF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0D627A0-30FA-A34F-7E8C-E42A1E8E88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8638099B-E3D3-6B61-8A6B-303CA6565DE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EEF99012-CB8C-2F7F-43FE-C70F0E28E3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8ACCF60D-6F0F-F771-317A-2FB85FFF752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24E7A4-9F06-2FC4-53C2-8FD1F4117F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3" name="Rectangle" descr="preencoded.png">
            <a:extLst>
              <a:ext uri="{FF2B5EF4-FFF2-40B4-BE49-F238E27FC236}">
                <a16:creationId xmlns:a16="http://schemas.microsoft.com/office/drawing/2014/main" id="{0156C217-ED27-1987-3AAF-DCCCED2BA39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-1" y="21640"/>
            <a:ext cx="12192000" cy="6858000"/>
          </a:xfrm>
          <a:prstGeom prst="rect">
            <a:avLst/>
          </a:prstGeom>
        </p:spPr>
      </p:pic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4513BAE6-9B84-829F-360C-ED3D4CF96D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5BDE3458-FB1F-9B12-CBDE-37288940397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WD Confidential">
            <a:extLst>
              <a:ext uri="{FF2B5EF4-FFF2-40B4-BE49-F238E27FC236}">
                <a16:creationId xmlns:a16="http://schemas.microsoft.com/office/drawing/2014/main" id="{E5EDD19B-0B4C-B918-350E-613B80C3E33D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52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B5245493-1A64-E190-69B8-E76153C231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770" b="777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84968157-8C77-7C15-F9B5-A4CC286834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9725" y="5305900"/>
            <a:ext cx="7623175" cy="461665"/>
          </a:xfrm>
          <a:prstGeom prst="rect">
            <a:avLst/>
          </a:prstGeom>
        </p:spPr>
        <p:txBody>
          <a:bodyPr wrap="square" lIns="64008" rIns="0">
            <a:spAutoFit/>
          </a:bodyPr>
          <a:lstStyle>
            <a:lvl1pPr>
              <a:lnSpc>
                <a:spcPct val="100000"/>
              </a:lnSpc>
              <a:buNone/>
              <a:defRPr sz="2400" b="1" i="0" spc="-8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FirstName LastName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6852C012-816F-EC03-EDBA-71402F036E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9726" y="5824740"/>
            <a:ext cx="7641272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0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340C4934-5AC0-53B7-44F3-9390018CF5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7186C779-C1CA-D8EE-397A-BC47222544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1623008"/>
            <a:ext cx="9528175" cy="2920030"/>
          </a:xfrm>
          <a:prstGeom prst="rect">
            <a:avLst/>
          </a:prstGeom>
        </p:spPr>
        <p:txBody>
          <a:bodyPr wrap="square" lIns="27432" rIns="0">
            <a:spAutoFit/>
          </a:bodyPr>
          <a:lstStyle>
            <a:lvl1pPr marL="0" indent="0">
              <a:lnSpc>
                <a:spcPct val="75000"/>
              </a:lnSpc>
              <a:buNone/>
              <a:tabLst/>
              <a:defRPr sz="6000" b="0" i="0" spc="-17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700" indent="0">
              <a:buNone/>
              <a:tabLst/>
              <a:defRPr/>
            </a:lvl2pPr>
          </a:lstStyle>
          <a:p>
            <a:pPr lvl="0"/>
            <a:r>
              <a:rPr lang="en-US" dirty="0"/>
              <a:t>“</a:t>
            </a:r>
            <a:r>
              <a:rPr lang="en-US" dirty="0" err="1"/>
              <a:t>Neque</a:t>
            </a:r>
            <a:r>
              <a:rPr lang="en-US" dirty="0"/>
              <a:t> porro </a:t>
            </a:r>
            <a:r>
              <a:rPr lang="en-US" dirty="0" err="1"/>
              <a:t>quisquam</a:t>
            </a:r>
            <a:r>
              <a:rPr lang="en-US" dirty="0"/>
              <a:t>  lest, qui </a:t>
            </a:r>
            <a:r>
              <a:rPr lang="en-US" dirty="0" err="1"/>
              <a:t>dolorem</a:t>
            </a:r>
            <a:r>
              <a:rPr lang="en-US" dirty="0"/>
              <a:t> ipsum quia dolor sit </a:t>
            </a:r>
            <a:r>
              <a:rPr lang="en-US" dirty="0" err="1"/>
              <a:t>amet</a:t>
            </a:r>
            <a:r>
              <a:rPr lang="en-US" dirty="0"/>
              <a:t>, porro </a:t>
            </a:r>
            <a:r>
              <a:rPr lang="en-US" dirty="0" err="1"/>
              <a:t>quisquam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.”</a:t>
            </a: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04C03AE5-8148-BDEF-B92D-5D12D598A0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F50FBA37-7A2D-7DD6-6C01-859714C8BC1D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14F2F370-3FC8-55F0-1609-A5AB3B82F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WD Confidential">
            <a:extLst>
              <a:ext uri="{FF2B5EF4-FFF2-40B4-BE49-F238E27FC236}">
                <a16:creationId xmlns:a16="http://schemas.microsoft.com/office/drawing/2014/main" id="{E025AB58-C3AC-1C01-4DA3-22703B37449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1DEC582-4D3A-C5C6-7073-835D2B4867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770" b="777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Logo" descr="preencoded.png">
            <a:extLst>
              <a:ext uri="{FF2B5EF4-FFF2-40B4-BE49-F238E27FC236}">
                <a16:creationId xmlns:a16="http://schemas.microsoft.com/office/drawing/2014/main" id="{86F016A3-A12E-F2C3-BDDC-2BE61BCEAE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2" name="2026 Western Digital Corporation All rights reserved">
            <a:extLst>
              <a:ext uri="{FF2B5EF4-FFF2-40B4-BE49-F238E27FC236}">
                <a16:creationId xmlns:a16="http://schemas.microsoft.com/office/drawing/2014/main" id="{295767F6-1E66-CD1E-FF6D-A5AE18401522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WD Confidential">
            <a:extLst>
              <a:ext uri="{FF2B5EF4-FFF2-40B4-BE49-F238E27FC236}">
                <a16:creationId xmlns:a16="http://schemas.microsoft.com/office/drawing/2014/main" id="{07DADA49-B525-57A6-91BE-2DC7CB8B581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0188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Head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3A4BF43-FA17-1E78-9155-FF2170E2D98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19100" y="4312598"/>
            <a:ext cx="1421916" cy="1428525"/>
          </a:xfrm>
          <a:prstGeom prst="ellipse">
            <a:avLst/>
          </a:prstGeom>
        </p:spPr>
        <p:txBody>
          <a:bodyPr rIns="0"/>
          <a:lstStyle>
            <a:lvl1pPr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1496A2C0-A45A-F093-4D48-BA745EAF70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47900" y="4566878"/>
            <a:ext cx="6667500" cy="461665"/>
          </a:xfrm>
          <a:prstGeom prst="rect">
            <a:avLst/>
          </a:prstGeom>
        </p:spPr>
        <p:txBody>
          <a:bodyPr wrap="square" lIns="64008" rIns="0">
            <a:spAutoFit/>
          </a:bodyPr>
          <a:lstStyle>
            <a:lvl1pPr>
              <a:lnSpc>
                <a:spcPct val="100000"/>
              </a:lnSpc>
              <a:buNone/>
              <a:defRPr sz="2400" b="1" i="0" spc="-8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FirstName LastName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5267AF25-EB0A-171B-BF9C-CF4006993E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47900" y="5033095"/>
            <a:ext cx="6667500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74D4219E-9330-ADE5-EFCC-3658425C6A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70720526-CAB2-3861-B8E1-2D8E2AB191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1517128"/>
            <a:ext cx="8575675" cy="1764714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 marL="0" indent="0">
              <a:lnSpc>
                <a:spcPct val="85000"/>
              </a:lnSpc>
              <a:buNone/>
              <a:tabLst/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700" indent="0">
              <a:buNone/>
              <a:tabLst/>
              <a:defRPr/>
            </a:lvl2pPr>
          </a:lstStyle>
          <a:p>
            <a:pPr lvl="0"/>
            <a:r>
              <a:rPr lang="en-US" dirty="0"/>
              <a:t>“</a:t>
            </a:r>
            <a:r>
              <a:rPr lang="en-US" dirty="0" err="1"/>
              <a:t>Neque</a:t>
            </a:r>
            <a:r>
              <a:rPr lang="en-US" dirty="0"/>
              <a:t> porro </a:t>
            </a:r>
            <a:r>
              <a:rPr lang="en-US" dirty="0" err="1"/>
              <a:t>quisquam</a:t>
            </a:r>
            <a:r>
              <a:rPr lang="en-US" dirty="0"/>
              <a:t> lest, qui </a:t>
            </a:r>
            <a:r>
              <a:rPr lang="en-US" dirty="0" err="1"/>
              <a:t>dolorem</a:t>
            </a:r>
            <a:r>
              <a:rPr lang="en-US" dirty="0"/>
              <a:t> ipsum quia dolor sit </a:t>
            </a:r>
            <a:r>
              <a:rPr lang="en-US" dirty="0" err="1"/>
              <a:t>amet</a:t>
            </a:r>
            <a:r>
              <a:rPr lang="en-US" dirty="0"/>
              <a:t>, porro </a:t>
            </a:r>
            <a:r>
              <a:rPr lang="en-US" dirty="0" err="1"/>
              <a:t>quisquam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.”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AAEF6174-DF81-F83B-C9AA-28AD5F9BAF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2E0086C7-2F0C-FD95-D8E2-6226CA777A5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E07FA23C-0F4B-8A50-6D21-74042CAC01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AD6554B1-AE61-D38C-BD62-C218B50E399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Logo" descr="preencoded.png">
            <a:extLst>
              <a:ext uri="{FF2B5EF4-FFF2-40B4-BE49-F238E27FC236}">
                <a16:creationId xmlns:a16="http://schemas.microsoft.com/office/drawing/2014/main" id="{239A6917-4E30-B879-02B5-AEEFBA0242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7" name="2026 Western Digital Corporation All rights reserved">
            <a:extLst>
              <a:ext uri="{FF2B5EF4-FFF2-40B4-BE49-F238E27FC236}">
                <a16:creationId xmlns:a16="http://schemas.microsoft.com/office/drawing/2014/main" id="{C0524158-9B67-8AD0-F8E0-97BD2414D34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1AB934B2-E209-40BE-E632-D5145F1B624D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442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levator Pitch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0CB210FC-3307-99B1-72CD-8010E835D9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Elevator Pitch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1F03B5D0-B758-47A1-3768-821FE2623B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1576161"/>
            <a:ext cx="10480675" cy="3938001"/>
          </a:xfrm>
          <a:prstGeom prst="rect">
            <a:avLst/>
          </a:prstGeom>
        </p:spPr>
        <p:txBody>
          <a:bodyPr wrap="square" lIns="45720" rIns="0" anchor="ctr">
            <a:spAutoFit/>
          </a:bodyPr>
          <a:lstStyle>
            <a:lvl1pPr marL="0" indent="0">
              <a:lnSpc>
                <a:spcPct val="85000"/>
              </a:lnSpc>
              <a:buNone/>
              <a:tabLst/>
              <a:defRPr sz="4200" b="0" i="0" spc="-13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700" indent="0">
              <a:buNone/>
              <a:tabLst/>
              <a:defRPr/>
            </a:lvl2pPr>
          </a:lstStyle>
          <a:p>
            <a:pPr lvl="0"/>
            <a:r>
              <a:rPr lang="en-US" dirty="0"/>
              <a:t>WD is the storage foundation for everyone from consumers to cloud, AI, and OEM innovators operating at massive scale.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We drive certainty in the AI era by delivering purpose-built technology across all storage tiers from the data center to the home.</a:t>
            </a: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5B205C2D-29C3-59B4-D732-CF6763F75D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0C65699B-675C-A6DA-6834-E149883EE87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F30AB2D4-9E35-4760-0BDD-94E36B9B84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9CDEB3D1-E656-5D25-5029-59CABDA2239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82161E95-137C-762B-5401-06854DB244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E1340E75-D038-C64C-8C5B-2A1770AF9CB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WD Confidential">
            <a:extLst>
              <a:ext uri="{FF2B5EF4-FFF2-40B4-BE49-F238E27FC236}">
                <a16:creationId xmlns:a16="http://schemas.microsoft.com/office/drawing/2014/main" id="{3D5FA6A9-756D-3BA7-7893-77FF1386301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88321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nifes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BCCFE563-A70F-E61A-800A-421C1912BE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Manifesto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0B1CE00F-0D9C-63DD-95F2-77D1F40633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1223646"/>
            <a:ext cx="8575767" cy="1696618"/>
          </a:xfrm>
          <a:prstGeom prst="rect">
            <a:avLst/>
          </a:prstGeom>
        </p:spPr>
        <p:txBody>
          <a:bodyPr wrap="square" lIns="27432" rIns="0">
            <a:spAutoFit/>
          </a:bodyPr>
          <a:lstStyle>
            <a:lvl1pPr>
              <a:lnSpc>
                <a:spcPct val="85000"/>
              </a:lnSpc>
              <a:defRPr sz="6000" b="0" i="0" spc="-17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WD drives certainty in the AI era.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6077F82-363E-A58F-19D4-34D42BB84F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9632" y="3148174"/>
            <a:ext cx="8575768" cy="1600438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 marL="12700" indent="-12700">
              <a:lnSpc>
                <a:spcPct val="100000"/>
              </a:lnSpc>
              <a:buNone/>
              <a:tabLst/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spc="-30"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defRPr sz="1400" spc="-30">
                <a:solidFill>
                  <a:schemeClr val="tx2"/>
                </a:solidFill>
              </a:defRPr>
            </a:lvl3pPr>
            <a:lvl4pPr>
              <a:lnSpc>
                <a:spcPct val="100000"/>
              </a:lnSpc>
              <a:defRPr sz="1400" spc="-3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defRPr sz="1400" spc="-3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We deliver performance without a premium. Infrastructure to keep pace with your AI models. And purpose-built storage designed for proven capacity, reliability, power-efficiency, and superior TCO.</a:t>
            </a:r>
            <a:br>
              <a:rPr lang="en-US" dirty="0"/>
            </a:br>
            <a:r>
              <a:rPr lang="en-US" dirty="0"/>
              <a:t>Developed through decades of engineering excellence, built on expertise from 40,000+ passionate individuals, and field-validated with customers at hyperscale, our storage technology evolves as your data demands grow.</a:t>
            </a:r>
            <a:br>
              <a:rPr lang="en-US" dirty="0"/>
            </a:br>
            <a:r>
              <a:rPr lang="en-US" dirty="0"/>
              <a:t>Always on. Always ready. Across the world’s largest data centers, at home, and everywhere in-between.</a:t>
            </a:r>
            <a:br>
              <a:rPr lang="en-US" dirty="0"/>
            </a:br>
            <a:r>
              <a:rPr lang="en-US" dirty="0"/>
              <a:t>Innovate with confidence. Scale with certainty.</a:t>
            </a:r>
            <a:br>
              <a:rPr lang="en-US" dirty="0"/>
            </a:br>
            <a:r>
              <a:rPr lang="en-US" dirty="0"/>
              <a:t>Only with WD.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99315058-3B5A-8A91-EE93-D7AC56C885E2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B942D230-5F44-4C6A-579D-EB0103DBE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8ED3B323-AA46-23F8-C142-6D014DD162B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181FEDD9-F1FD-572D-9F17-F350B3EBD5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9" name="2026 Western Digital Corporation All rights reserved">
            <a:extLst>
              <a:ext uri="{FF2B5EF4-FFF2-40B4-BE49-F238E27FC236}">
                <a16:creationId xmlns:a16="http://schemas.microsoft.com/office/drawing/2014/main" id="{1F8B124D-8828-84D4-5D9B-69C9442BD2B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51F4AFAF-74BC-A3A1-D4C6-0F585EC0C73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4693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Title, Subtitle and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805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CD24FD7F-7349-F1F5-223D-7F65E42A02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1BFF3DBF-B6EF-B5B6-80ED-BD17007411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F1085EB-B6B3-04CF-7847-B672F38F3F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2AA16F8E-B090-9642-F455-E7BE04B868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Lorem Ipsum Headline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90A9618-A5C7-FFFF-717E-ADCB6EA53D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632" y="2559700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1E894E91-1ADF-7A36-EBEA-795B7EF9CAF1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EF431CF9-6649-9BA9-2E27-DEF006649F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7AA75334-B0E2-9798-0EAA-428DA461AE37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8A439952-8DC5-BBFA-6602-D37B431580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064F8ECB-E27D-88ED-802A-BCAC3DD945D1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04194E36-DFE9-A075-0C80-FE6E903F6B9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46944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12F7BBF-9C82-9666-15BB-66D848FA0F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0A2714-C0DF-0C80-9966-02DC68D5F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1CE56D40-6ADB-3A0A-0BDC-D6D00D929BE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0050841B-5735-F2D5-0A78-51AD08F2F75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B811A320-08A4-EF41-715C-69759B0C4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E4D09478-3997-80B6-4C9B-67FA61E8D9B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2C7A54E2-B4D1-D66F-983A-A5ACCE2AD4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AE5427FE-97B9-3B82-3231-E3AD69E57C1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1CEA0CE0-4606-19F8-44D7-6E7EF0F2BC5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1152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12F7BBF-9C82-9666-15BB-66D848FA0F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0A2714-C0DF-0C80-9966-02DC68D5F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1CE56D40-6ADB-3A0A-0BDC-D6D00D929BE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1CED4B45-D08E-55A5-092B-654720B07F2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7E404687-BDF0-09F7-7955-7FED5A0663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8430F890-C0FF-20E6-617A-D6264C712F3D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C48B190A-417E-2438-D264-54D1C37BE4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D8ACB0CC-7B7C-BFE3-8EAC-D50C7EFBBD20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DA9AABEF-7A91-F2F3-4E38-0B3FBAB1010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20703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2-Column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2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D582C36-F359-A0D2-C216-FDD6A5565C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AA07F6F7-51BC-E719-98A2-B0A5961040EB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077697" y="2555421"/>
            <a:ext cx="4742703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A7E657F-2D84-5BAB-3CF6-E00EFFD7002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555421"/>
            <a:ext cx="4765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0583AAAC-E43F-7CB7-FCF3-DC40FBE10141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DB9BB98-B022-71CA-6E27-0BC0608AEF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79654493-A604-7DF1-23A3-0683CB24E17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FC52305F-34F0-B1D5-DE10-C1B2A0F549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2" name="2026 Western Digital Corporation All rights reserved">
            <a:extLst>
              <a:ext uri="{FF2B5EF4-FFF2-40B4-BE49-F238E27FC236}">
                <a16:creationId xmlns:a16="http://schemas.microsoft.com/office/drawing/2014/main" id="{667F37A6-5375-2A26-37E1-EAEA5974FF46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WD Confidential">
            <a:extLst>
              <a:ext uri="{FF2B5EF4-FFF2-40B4-BE49-F238E27FC236}">
                <a16:creationId xmlns:a16="http://schemas.microsoft.com/office/drawing/2014/main" id="{9A5B3A55-416D-1AC4-A8FA-C773B6E56CE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366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2-Column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2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D582C36-F359-A0D2-C216-FDD6A5565C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AA07F6F7-51BC-E719-98A2-B0A5961040EB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077697" y="2555421"/>
            <a:ext cx="4742703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A7E657F-2D84-5BAB-3CF6-E00EFFD7002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555421"/>
            <a:ext cx="4765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67323B64-9890-851C-CFCC-80AFAD1995B9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4C19B1D-4D1D-464C-5A79-5EBBCB96EA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1B1A89FE-9F90-CCDF-AD06-574CC4F8AB3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A5D4B26D-0920-FF79-8759-3773758CF3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2" name="2026 Western Digital Corporation All rights reserved">
            <a:extLst>
              <a:ext uri="{FF2B5EF4-FFF2-40B4-BE49-F238E27FC236}">
                <a16:creationId xmlns:a16="http://schemas.microsoft.com/office/drawing/2014/main" id="{45511307-062A-DA15-22F5-81926D9D6891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WD Confidential">
            <a:extLst>
              <a:ext uri="{FF2B5EF4-FFF2-40B4-BE49-F238E27FC236}">
                <a16:creationId xmlns:a16="http://schemas.microsoft.com/office/drawing/2014/main" id="{31C8ECDB-1801-DB70-024C-9B3DB3C6DFB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48028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2-Column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4" y="702407"/>
            <a:ext cx="6670766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31040B13-638F-A6E9-D729-9BB66691EC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223272"/>
            <a:ext cx="4765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993765A-531C-BA41-7134-707041754F96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077697" y="2223272"/>
            <a:ext cx="4742703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892F9820-3B54-5A27-B27A-73753286431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435C9CC-6B67-1112-DF24-9027C982F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2F5C104B-2EB9-B56A-FFAC-319DA5A82928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" descr="preencoded.png">
            <a:extLst>
              <a:ext uri="{FF2B5EF4-FFF2-40B4-BE49-F238E27FC236}">
                <a16:creationId xmlns:a16="http://schemas.microsoft.com/office/drawing/2014/main" id="{D947F29C-9419-D3E9-F52A-A6944373AE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1" name="2026 Western Digital Corporation All rights reserved">
            <a:extLst>
              <a:ext uri="{FF2B5EF4-FFF2-40B4-BE49-F238E27FC236}">
                <a16:creationId xmlns:a16="http://schemas.microsoft.com/office/drawing/2014/main" id="{9DBC16B1-8E89-74E6-8043-3BCCD32C1A3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WD Confidential">
            <a:extLst>
              <a:ext uri="{FF2B5EF4-FFF2-40B4-BE49-F238E27FC236}">
                <a16:creationId xmlns:a16="http://schemas.microsoft.com/office/drawing/2014/main" id="{27504A2D-01C5-8B6B-7D97-9759CF68E04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132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2-Column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4" y="702407"/>
            <a:ext cx="6670766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31040B13-638F-A6E9-D729-9BB66691EC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223272"/>
            <a:ext cx="4765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993765A-531C-BA41-7134-707041754F96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077697" y="2223272"/>
            <a:ext cx="4742703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B3A79694-3F78-2EDB-C057-D866EDA8128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23EFA591-69A9-51C7-CD9E-FD0CCCDBD1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9861632B-3A19-FBB2-0EF1-A481FF7D539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" descr="preencoded.png">
            <a:extLst>
              <a:ext uri="{FF2B5EF4-FFF2-40B4-BE49-F238E27FC236}">
                <a16:creationId xmlns:a16="http://schemas.microsoft.com/office/drawing/2014/main" id="{48B9C272-85AD-AA13-4422-5D58F248B0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1" name="2026 Western Digital Corporation All rights reserved">
            <a:extLst>
              <a:ext uri="{FF2B5EF4-FFF2-40B4-BE49-F238E27FC236}">
                <a16:creationId xmlns:a16="http://schemas.microsoft.com/office/drawing/2014/main" id="{8CD410BF-CD02-A3B0-AFDC-220FCE620A8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WD Confidential">
            <a:extLst>
              <a:ext uri="{FF2B5EF4-FFF2-40B4-BE49-F238E27FC236}">
                <a16:creationId xmlns:a16="http://schemas.microsoft.com/office/drawing/2014/main" id="{4D613A87-A1A1-4610-D3D8-4B4AB121712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8309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3-Column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D582C36-F359-A0D2-C216-FDD6A5565C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3F1E54E-5BF2-A275-48ED-12E26430CA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555421"/>
            <a:ext cx="3357840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BE3E7D6-0DDF-2433-3B44-9E5C4144EB4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166347" y="2555421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C7D7AF38-C09F-B2CF-757B-713AA6C5115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966636" y="2555421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FA8F56AB-CFA8-AC73-0BC3-459B01A36185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4FCCFFE2-A4FB-5234-F702-14B579F4BC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F2385D96-F468-4612-0122-FFAF043A2E09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C5F2BAC4-4836-EB1A-0F89-3B87BFEA6F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9E014613-0972-8C4A-5199-4213D649F3A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WD Confidential">
            <a:extLst>
              <a:ext uri="{FF2B5EF4-FFF2-40B4-BE49-F238E27FC236}">
                <a16:creationId xmlns:a16="http://schemas.microsoft.com/office/drawing/2014/main" id="{A6BA411F-12FB-B835-9534-36616AB3334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3205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3-Column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D582C36-F359-A0D2-C216-FDD6A5565C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3F1E54E-5BF2-A275-48ED-12E26430CA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555421"/>
            <a:ext cx="3357840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BE3E7D6-0DDF-2433-3B44-9E5C4144EB4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166347" y="2555421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C7D7AF38-C09F-B2CF-757B-713AA6C5115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966636" y="2555421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2CC8B5AC-F3AE-E094-B832-73394D434B0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7C940278-C6AD-2BD0-D693-03C926976F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35583BC5-2030-A571-E579-5FC24F25F6C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269D2121-1907-D5ED-EDAE-F264C11E69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63F2FFB2-FD84-32DC-4166-1204CECBFF1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WD Confidential">
            <a:extLst>
              <a:ext uri="{FF2B5EF4-FFF2-40B4-BE49-F238E27FC236}">
                <a16:creationId xmlns:a16="http://schemas.microsoft.com/office/drawing/2014/main" id="{659C679A-2229-65A8-9311-81AC6CFFD47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93313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3-Column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3F1E54E-5BF2-A275-48ED-12E26430CA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155810"/>
            <a:ext cx="3357840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BE3E7D6-0DDF-2433-3B44-9E5C4144EB4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166347" y="2155810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C7D7AF38-C09F-B2CF-757B-713AA6C5115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966636" y="2155810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7AA045E7-A44A-ACB8-AA34-0B261636B89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6F8C4D60-797F-6E5D-28C1-7806C56F6A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E6B9DE43-CB49-B21C-2E2E-7CDE82EDBB6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68D06372-A8B0-AC53-63C4-8062C472FA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9" name="2026 Western Digital Corporation All rights reserved">
            <a:extLst>
              <a:ext uri="{FF2B5EF4-FFF2-40B4-BE49-F238E27FC236}">
                <a16:creationId xmlns:a16="http://schemas.microsoft.com/office/drawing/2014/main" id="{0600352E-AC97-1129-81E2-C5A35EECECF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5DB10F33-31BD-6075-2644-E5685D595314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688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3-Column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3F1E54E-5BF2-A275-48ED-12E26430CA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155810"/>
            <a:ext cx="3357840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BE3E7D6-0DDF-2433-3B44-9E5C4144EB4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166347" y="2155810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C7D7AF38-C09F-B2CF-757B-713AA6C5115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966636" y="2155810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5276F0D2-32B8-C7AC-B82A-C606D31FC7C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B0239A21-7BB6-C643-D84F-C232D1980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E8759531-8185-454D-6A95-FD805973061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2AD71202-B59D-AA51-CD7D-ADD5754CD5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9" name="2026 Western Digital Corporation All rights reserved">
            <a:extLst>
              <a:ext uri="{FF2B5EF4-FFF2-40B4-BE49-F238E27FC236}">
                <a16:creationId xmlns:a16="http://schemas.microsoft.com/office/drawing/2014/main" id="{FE1954F3-0FCB-4BCE-075F-59BB5C31FE6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2190B417-0548-595A-D7EB-AA1B43685C1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8981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69089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D7CC45D7-1BAA-BAFE-C00D-0F9E4834A4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312" y="1954332"/>
            <a:ext cx="4764088" cy="320088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93BC1FEF-E960-A249-9518-9C3E0D63E880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6D2DC00-EF0F-608A-74EB-8779CB4A16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ABAD58BC-78F9-B4F0-6B65-18C1CDC222D2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227E8393-02B2-33C5-5862-BA9303C239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0407264D-7C82-B419-56CD-EE44AD07121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8D5E89F4-3B4B-17A7-F4EC-81BE741B670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8096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69089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D7CC45D7-1BAA-BAFE-C00D-0F9E4834A4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312" y="1954332"/>
            <a:ext cx="4764088" cy="320088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391D50C1-A731-51B6-C715-F0D945EC168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EB91A628-CC27-D7BB-57A2-EF12184D65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DC20F77F-3AA0-4B76-4250-0F2C0B243FF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5967BE44-FE85-90B0-6A34-1D9E62743B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BBD8A698-2258-3FBA-D593-3DE31FE4283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7BD45D5B-4074-AECC-8CFE-B661E704842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71635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 (Right)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or Data Slide Headline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D1A82A6F-B32A-AE87-DB81-26831C56D4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702407"/>
            <a:ext cx="1908175" cy="757130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Optional subtitle or key takeaway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E859BBAB-728B-1AD4-F240-65960E3235E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4FC36E1C-5DDB-DAD1-AE29-676A690FB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4402B233-F83C-1F9A-4CCF-EBE07534953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E634490A-DB97-60E0-D7BD-A2D216CC2D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4DEB32EA-A240-BD84-565C-959A51FF146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5302E79D-A5FF-8BA0-A938-CD4C1E35D85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64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Subtitle (Right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or Data Slide Headline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D1A82A6F-B32A-AE87-DB81-26831C56D4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702407"/>
            <a:ext cx="1908175" cy="757130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Optional subtitle or key takeaway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1310BAEA-1179-6A57-1C60-48E419B2AF0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BF43CC62-22B1-1062-ACE0-78C1312121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E33C62C1-D9E5-2CF9-079C-6E54F23AA01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76F4FB81-4CBB-EE50-C79B-CD0230F165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62C4627D-9C10-8E70-10AD-C6FBDACBFDF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140EFB13-9E1C-9655-F7AB-65B8E9464BA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31690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78A068A3-D3A0-DA36-A633-EED175D1E6A4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828AEF02-BEDA-1BFA-000F-033EF9D980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C3BE7781-CA5D-312E-8344-92F548C99709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ABDD950E-5DE5-AF2B-CE50-CE05D61932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9" name="2026 Western Digital Corporation All rights reserved">
            <a:extLst>
              <a:ext uri="{FF2B5EF4-FFF2-40B4-BE49-F238E27FC236}">
                <a16:creationId xmlns:a16="http://schemas.microsoft.com/office/drawing/2014/main" id="{8586C435-75F5-B056-DDA7-E2AF0C9279D9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2F5C06A2-9127-6A34-4605-B40F08F8D019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0276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2BE2CD35-6CE7-8F5F-6D39-972D4D561784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6CD89FA-F357-1792-1250-99BC3F2C78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3B1BC62A-5770-272A-7EFA-481370AAF3C8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98B23076-99A0-E3EB-80BE-DEF8AD5299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9" name="2026 Western Digital Corporation All rights reserved">
            <a:extLst>
              <a:ext uri="{FF2B5EF4-FFF2-40B4-BE49-F238E27FC236}">
                <a16:creationId xmlns:a16="http://schemas.microsoft.com/office/drawing/2014/main" id="{A264F1BF-E4DC-CC2D-01EA-E252D106CF6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B117BA73-2B38-2A8A-9A80-6ACD02EAB36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3420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(Bottom)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3CEFD179-CC6E-7D13-6450-355441A668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11300218-03BC-B777-07DF-B7C3E3BE69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480364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Data Slide – Bottom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B35C2A1F-FA1A-0E07-7768-85DC5F6C03D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13CF05D5-C0B3-2723-D54B-FF1C3E782D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72F0C9EA-888F-73F8-1FAA-2C393839607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Logo" descr="preencoded.png">
            <a:extLst>
              <a:ext uri="{FF2B5EF4-FFF2-40B4-BE49-F238E27FC236}">
                <a16:creationId xmlns:a16="http://schemas.microsoft.com/office/drawing/2014/main" id="{10B20E29-E654-2063-B781-47BEBC4590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9" name="2026 Western Digital Corporation All rights reserved">
            <a:extLst>
              <a:ext uri="{FF2B5EF4-FFF2-40B4-BE49-F238E27FC236}">
                <a16:creationId xmlns:a16="http://schemas.microsoft.com/office/drawing/2014/main" id="{5AFF22CB-D0F6-8D78-00FD-5292AFAED654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56F15737-163E-15D8-837B-392A067A91B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424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(Bottom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3CEFD179-CC6E-7D13-6450-355441A668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11300218-03BC-B777-07DF-B7C3E3BE69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480364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Data Slide – Bottom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89A23E38-65E7-DD56-B4E5-8586783CF4D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E448280-606D-19BF-53C0-F94BF2C70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30B9BA75-8CE2-0C9A-0039-48A3A72D41A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Logo" descr="preencoded.png">
            <a:extLst>
              <a:ext uri="{FF2B5EF4-FFF2-40B4-BE49-F238E27FC236}">
                <a16:creationId xmlns:a16="http://schemas.microsoft.com/office/drawing/2014/main" id="{F59CFC3C-A3FC-9613-B4C7-810735CFDC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9" name="2026 Western Digital Corporation All rights reserved">
            <a:extLst>
              <a:ext uri="{FF2B5EF4-FFF2-40B4-BE49-F238E27FC236}">
                <a16:creationId xmlns:a16="http://schemas.microsoft.com/office/drawing/2014/main" id="{8DDE42A7-3D15-660C-027E-176B5AC295B5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6DC8EB8D-C8F7-BF6E-07F9-3F408DFDC67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5466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Key Takeaway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or Data </a:t>
            </a:r>
            <a:br>
              <a:rPr lang="en-US" dirty="0"/>
            </a:br>
            <a:r>
              <a:rPr lang="en-US" dirty="0"/>
              <a:t>Slide Headline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D7CC45D7-1BAA-BAFE-C00D-0F9E4834A4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312" y="2122728"/>
            <a:ext cx="1908175" cy="757130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Optional subtitle or key takeaway goes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6CF7733-1DE9-9B58-4576-DA0FE39F7D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725" y="5198586"/>
            <a:ext cx="1908175" cy="738664"/>
          </a:xfrm>
          <a:prstGeom prst="rect">
            <a:avLst/>
          </a:prstGeom>
        </p:spPr>
        <p:txBody>
          <a:bodyPr wrap="square" lIns="82296" rIns="0" anchor="b">
            <a:spAutoFit/>
          </a:bodyPr>
          <a:lstStyle>
            <a:lvl1pPr marL="11113" indent="-11113">
              <a:lnSpc>
                <a:spcPct val="100000"/>
              </a:lnSpc>
              <a:buNone/>
              <a:tabLst/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0" dirty="0"/>
              <a:t>Optional additional (less important) text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AABDCA64-0F1C-5EC0-64DA-CD1DEA2EC07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038555D-587B-01AE-60D5-C9BEFE14E3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3AE7A749-92BC-EB07-E27C-08E0B85EDE4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CEB8D14F-1C68-82BB-AFE1-459987D701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1CC8CA86-10A1-FB0C-34D3-EC8E64201B58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WD Confidential">
            <a:extLst>
              <a:ext uri="{FF2B5EF4-FFF2-40B4-BE49-F238E27FC236}">
                <a16:creationId xmlns:a16="http://schemas.microsoft.com/office/drawing/2014/main" id="{7C0CA1A1-4B4B-0A66-C20D-61A2B71697F4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1166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Key Takeaway Vault Nav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E9939BCF-4926-9BD3-1B08-CD2AABECE2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6A794357-5E34-54F0-6CE0-C841EB3D25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BA867570-91F0-1222-CAE7-9867B2C4A9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or Data </a:t>
            </a:r>
            <a:br>
              <a:rPr lang="en-US" dirty="0"/>
            </a:br>
            <a:r>
              <a:rPr lang="en-US" dirty="0"/>
              <a:t>Slide Headline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97D04FA1-D395-FF10-E1E5-9F29C071F23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312" y="2122728"/>
            <a:ext cx="1908175" cy="757130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Optional subtitle or key takeaway goes here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33D57A1A-BE1A-A50F-BA14-528DE7930ED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725" y="5198586"/>
            <a:ext cx="1908175" cy="738664"/>
          </a:xfrm>
          <a:prstGeom prst="rect">
            <a:avLst/>
          </a:prstGeom>
        </p:spPr>
        <p:txBody>
          <a:bodyPr wrap="square" lIns="82296" rIns="0" anchor="b">
            <a:spAutoFit/>
          </a:bodyPr>
          <a:lstStyle>
            <a:lvl1pPr marL="11113" indent="-11113">
              <a:lnSpc>
                <a:spcPct val="100000"/>
              </a:lnSpc>
              <a:buNone/>
              <a:tabLst/>
              <a:defRPr sz="1400" b="0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0" dirty="0"/>
              <a:t>Optional additional (less important) text goes here</a:t>
            </a:r>
          </a:p>
        </p:txBody>
      </p:sp>
      <p:sp>
        <p:nvSpPr>
          <p:cNvPr id="7" name="2026 Western Digital Corporation All rights reserved">
            <a:extLst>
              <a:ext uri="{FF2B5EF4-FFF2-40B4-BE49-F238E27FC236}">
                <a16:creationId xmlns:a16="http://schemas.microsoft.com/office/drawing/2014/main" id="{C7EA4804-4B5C-6645-4E21-96164F63FEE8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83EDC67A-ECC2-19CB-21C7-7194007B74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WD Confidential">
            <a:extLst>
              <a:ext uri="{FF2B5EF4-FFF2-40B4-BE49-F238E27FC236}">
                <a16:creationId xmlns:a16="http://schemas.microsoft.com/office/drawing/2014/main" id="{F339B6A8-73CC-E170-2B36-716394B6E1E7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3F81A0F5-A999-DB90-9ED6-A4524D25EE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7036F6A1-090D-B176-1E81-46DDE7B2974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8CB18DD6-4C33-511C-EA0D-DF2F12BF6C09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752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Image (Right)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E974B86-CC47-E3A9-09B8-71351345FD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2B5D790D-84F2-9DA7-31E1-91ADDEF35E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23C2038-0FB4-8A7A-D4C6-98B3F68964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5D2334D-E13A-AC3B-2B22-2888BA0516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D0B3BE4E-DD1F-327D-F922-BCCAD740366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FF9AF1F3-A435-4D15-F610-AFA97C4D5F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2ABEF0FC-8C0A-945E-EBCF-0BC5FBC7F03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Logo" descr="preencoded.png">
            <a:extLst>
              <a:ext uri="{FF2B5EF4-FFF2-40B4-BE49-F238E27FC236}">
                <a16:creationId xmlns:a16="http://schemas.microsoft.com/office/drawing/2014/main" id="{80390260-133C-0681-21B2-D2E9F604A4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B85A1E9E-DC90-C129-23AC-746952B2304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481374AE-A7AC-BED2-B935-9EABC4ECAB82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488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Image (Right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E974B86-CC47-E3A9-09B8-71351345FD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2B5D790D-84F2-9DA7-31E1-91ADDEF35E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23C2038-0FB4-8A7A-D4C6-98B3F68964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5D2334D-E13A-AC3B-2B22-2888BA0516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D3F04C5A-5742-1A1E-CA60-840BC18D6CCD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F1EF7B17-BD9C-D0B8-E419-FE329B1E17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E9C19F5F-3594-E4B9-2B41-9F70617EB292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Logo" descr="preencoded.png">
            <a:extLst>
              <a:ext uri="{FF2B5EF4-FFF2-40B4-BE49-F238E27FC236}">
                <a16:creationId xmlns:a16="http://schemas.microsoft.com/office/drawing/2014/main" id="{64A62BC5-D916-2CDD-687A-02DC9B2CDB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F7D263AA-DC77-F7BF-5DD2-83F7187007C8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1A84FD16-9925-85BB-D88F-8228B939FD0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49809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and Image (Right)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BB5D091-BEAD-9C35-8773-E2D117D7C41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9512FB9-F98A-8E5C-951C-4A2FCA238B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8B8EFC7E-41B7-8AFB-607B-3C302BBCD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2C4CDB26-05C0-90D4-FB52-F7EFA3B2BEA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E2373215-143C-72E4-DB18-24A52224C54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B45CE4DF-8334-6E2C-DEBB-F484F0FCEE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WD Confidential">
            <a:extLst>
              <a:ext uri="{FF2B5EF4-FFF2-40B4-BE49-F238E27FC236}">
                <a16:creationId xmlns:a16="http://schemas.microsoft.com/office/drawing/2014/main" id="{F3FD56E7-5137-4D27-17D4-1DAAC934A15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D3C668C7-7EBC-6523-5D6D-4BFD686EBD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02FD642E-7DD5-F984-6F02-FB443B3A2989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007C6A82-5EEE-266E-329A-D7B3D2F5FD0F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865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Content and Image (Right) Whi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BB5D091-BEAD-9C35-8773-E2D117D7C41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9512FB9-F98A-8E5C-951C-4A2FCA238B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8B8EFC7E-41B7-8AFB-607B-3C302BBCD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Lorem Ipsum Headline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2C4CDB26-05C0-90D4-FB52-F7EFA3B2BEA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A1754800-D91A-6F1E-1B60-80E239C599E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9A38803D-431A-9E7E-63D7-F4FDCD9CA1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WD Confidential">
            <a:extLst>
              <a:ext uri="{FF2B5EF4-FFF2-40B4-BE49-F238E27FC236}">
                <a16:creationId xmlns:a16="http://schemas.microsoft.com/office/drawing/2014/main" id="{E171678C-25FB-CE95-0F9A-9410318FDB1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046CDC01-57AD-5990-BF86-B1C67DA204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21F94EE5-4DC6-AD54-3F51-84B2F756529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5BC46434-69E9-9B2E-224F-A9E62D3D90D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6477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Reversed) and Image (Left)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E974B86-CC47-E3A9-09B8-71351345FD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51054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5CBFB3-5C63-E76A-81F6-352AF6A96AC7}"/>
              </a:ext>
            </a:extLst>
          </p:cNvPr>
          <p:cNvSpPr/>
          <p:nvPr/>
        </p:nvSpPr>
        <p:spPr>
          <a:xfrm>
            <a:off x="0" y="0"/>
            <a:ext cx="5105400" cy="6858000"/>
          </a:xfrm>
          <a:prstGeom prst="rect">
            <a:avLst/>
          </a:prstGeom>
          <a:gradFill flip="none" rotWithShape="1">
            <a:gsLst>
              <a:gs pos="50000">
                <a:schemeClr val="tx1">
                  <a:alpha val="0"/>
                </a:schemeClr>
              </a:gs>
              <a:gs pos="0">
                <a:schemeClr val="tx1"/>
              </a:gs>
              <a:gs pos="99000">
                <a:schemeClr val="tx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Logo" descr="preencoded.png">
            <a:extLst>
              <a:ext uri="{FF2B5EF4-FFF2-40B4-BE49-F238E27FC236}">
                <a16:creationId xmlns:a16="http://schemas.microsoft.com/office/drawing/2014/main" id="{6F697425-33B5-9D49-D509-9E59F4BC32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D739DB5F-A9FD-67F2-C5EA-D8FA35DDD4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D72B7712-95DC-7639-85F6-0FB9353841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Title Reversed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FE7513F5-F1D9-336A-FCDC-4025CC657F1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5467E32F-C75B-80DF-09E8-A08F7B09E1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D6F95B93-2502-5684-FD9E-A3D22721EA1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706484-A416-5A9C-C472-D6312022A665}"/>
              </a:ext>
            </a:extLst>
          </p:cNvPr>
          <p:cNvSpPr/>
          <p:nvPr/>
        </p:nvSpPr>
        <p:spPr>
          <a:xfrm>
            <a:off x="0" y="0"/>
            <a:ext cx="5105400" cy="6858000"/>
          </a:xfrm>
          <a:prstGeom prst="rect">
            <a:avLst/>
          </a:prstGeom>
          <a:gradFill flip="none" rotWithShape="1">
            <a:gsLst>
              <a:gs pos="50000">
                <a:schemeClr val="tx1">
                  <a:alpha val="0"/>
                </a:schemeClr>
              </a:gs>
              <a:gs pos="0">
                <a:schemeClr val="tx1"/>
              </a:gs>
              <a:gs pos="99000">
                <a:schemeClr val="tx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555A276F-F759-FB6A-04DA-F4D16DBB6F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7" name="2026 Western Digital Corporation All rights reserved">
            <a:extLst>
              <a:ext uri="{FF2B5EF4-FFF2-40B4-BE49-F238E27FC236}">
                <a16:creationId xmlns:a16="http://schemas.microsoft.com/office/drawing/2014/main" id="{9AF21BF5-7529-4276-2DDB-82AF2B03FE7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WD Confidential">
            <a:extLst>
              <a:ext uri="{FF2B5EF4-FFF2-40B4-BE49-F238E27FC236}">
                <a16:creationId xmlns:a16="http://schemas.microsoft.com/office/drawing/2014/main" id="{7505C072-7B52-8059-881B-C89763D8F5B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3539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Reversed) and Image (Left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E974B86-CC47-E3A9-09B8-71351345FD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51054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5CBFB3-5C63-E76A-81F6-352AF6A96AC7}"/>
              </a:ext>
            </a:extLst>
          </p:cNvPr>
          <p:cNvSpPr/>
          <p:nvPr/>
        </p:nvSpPr>
        <p:spPr>
          <a:xfrm>
            <a:off x="0" y="0"/>
            <a:ext cx="5105400" cy="6858000"/>
          </a:xfrm>
          <a:prstGeom prst="rect">
            <a:avLst/>
          </a:prstGeom>
          <a:gradFill flip="none" rotWithShape="1">
            <a:gsLst>
              <a:gs pos="50000">
                <a:schemeClr val="tx1">
                  <a:alpha val="0"/>
                </a:schemeClr>
              </a:gs>
              <a:gs pos="0">
                <a:schemeClr val="bg1"/>
              </a:gs>
              <a:gs pos="99000">
                <a:schemeClr val="tx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Logo" descr="preencoded.png">
            <a:extLst>
              <a:ext uri="{FF2B5EF4-FFF2-40B4-BE49-F238E27FC236}">
                <a16:creationId xmlns:a16="http://schemas.microsoft.com/office/drawing/2014/main" id="{6F697425-33B5-9D49-D509-9E59F4BC32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D739DB5F-A9FD-67F2-C5EA-D8FA35DDD4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D72B7712-95DC-7639-85F6-0FB9353841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Title Reversed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D4CE2AA7-6F6A-715E-2844-FD817473448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4E925586-E1A3-2711-4260-20ACB17F52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F1726C1D-A19D-40D2-D37D-1F82A06C2F3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B1B7FB-4D8B-4E38-6436-CC6A16C22EA7}"/>
              </a:ext>
            </a:extLst>
          </p:cNvPr>
          <p:cNvSpPr/>
          <p:nvPr/>
        </p:nvSpPr>
        <p:spPr>
          <a:xfrm>
            <a:off x="0" y="0"/>
            <a:ext cx="5105400" cy="6858000"/>
          </a:xfrm>
          <a:prstGeom prst="rect">
            <a:avLst/>
          </a:prstGeom>
          <a:gradFill flip="none" rotWithShape="1">
            <a:gsLst>
              <a:gs pos="50000">
                <a:schemeClr val="tx1">
                  <a:alpha val="0"/>
                </a:schemeClr>
              </a:gs>
              <a:gs pos="0">
                <a:schemeClr val="bg1"/>
              </a:gs>
              <a:gs pos="99000">
                <a:schemeClr val="tx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309E1E26-DD20-9126-5608-4FFA1EEC1F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7" name="2026 Western Digital Corporation All rights reserved">
            <a:extLst>
              <a:ext uri="{FF2B5EF4-FFF2-40B4-BE49-F238E27FC236}">
                <a16:creationId xmlns:a16="http://schemas.microsoft.com/office/drawing/2014/main" id="{BF6F5ED3-3984-89F9-F325-CE4CA2867F1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WD Confidential">
            <a:extLst>
              <a:ext uri="{FF2B5EF4-FFF2-40B4-BE49-F238E27FC236}">
                <a16:creationId xmlns:a16="http://schemas.microsoft.com/office/drawing/2014/main" id="{CF57352B-3910-B79A-FFD5-4614EAF3E558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42769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4-Image Grid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83F5FE23-B62A-7209-F6C5-B67C514CECD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39100" y="4565652"/>
            <a:ext cx="2074302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F941C6-2081-0AB0-9116-86BCA188C5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13402" y="4565652"/>
            <a:ext cx="2078598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4FA33BF-F5F6-FB1D-EAC2-F5D76DAC518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2292350"/>
            <a:ext cx="2074302" cy="227965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ECC1E6C9-8423-12CB-5772-49593569DF3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13402" y="2292350"/>
            <a:ext cx="2078598" cy="227965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2826824">
            <a:extLst>
              <a:ext uri="{FF2B5EF4-FFF2-40B4-BE49-F238E27FC236}">
                <a16:creationId xmlns:a16="http://schemas.microsoft.com/office/drawing/2014/main" id="{5EC1BC48-341B-CB94-03C8-5902DE0FAD6B}"/>
              </a:ext>
            </a:extLst>
          </p:cNvPr>
          <p:cNvSpPr/>
          <p:nvPr/>
        </p:nvSpPr>
        <p:spPr>
          <a:xfrm>
            <a:off x="8039100" y="0"/>
            <a:ext cx="4152900" cy="2292350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 sz="1200" b="0" i="0"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1F431622-C5BC-CC47-C470-C077A00D61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915400" y="1112229"/>
            <a:ext cx="1905001" cy="584775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1113" indent="-11113">
              <a:lnSpc>
                <a:spcPct val="100000"/>
              </a:lnSpc>
              <a:buNone/>
              <a:tabLst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14CDBCCB-6E01-8EA8-A691-D8E84C8E908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B979888-354B-53BF-C7CE-C7976C7F8E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3859070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4-Image Grid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C0753B19-0E94-5E37-B9BD-A749DDE08A3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A4129A0-2945-A3BA-951C-76C384057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B3471E69-DD52-0CA8-9CE0-38411AD35A3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2826824">
            <a:extLst>
              <a:ext uri="{FF2B5EF4-FFF2-40B4-BE49-F238E27FC236}">
                <a16:creationId xmlns:a16="http://schemas.microsoft.com/office/drawing/2014/main" id="{B9D75063-6B66-B15C-8A29-9A47ADA524CD}"/>
              </a:ext>
            </a:extLst>
          </p:cNvPr>
          <p:cNvSpPr/>
          <p:nvPr/>
        </p:nvSpPr>
        <p:spPr>
          <a:xfrm>
            <a:off x="8039100" y="0"/>
            <a:ext cx="4152900" cy="2292350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 sz="1200" b="0" i="0"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Logo" descr="preencoded.png">
            <a:extLst>
              <a:ext uri="{FF2B5EF4-FFF2-40B4-BE49-F238E27FC236}">
                <a16:creationId xmlns:a16="http://schemas.microsoft.com/office/drawing/2014/main" id="{FD786941-018B-9391-8892-CD974FD2DD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6" name="2026 Western Digital Corporation All rights reserved">
            <a:extLst>
              <a:ext uri="{FF2B5EF4-FFF2-40B4-BE49-F238E27FC236}">
                <a16:creationId xmlns:a16="http://schemas.microsoft.com/office/drawing/2014/main" id="{61EC6AD2-9A10-1C0F-5F19-A738F895296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WD Confidential">
            <a:extLst>
              <a:ext uri="{FF2B5EF4-FFF2-40B4-BE49-F238E27FC236}">
                <a16:creationId xmlns:a16="http://schemas.microsoft.com/office/drawing/2014/main" id="{FE644321-4AE5-C723-97B6-A9C20DE2A99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4483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4-Image Grid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83F5FE23-B62A-7209-F6C5-B67C514CECD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39100" y="4565652"/>
            <a:ext cx="2074302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F941C6-2081-0AB0-9116-86BCA188C5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13402" y="4565652"/>
            <a:ext cx="2078598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4FA33BF-F5F6-FB1D-EAC2-F5D76DAC518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2292350"/>
            <a:ext cx="2074302" cy="227965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ECC1E6C9-8423-12CB-5772-49593569DF3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13402" y="2292350"/>
            <a:ext cx="2078598" cy="227965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2826824">
            <a:extLst>
              <a:ext uri="{FF2B5EF4-FFF2-40B4-BE49-F238E27FC236}">
                <a16:creationId xmlns:a16="http://schemas.microsoft.com/office/drawing/2014/main" id="{5EC1BC48-341B-CB94-03C8-5902DE0FAD6B}"/>
              </a:ext>
            </a:extLst>
          </p:cNvPr>
          <p:cNvSpPr/>
          <p:nvPr/>
        </p:nvSpPr>
        <p:spPr>
          <a:xfrm>
            <a:off x="8039100" y="0"/>
            <a:ext cx="4152900" cy="2292350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 sz="1200" b="0" i="0"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1F431622-C5BC-CC47-C470-C077A00D61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915400" y="1112229"/>
            <a:ext cx="1905001" cy="584775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7938" indent="-7938">
              <a:lnSpc>
                <a:spcPct val="100000"/>
              </a:lnSpc>
              <a:buNone/>
              <a:tabLst/>
              <a:defRPr sz="1600" b="1" i="0" spc="-4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14CDBCCB-6E01-8EA8-A691-D8E84C8E908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B979888-354B-53BF-C7CE-C7976C7F8E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4-Image Grid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DE66D1A0-6F87-7355-6FB5-EC2E50AF2BF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70795BE5-F45F-97D1-3174-2868FC6628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95D1F8EE-1A0F-2C96-FC1C-4FAAFAF4DD0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2826824">
            <a:extLst>
              <a:ext uri="{FF2B5EF4-FFF2-40B4-BE49-F238E27FC236}">
                <a16:creationId xmlns:a16="http://schemas.microsoft.com/office/drawing/2014/main" id="{AA05BC39-ED99-10F8-D89A-EC43BF57672E}"/>
              </a:ext>
            </a:extLst>
          </p:cNvPr>
          <p:cNvSpPr/>
          <p:nvPr/>
        </p:nvSpPr>
        <p:spPr>
          <a:xfrm>
            <a:off x="8039100" y="0"/>
            <a:ext cx="4152900" cy="2292350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 sz="1200" b="0" i="0"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Logo" descr="preencoded.png">
            <a:extLst>
              <a:ext uri="{FF2B5EF4-FFF2-40B4-BE49-F238E27FC236}">
                <a16:creationId xmlns:a16="http://schemas.microsoft.com/office/drawing/2014/main" id="{F7F990EF-1726-295A-4A45-52C95A7364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6" name="2026 Western Digital Corporation All rights reserved">
            <a:extLst>
              <a:ext uri="{FF2B5EF4-FFF2-40B4-BE49-F238E27FC236}">
                <a16:creationId xmlns:a16="http://schemas.microsoft.com/office/drawing/2014/main" id="{83462151-DDD5-3535-E24C-CACE267D6BE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WD Confidential">
            <a:extLst>
              <a:ext uri="{FF2B5EF4-FFF2-40B4-BE49-F238E27FC236}">
                <a16:creationId xmlns:a16="http://schemas.microsoft.com/office/drawing/2014/main" id="{5200B7ED-7C08-4D33-F9FD-CA07D604611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58322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6-Image Grid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8AC27782-1955-C093-91A2-B66C8851DC8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113402" y="4578924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32620FBD-9C59-F02A-9B9E-AF36773994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39100" y="2279652"/>
            <a:ext cx="2074302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84B0E93E-1612-874F-E295-1E4D1D1FC75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13402" y="2279652"/>
            <a:ext cx="2078598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22C06ADB-D1F7-ABF0-77DE-682B9728EC0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BAF1612D-EB63-F628-E9D5-63240969436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13402" y="0"/>
            <a:ext cx="2078598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CF7665F6-37BC-9BEC-34C4-36347A0FEFC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039100" y="4578924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4" name="Logo" descr="preencoded.png">
            <a:extLst>
              <a:ext uri="{FF2B5EF4-FFF2-40B4-BE49-F238E27FC236}">
                <a16:creationId xmlns:a16="http://schemas.microsoft.com/office/drawing/2014/main" id="{F841EFE1-E224-7CD3-5B8B-CFDCC366F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984FB51-EB77-2DE4-DD54-69AE510EA9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1C113D96-4D97-155A-FE52-4BCE3F983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6-Image Grid</a:t>
            </a:r>
          </a:p>
        </p:txBody>
      </p:sp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F4FE30AF-42E6-416F-D8D5-C2D0A69F0D2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76035546-B7B7-BDD8-5283-C1931FC9EC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WD Confidential">
            <a:extLst>
              <a:ext uri="{FF2B5EF4-FFF2-40B4-BE49-F238E27FC236}">
                <a16:creationId xmlns:a16="http://schemas.microsoft.com/office/drawing/2014/main" id="{20D1837E-0062-8BF4-A963-96631D55F60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22B2C9AD-1215-CCF0-D5EF-06A7280E95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514C3B8C-41AF-112D-D4B1-46CB0C5B209D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837B7DF5-7F3F-B32B-EB9D-B2EB7EAA2A1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7118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6-Image Grid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72768E50-4F8A-707B-3B64-888A6D28154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113402" y="4578924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0FD63C80-67B9-0E70-C35A-2787A907D48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39100" y="2279652"/>
            <a:ext cx="2074302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BD2881D2-388F-598E-9A93-486A3B3B44C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13402" y="2279652"/>
            <a:ext cx="2078598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13883C4B-3946-CDDE-4891-33FD97E9178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2F7C217B-5411-1407-AB4D-0F331F01DB4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13402" y="0"/>
            <a:ext cx="2078598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5F37DA75-1BBE-A161-11E0-19C5909B0BC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039100" y="4578924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984FB51-EB77-2DE4-DD54-69AE510EA9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1C113D96-4D97-155A-FE52-4BCE3F983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6-Image Grid</a:t>
            </a:r>
          </a:p>
        </p:txBody>
      </p:sp>
      <p:pic>
        <p:nvPicPr>
          <p:cNvPr id="14" name="Logo" descr="preencoded.png">
            <a:extLst>
              <a:ext uri="{FF2B5EF4-FFF2-40B4-BE49-F238E27FC236}">
                <a16:creationId xmlns:a16="http://schemas.microsoft.com/office/drawing/2014/main" id="{F841EFE1-E224-7CD3-5B8B-CFDCC366F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E1647B93-DF49-D676-AD9E-A527B023EA7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65971A0-9D80-6D26-5302-E6DEB09BE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9A13EC03-5802-2E73-0FB5-1529BA715D69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D4C6FEE9-13DE-7A58-A374-A3BD460B92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259798D2-7D61-ADA0-D420-E589F19AF9D8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A22FEDC3-FF1E-53BE-215B-64F160804FCF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23840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3-Image Grid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2F7C217B-5411-1407-AB4D-0F331F01DB4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39100" y="0"/>
            <a:ext cx="4152900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72768E50-4F8A-707B-3B64-888A6D28154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043391" y="4572000"/>
            <a:ext cx="4144317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BD2881D2-388F-598E-9A93-486A3B3B44C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039100" y="2279652"/>
            <a:ext cx="4152900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4" name="Logo" descr="preencoded.png">
            <a:extLst>
              <a:ext uri="{FF2B5EF4-FFF2-40B4-BE49-F238E27FC236}">
                <a16:creationId xmlns:a16="http://schemas.microsoft.com/office/drawing/2014/main" id="{F841EFE1-E224-7CD3-5B8B-CFDCC366F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984FB51-EB77-2DE4-DD54-69AE510EA9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1C113D96-4D97-155A-FE52-4BCE3F983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Sustainability Slide – </a:t>
            </a:r>
            <a:br>
              <a:rPr lang="en-US" dirty="0"/>
            </a:br>
            <a:r>
              <a:rPr lang="en-US" dirty="0"/>
              <a:t>3-Image Grid</a:t>
            </a:r>
          </a:p>
        </p:txBody>
      </p:sp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934001FE-6CE7-D2A2-F053-7C7E3B5E60C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E2CEA27B-D843-86C8-B9D4-1DFBA28F18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99E96AFD-C844-FEE5-4657-6C28E101288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5D0C2D6A-890B-374E-245A-DA8047D3A1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E67ECD0F-F281-264A-E965-FD4F716BADD9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1BF78BF5-76A5-258C-FF14-88CBCE9CC48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9103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3-Image Grid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113423BF-EFE6-1A11-3DD1-E7BAA3F849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39100" y="0"/>
            <a:ext cx="4152900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08CD47F8-4D14-72D0-8929-08E3F009C2B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043391" y="4572000"/>
            <a:ext cx="4144317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2144EC6D-5AE3-AA4B-1CBB-1B2575A065A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039100" y="2279652"/>
            <a:ext cx="4152900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984FB51-EB77-2DE4-DD54-69AE510EA9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1C113D96-4D97-155A-FE52-4BCE3F983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Sustainability Slide – </a:t>
            </a:r>
            <a:br>
              <a:rPr lang="en-US" dirty="0"/>
            </a:br>
            <a:r>
              <a:rPr lang="en-US" dirty="0"/>
              <a:t>3-Image Grid</a:t>
            </a:r>
          </a:p>
        </p:txBody>
      </p:sp>
      <p:pic>
        <p:nvPicPr>
          <p:cNvPr id="14" name="Logo" descr="preencoded.png">
            <a:extLst>
              <a:ext uri="{FF2B5EF4-FFF2-40B4-BE49-F238E27FC236}">
                <a16:creationId xmlns:a16="http://schemas.microsoft.com/office/drawing/2014/main" id="{F841EFE1-E224-7CD3-5B8B-CFDCC366F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F92D6152-F703-9B45-7540-1A202F967102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DD1F341C-43A2-ACD7-92F2-ED96215B43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WD Confidential">
            <a:extLst>
              <a:ext uri="{FF2B5EF4-FFF2-40B4-BE49-F238E27FC236}">
                <a16:creationId xmlns:a16="http://schemas.microsoft.com/office/drawing/2014/main" id="{396F4B9B-2B50-C576-1387-3B079CC512E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A7EC1E02-BFF5-4B62-9631-07264D97E5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271666FD-2982-EDA5-3BEC-24FF84383FC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ED9ACDD5-3BCF-461A-5341-D50AFB04D5B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6878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Logo" descr="preencoded.png">
            <a:extLst>
              <a:ext uri="{FF2B5EF4-FFF2-40B4-BE49-F238E27FC236}">
                <a16:creationId xmlns:a16="http://schemas.microsoft.com/office/drawing/2014/main" id="{B4B9D2F9-5A96-F925-8611-62C83E7E0F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191A5D5C-7B08-F17B-C598-F8E1EBDFEFA8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53B2D08B-E918-937D-84CA-3D69DDA1FB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FA32F025-C9A1-AED8-7466-9706F9AAAEAD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0392836A-9AE1-683E-6919-75F33F3D17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643AF61C-BF0A-E731-06B9-FD65332AFF26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WD Confidential">
            <a:extLst>
              <a:ext uri="{FF2B5EF4-FFF2-40B4-BE49-F238E27FC236}">
                <a16:creationId xmlns:a16="http://schemas.microsoft.com/office/drawing/2014/main" id="{9DCBD6C5-2DF6-8B2A-E246-81D035C6EE0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9818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Vault Nav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 descr="preencoded.png">
            <a:extLst>
              <a:ext uri="{FF2B5EF4-FFF2-40B4-BE49-F238E27FC236}">
                <a16:creationId xmlns:a16="http://schemas.microsoft.com/office/drawing/2014/main" id="{CFD0F635-23F0-6005-05C6-A8FE4B835A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4" name="2026 Western Digital Corporation All rights reserved">
            <a:extLst>
              <a:ext uri="{FF2B5EF4-FFF2-40B4-BE49-F238E27FC236}">
                <a16:creationId xmlns:a16="http://schemas.microsoft.com/office/drawing/2014/main" id="{461D3CA5-88EF-0328-F997-2E9F47C61B15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EF3A8A3D-06A7-7AF4-7174-E6377F3DE9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69CBEC74-3B8B-056A-05B1-FD71ECD6303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95774346-FC6A-0919-B864-437FAC1F96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90B23A49-61D6-BB6C-7A95-63436DEFB872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BE740E97-D0CA-5B0B-9147-1704AFFA5FB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3241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(Small) Product Featur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F097115-7F61-E8CC-58FF-D9C801520C90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0" y="1951437"/>
            <a:ext cx="8915400" cy="4906563"/>
          </a:xfrm>
          <a:prstGeom prst="rect">
            <a:avLst/>
          </a:prstGeom>
        </p:spPr>
      </p:pic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1396905D-1B87-DFCE-F5F2-3A55043BDE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0A019DC-EDF0-29A1-971C-57AED63E27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F04E1E-B680-F453-BF2D-12E044E4F6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2" y="702407"/>
            <a:ext cx="6670767" cy="665952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Product Feature - Smaller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4BCD7F94-D239-A34D-B21B-4D5045EC4B6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92B0277-C163-1361-A328-92DF3A8BB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0C0050B3-421C-437F-A3F6-F63B7B8E054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689375-8AC3-6EB2-9C73-137DC0CA5037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0" y="1951437"/>
            <a:ext cx="8915400" cy="4906563"/>
          </a:xfrm>
          <a:prstGeom prst="rect">
            <a:avLst/>
          </a:prstGeom>
        </p:spPr>
      </p:pic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F490A43A-C064-6271-F562-204A7CF3D6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23D27A07-6E37-2D4E-F9DA-30403603B6E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6335F38C-16ED-D0EE-9A3E-EEF2065015D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8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 Logo Vault Nav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BF542350-7CEC-CEE6-CD80-EC7531D732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59322" y="2836444"/>
            <a:ext cx="4673355" cy="1185111"/>
          </a:xfrm>
          <a:prstGeom prst="rect">
            <a:avLst/>
          </a:prstGeom>
        </p:spPr>
      </p:pic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A960B0CE-69E9-706E-C131-2596DBA61B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59322" y="2836444"/>
            <a:ext cx="4673355" cy="118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950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 Logo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FBE187C-7342-D67B-D42B-17028FF6E5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30706" y="2628899"/>
            <a:ext cx="5081155" cy="16002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3D98BCAF-7667-31A8-2CA8-FBEC2A4B21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30706" y="2628899"/>
            <a:ext cx="5081155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38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Content and Image (Right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BB5D091-BEAD-9C35-8773-E2D117D7C41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9512FB9-F98A-8E5C-951C-4A2FCA238B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8B8EFC7E-41B7-8AFB-607B-3C302BBCD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191095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Lorem Ipsum Headline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2C4CDB26-05C0-90D4-FB52-F7EFA3B2BEA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885B0382-64EB-E2C0-C824-F203D46CD546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0F908C31-FDCA-5B80-F374-F8075AD99B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WD Confidential">
            <a:extLst>
              <a:ext uri="{FF2B5EF4-FFF2-40B4-BE49-F238E27FC236}">
                <a16:creationId xmlns:a16="http://schemas.microsoft.com/office/drawing/2014/main" id="{840A70F8-15E4-7077-46F5-FF5EA83DAF9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0FDB4B0F-D0F6-23BC-F2F1-20DCE6BB63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4C194275-5BCF-7837-A131-9EA072C58D8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3FD18241-2E7F-5BF1-E5FF-AB71CAF78B2D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12895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resentation Title,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D10952D-DE30-6FCD-1C26-B8C1FDB14C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8000" contrast="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5555" t="5555"/>
          <a:stretch>
            <a:fillRect/>
          </a:stretch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444D2225-0B72-F23D-3A3A-862838ED0D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19100" y="419100"/>
            <a:ext cx="1327152" cy="336551"/>
          </a:xfrm>
          <a:prstGeom prst="rect">
            <a:avLst/>
          </a:prstGeo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93BE6416-D41E-422A-CD46-E5463E33AC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3445344"/>
            <a:ext cx="5718175" cy="2446824"/>
          </a:xfrm>
          <a:prstGeom prst="rect">
            <a:avLst/>
          </a:prstGeom>
        </p:spPr>
        <p:txBody>
          <a:bodyPr wrap="square" lIns="27432" rIns="0" anchor="b">
            <a:spAutoFit/>
          </a:bodyPr>
          <a:lstStyle>
            <a:lvl1pPr>
              <a:lnSpc>
                <a:spcPct val="85000"/>
              </a:lnSpc>
              <a:defRPr sz="6000" b="0" i="0" spc="-17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Name or Title Goes Here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8BB7A67F-CD27-2F0E-FD90-0EFC6E6C0C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944100" y="6218118"/>
            <a:ext cx="1908175" cy="320088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 algn="r">
              <a:buNone/>
              <a:tabLst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Month 2026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42BCA8D2-68CB-4711-404F-19C993424C5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6224274"/>
            <a:ext cx="3811874" cy="313932"/>
          </a:xfrm>
          <a:prstGeom prst="rect">
            <a:avLst/>
          </a:prstGeom>
        </p:spPr>
        <p:txBody>
          <a:bodyPr wrap="square" lIns="73152" rIns="0" anchor="b">
            <a:spAutoFit/>
          </a:bodyPr>
          <a:lstStyle>
            <a:lvl1pPr marL="12700" marR="0" indent="-127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2700" marR="0" lvl="0" indent="-127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Optional subtitle goes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49AD6C-421A-2E3D-F648-B03EEB84FF43}"/>
              </a:ext>
            </a:extLst>
          </p:cNvPr>
          <p:cNvSpPr txBox="1"/>
          <p:nvPr/>
        </p:nvSpPr>
        <p:spPr>
          <a:xfrm>
            <a:off x="14737976" y="-618565"/>
            <a:ext cx="83164" cy="307777"/>
          </a:xfrm>
          <a:prstGeom prst="rect">
            <a:avLst/>
          </a:prstGeom>
        </p:spPr>
        <p:txBody>
          <a:bodyPr spcFirstLastPara="1" wrap="none" lIns="82296" tIns="45720" rIns="0" bIns="45720" rtlCol="0" anchor="t" anchorCtr="0">
            <a:spAutoFit/>
          </a:bodyPr>
          <a:lstStyle/>
          <a:p>
            <a:pPr marL="0" indent="0" algn="l">
              <a:buClr>
                <a:schemeClr val="dk1"/>
              </a:buClr>
              <a:buSzPts val="1100"/>
              <a:buFont typeface="Arial"/>
              <a:buNone/>
            </a:pPr>
            <a:endParaRPr lang="en-US" sz="1400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619006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ivider Signal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oup 197" descr="preencoded.png">
            <a:extLst>
              <a:ext uri="{FF2B5EF4-FFF2-40B4-BE49-F238E27FC236}">
                <a16:creationId xmlns:a16="http://schemas.microsoft.com/office/drawing/2014/main" id="{51A8D2AF-7E0C-0AF4-43D7-6E68396E4D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4718050" cy="6858000"/>
          </a:xfrm>
          <a:prstGeom prst="rect">
            <a:avLst/>
          </a:prstGeom>
        </p:spPr>
      </p:pic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81A6D0E4-19D6-A8B1-AE88-0D5213F7E3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50C5E51-178B-176D-0130-2BE8EFF3DC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2892314"/>
            <a:ext cx="10480767" cy="1073371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D5BD7DCF-7E2A-1192-F4AA-30FB9E8B0299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7C2EB268-A146-B69B-39B1-B0DF171D2FBF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81A61111-DE25-4C61-E0B4-6B599695291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931275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ivider Sync Gree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ttern 8" descr="preencoded.png">
            <a:extLst>
              <a:ext uri="{FF2B5EF4-FFF2-40B4-BE49-F238E27FC236}">
                <a16:creationId xmlns:a16="http://schemas.microsoft.com/office/drawing/2014/main" id="{492EA7CD-5111-530E-136C-AE4F91E2B1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4737100" cy="6858000"/>
          </a:xfrm>
          <a:prstGeom prst="rect">
            <a:avLst/>
          </a:prstGeom>
        </p:spPr>
      </p:pic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3CA8747C-2F9D-A88F-9F56-4F0E69FCC7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9F02862-025A-1C91-8D4A-A286A326F9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2892314"/>
            <a:ext cx="10480767" cy="1073371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7" name="2026 Western Digital Corporation All rights reserved">
            <a:extLst>
              <a:ext uri="{FF2B5EF4-FFF2-40B4-BE49-F238E27FC236}">
                <a16:creationId xmlns:a16="http://schemas.microsoft.com/office/drawing/2014/main" id="{43543C3C-242D-5BA5-F4DC-085A79D21018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7BEF80A2-97B3-E3B6-0390-74CF0FC4FFC8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WD Confidential">
            <a:extLst>
              <a:ext uri="{FF2B5EF4-FFF2-40B4-BE49-F238E27FC236}">
                <a16:creationId xmlns:a16="http://schemas.microsoft.com/office/drawing/2014/main" id="{C851D4AA-FCD6-014E-71EE-98D35FB95ED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41298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Agenda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" name="Title 2">
            <a:extLst>
              <a:ext uri="{FF2B5EF4-FFF2-40B4-BE49-F238E27FC236}">
                <a16:creationId xmlns:a16="http://schemas.microsoft.com/office/drawing/2014/main" id="{E1F49F80-97C1-A66E-2B5D-2D79ECAD15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298" y="334667"/>
            <a:ext cx="7623267" cy="911788"/>
          </a:xfrm>
          <a:prstGeom prst="rect">
            <a:avLst/>
          </a:prstGeom>
        </p:spPr>
        <p:txBody>
          <a:bodyPr wrap="square" lIns="27432" rIns="0">
            <a:spAutoFit/>
          </a:bodyPr>
          <a:lstStyle>
            <a:lvl1pPr>
              <a:lnSpc>
                <a:spcPct val="85000"/>
              </a:lnSpc>
              <a:defRPr sz="6000" b="0" i="0" spc="-17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2" name="2026 Western Digital Corporation All rights reserved">
            <a:extLst>
              <a:ext uri="{FF2B5EF4-FFF2-40B4-BE49-F238E27FC236}">
                <a16:creationId xmlns:a16="http://schemas.microsoft.com/office/drawing/2014/main" id="{B56F9E43-CC60-AD46-0771-B41F30E06271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E2FA0076-C2ED-8AE2-2269-A99AE3C564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WD Confidential">
            <a:extLst>
              <a:ext uri="{FF2B5EF4-FFF2-40B4-BE49-F238E27FC236}">
                <a16:creationId xmlns:a16="http://schemas.microsoft.com/office/drawing/2014/main" id="{A445F926-5EF7-039C-1FEA-3E71860713A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266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294B6A9-B7FB-A2F8-725C-0C3085265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3473" cy="6858000"/>
          </a:xfrm>
          <a:prstGeom prst="rect">
            <a:avLst/>
          </a:prstGeom>
        </p:spPr>
      </p:pic>
      <p:pic>
        <p:nvPicPr>
          <p:cNvPr id="8" name="Rectangle" descr="preencoded.png">
            <a:extLst>
              <a:ext uri="{FF2B5EF4-FFF2-40B4-BE49-F238E27FC236}">
                <a16:creationId xmlns:a16="http://schemas.microsoft.com/office/drawing/2014/main" id="{9A9E5856-D20D-ACE0-68EA-E4FA4B643E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Logo" descr="preencoded.png">
            <a:extLst>
              <a:ext uri="{FF2B5EF4-FFF2-40B4-BE49-F238E27FC236}">
                <a16:creationId xmlns:a16="http://schemas.microsoft.com/office/drawing/2014/main" id="{9E2799DA-0768-9639-C65E-1ED02F8197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73442" cy="222250"/>
          </a:xfrm>
          <a:prstGeom prst="rect">
            <a:avLst/>
          </a:prstGeom>
        </p:spPr>
      </p:pic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14E6A3D2-A345-D628-2F66-1D46F055FD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6" y="333800"/>
            <a:ext cx="2872160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7CA18611-94F7-7119-2BBD-ED593743CB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1996845"/>
            <a:ext cx="9528175" cy="2171813"/>
          </a:xfrm>
          <a:prstGeom prst="rect">
            <a:avLst/>
          </a:prstGeom>
        </p:spPr>
        <p:txBody>
          <a:bodyPr wrap="square" lIns="27432" rIns="0">
            <a:spAutoFit/>
          </a:bodyPr>
          <a:lstStyle>
            <a:lvl1pPr marL="0" indent="0">
              <a:lnSpc>
                <a:spcPct val="75000"/>
              </a:lnSpc>
              <a:buNone/>
              <a:tabLst/>
              <a:defRPr sz="6000" b="0" i="0" spc="-17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700" indent="0">
              <a:buNone/>
              <a:tabLst/>
              <a:defRPr/>
            </a:lvl2pPr>
          </a:lstStyle>
          <a:p>
            <a:pPr lvl="0"/>
            <a:r>
              <a:rPr lang="en-US" dirty="0" err="1"/>
              <a:t>Neque</a:t>
            </a:r>
            <a:r>
              <a:rPr lang="en-US" dirty="0"/>
              <a:t> porro </a:t>
            </a:r>
            <a:r>
              <a:rPr lang="en-US" dirty="0" err="1"/>
              <a:t>quisquam</a:t>
            </a:r>
            <a:r>
              <a:rPr lang="en-US" dirty="0"/>
              <a:t>  lest, qui </a:t>
            </a:r>
            <a:r>
              <a:rPr lang="en-US" dirty="0" err="1"/>
              <a:t>dolorem</a:t>
            </a:r>
            <a:r>
              <a:rPr lang="en-US" dirty="0"/>
              <a:t> ipsum </a:t>
            </a:r>
            <a:r>
              <a:rPr lang="en-US" dirty="0" err="1"/>
              <a:t>mquia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nconsectetur</a:t>
            </a:r>
            <a:r>
              <a:rPr lang="en-US" dirty="0"/>
              <a:t>.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1BAA1096-F8B4-4413-0738-4053B96B614C}"/>
              </a:ext>
            </a:extLst>
          </p:cNvPr>
          <p:cNvSpPr/>
          <p:nvPr/>
        </p:nvSpPr>
        <p:spPr>
          <a:xfrm>
            <a:off x="419100" y="6638989"/>
            <a:ext cx="2805217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A8ED09C-4867-2EC6-26F9-085BAE7B12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61477" cy="215444"/>
          </a:xfrm>
          <a:prstGeom prst="rect">
            <a:avLst/>
          </a:prstGeom>
        </p:spPr>
        <p:txBody>
          <a:bodyPr vert="horz" wrap="square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WD Confidential">
            <a:extLst>
              <a:ext uri="{FF2B5EF4-FFF2-40B4-BE49-F238E27FC236}">
                <a16:creationId xmlns:a16="http://schemas.microsoft.com/office/drawing/2014/main" id="{7D4CEC89-40AA-1B5B-CE12-440B364A7BA9}"/>
              </a:ext>
            </a:extLst>
          </p:cNvPr>
          <p:cNvSpPr/>
          <p:nvPr/>
        </p:nvSpPr>
        <p:spPr>
          <a:xfrm>
            <a:off x="8991600" y="6638990"/>
            <a:ext cx="1249597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721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7C55D363-7694-CD53-29C0-725701C95B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541" y="3679"/>
            <a:ext cx="12185459" cy="6854320"/>
          </a:xfrm>
          <a:prstGeom prst="rect">
            <a:avLst/>
          </a:prstGeom>
        </p:spPr>
      </p:pic>
      <p:pic>
        <p:nvPicPr>
          <p:cNvPr id="44" name="Rectangle" descr="preencoded.png">
            <a:extLst>
              <a:ext uri="{FF2B5EF4-FFF2-40B4-BE49-F238E27FC236}">
                <a16:creationId xmlns:a16="http://schemas.microsoft.com/office/drawing/2014/main" id="{93A76456-5A83-44A5-396E-9B6B07335C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-6541" y="21640"/>
            <a:ext cx="12192000" cy="6858000"/>
          </a:xfrm>
          <a:prstGeom prst="rect">
            <a:avLst/>
          </a:prstGeom>
        </p:spPr>
      </p:pic>
      <p:sp>
        <p:nvSpPr>
          <p:cNvPr id="47" name="Title 2">
            <a:extLst>
              <a:ext uri="{FF2B5EF4-FFF2-40B4-BE49-F238E27FC236}">
                <a16:creationId xmlns:a16="http://schemas.microsoft.com/office/drawing/2014/main" id="{F4A4DB78-4158-E9DF-DB03-2DBF85B2F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2401795"/>
            <a:ext cx="8575674" cy="2097690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 b="0" i="0" spc="-2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Digital </a:t>
            </a:r>
            <a:br>
              <a:rPr lang="en-US" dirty="0"/>
            </a:br>
            <a:r>
              <a:rPr lang="en-US" dirty="0"/>
              <a:t>Campaigns</a:t>
            </a:r>
          </a:p>
        </p:txBody>
      </p:sp>
      <p:pic>
        <p:nvPicPr>
          <p:cNvPr id="49" name="Logo" descr="preencoded.png">
            <a:extLst>
              <a:ext uri="{FF2B5EF4-FFF2-40B4-BE49-F238E27FC236}">
                <a16:creationId xmlns:a16="http://schemas.microsoft.com/office/drawing/2014/main" id="{78EA91C3-11B6-12D0-336F-79203E70EF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0D627A0-30FA-A34F-7E8C-E42A1E8E88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8A6C3D5C-1D46-E951-0EEE-0C4E22F1C309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3AC8F0BD-A374-B680-2814-21AC8F94A83C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bg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8E9AEFF2-5CA9-3547-82F8-27FFCA36DFD7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0211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hap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7C55D363-7694-CD53-29C0-725701C95B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4" name="Rectangle" descr="preencoded.png">
            <a:extLst>
              <a:ext uri="{FF2B5EF4-FFF2-40B4-BE49-F238E27FC236}">
                <a16:creationId xmlns:a16="http://schemas.microsoft.com/office/drawing/2014/main" id="{93A76456-5A83-44A5-396E-9B6B07335C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7" name="Title 2">
            <a:extLst>
              <a:ext uri="{FF2B5EF4-FFF2-40B4-BE49-F238E27FC236}">
                <a16:creationId xmlns:a16="http://schemas.microsoft.com/office/drawing/2014/main" id="{F4A4DB78-4158-E9DF-DB03-2DBF85B2F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2401795"/>
            <a:ext cx="8575674" cy="2097690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 b="0" i="0" spc="-2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Digital </a:t>
            </a:r>
            <a:br>
              <a:rPr lang="en-US" dirty="0"/>
            </a:br>
            <a:r>
              <a:rPr lang="en-US" dirty="0"/>
              <a:t>Campaigns</a:t>
            </a:r>
          </a:p>
        </p:txBody>
      </p:sp>
      <p:pic>
        <p:nvPicPr>
          <p:cNvPr id="49" name="Logo" descr="preencoded.png">
            <a:extLst>
              <a:ext uri="{FF2B5EF4-FFF2-40B4-BE49-F238E27FC236}">
                <a16:creationId xmlns:a16="http://schemas.microsoft.com/office/drawing/2014/main" id="{78EA91C3-11B6-12D0-336F-79203E70EF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0D627A0-30FA-A34F-7E8C-E42A1E8E88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D363C1E8-5089-B9FA-CE6E-836B104C789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BF820EF3-2F7F-19FA-D6A9-D73972234C0B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bg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699DF058-C076-F33E-85A6-735C51323807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3320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hap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7C55D363-7694-CD53-29C0-725701C95B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44" name="Rectangle" descr="preencoded.png">
            <a:extLst>
              <a:ext uri="{FF2B5EF4-FFF2-40B4-BE49-F238E27FC236}">
                <a16:creationId xmlns:a16="http://schemas.microsoft.com/office/drawing/2014/main" id="{93A76456-5A83-44A5-396E-9B6B07335C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0" y="21640"/>
            <a:ext cx="12192000" cy="6858000"/>
          </a:xfrm>
          <a:prstGeom prst="rect">
            <a:avLst/>
          </a:prstGeom>
        </p:spPr>
      </p:pic>
      <p:sp>
        <p:nvSpPr>
          <p:cNvPr id="47" name="Title 2">
            <a:extLst>
              <a:ext uri="{FF2B5EF4-FFF2-40B4-BE49-F238E27FC236}">
                <a16:creationId xmlns:a16="http://schemas.microsoft.com/office/drawing/2014/main" id="{F4A4DB78-4158-E9DF-DB03-2DBF85B2F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2401795"/>
            <a:ext cx="8575674" cy="2097690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 b="0" i="0" spc="-2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Digital </a:t>
            </a:r>
            <a:br>
              <a:rPr lang="en-US" dirty="0"/>
            </a:br>
            <a:r>
              <a:rPr lang="en-US" dirty="0"/>
              <a:t>Campaigns</a:t>
            </a:r>
          </a:p>
        </p:txBody>
      </p:sp>
      <p:pic>
        <p:nvPicPr>
          <p:cNvPr id="49" name="Logo" descr="preencoded.png">
            <a:extLst>
              <a:ext uri="{FF2B5EF4-FFF2-40B4-BE49-F238E27FC236}">
                <a16:creationId xmlns:a16="http://schemas.microsoft.com/office/drawing/2014/main" id="{78EA91C3-11B6-12D0-336F-79203E70EF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0D627A0-30FA-A34F-7E8C-E42A1E8E88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6D8E48EE-FF4E-C7B4-43D5-60E5BCEA561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7099DFAC-E659-27B5-C5E0-9880EB7B67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67FD7E3D-698C-FAF6-DC44-1696CB6F75F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0029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hapt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7C55D363-7694-CD53-29C0-725701C95B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44" name="Rectangle" descr="preencoded.png">
            <a:extLst>
              <a:ext uri="{FF2B5EF4-FFF2-40B4-BE49-F238E27FC236}">
                <a16:creationId xmlns:a16="http://schemas.microsoft.com/office/drawing/2014/main" id="{93A76456-5A83-44A5-396E-9B6B07335C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-1" y="21640"/>
            <a:ext cx="12192000" cy="6858000"/>
          </a:xfrm>
          <a:prstGeom prst="rect">
            <a:avLst/>
          </a:prstGeom>
        </p:spPr>
      </p:pic>
      <p:sp>
        <p:nvSpPr>
          <p:cNvPr id="47" name="Title 2">
            <a:extLst>
              <a:ext uri="{FF2B5EF4-FFF2-40B4-BE49-F238E27FC236}">
                <a16:creationId xmlns:a16="http://schemas.microsoft.com/office/drawing/2014/main" id="{F4A4DB78-4158-E9DF-DB03-2DBF85B2F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2401795"/>
            <a:ext cx="8575674" cy="2097690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 b="0" i="0" spc="-2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Digital </a:t>
            </a:r>
            <a:br>
              <a:rPr lang="en-US" dirty="0"/>
            </a:br>
            <a:r>
              <a:rPr lang="en-US" dirty="0"/>
              <a:t>Campaigns</a:t>
            </a:r>
          </a:p>
        </p:txBody>
      </p:sp>
      <p:pic>
        <p:nvPicPr>
          <p:cNvPr id="49" name="Logo" descr="preencoded.png">
            <a:extLst>
              <a:ext uri="{FF2B5EF4-FFF2-40B4-BE49-F238E27FC236}">
                <a16:creationId xmlns:a16="http://schemas.microsoft.com/office/drawing/2014/main" id="{78EA91C3-11B6-12D0-336F-79203E70EF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0D627A0-30FA-A34F-7E8C-E42A1E8E88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8638099B-E3D3-6B61-8A6B-303CA6565DE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EEF99012-CB8C-2F7F-43FE-C70F0E28E3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8ACCF60D-6F0F-F771-317A-2FB85FFF752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7893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Quote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B5245493-1A64-E190-69B8-E76153C231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770" b="777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84968157-8C77-7C15-F9B5-A4CC286834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9725" y="5305900"/>
            <a:ext cx="7623175" cy="461665"/>
          </a:xfrm>
          <a:prstGeom prst="rect">
            <a:avLst/>
          </a:prstGeom>
        </p:spPr>
        <p:txBody>
          <a:bodyPr wrap="square" lIns="64008" rIns="0">
            <a:spAutoFit/>
          </a:bodyPr>
          <a:lstStyle>
            <a:lvl1pPr>
              <a:lnSpc>
                <a:spcPct val="100000"/>
              </a:lnSpc>
              <a:buNone/>
              <a:defRPr sz="2400" b="1" i="0" spc="-8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FirstName LastName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6852C012-816F-EC03-EDBA-71402F036E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9726" y="5824740"/>
            <a:ext cx="7641272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0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340C4934-5AC0-53B7-44F3-9390018CF5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7186C779-C1CA-D8EE-397A-BC47222544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1623008"/>
            <a:ext cx="9528175" cy="2920030"/>
          </a:xfrm>
          <a:prstGeom prst="rect">
            <a:avLst/>
          </a:prstGeom>
        </p:spPr>
        <p:txBody>
          <a:bodyPr wrap="square" lIns="27432" rIns="0">
            <a:spAutoFit/>
          </a:bodyPr>
          <a:lstStyle>
            <a:lvl1pPr marL="0" indent="0">
              <a:lnSpc>
                <a:spcPct val="75000"/>
              </a:lnSpc>
              <a:buNone/>
              <a:tabLst/>
              <a:defRPr sz="6000" b="0" i="0" spc="-17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700" indent="0">
              <a:buNone/>
              <a:tabLst/>
              <a:defRPr/>
            </a:lvl2pPr>
          </a:lstStyle>
          <a:p>
            <a:pPr lvl="0"/>
            <a:r>
              <a:rPr lang="en-US" dirty="0"/>
              <a:t>“</a:t>
            </a:r>
            <a:r>
              <a:rPr lang="en-US" dirty="0" err="1"/>
              <a:t>Neque</a:t>
            </a:r>
            <a:r>
              <a:rPr lang="en-US" dirty="0"/>
              <a:t> porro </a:t>
            </a:r>
            <a:r>
              <a:rPr lang="en-US" dirty="0" err="1"/>
              <a:t>quisquam</a:t>
            </a:r>
            <a:r>
              <a:rPr lang="en-US" dirty="0"/>
              <a:t>  lest, qui </a:t>
            </a:r>
            <a:r>
              <a:rPr lang="en-US" dirty="0" err="1"/>
              <a:t>dolorem</a:t>
            </a:r>
            <a:r>
              <a:rPr lang="en-US" dirty="0"/>
              <a:t> ipsum quia dolor sit </a:t>
            </a:r>
            <a:r>
              <a:rPr lang="en-US" dirty="0" err="1"/>
              <a:t>amet</a:t>
            </a:r>
            <a:r>
              <a:rPr lang="en-US" dirty="0"/>
              <a:t>, porro </a:t>
            </a:r>
            <a:r>
              <a:rPr lang="en-US" dirty="0" err="1"/>
              <a:t>quisquam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.”</a:t>
            </a: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04C03AE5-8148-BDEF-B92D-5D12D598A0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F50FBA37-7A2D-7DD6-6C01-859714C8BC1D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14F2F370-3FC8-55F0-1609-A5AB3B82F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WD Confidential">
            <a:extLst>
              <a:ext uri="{FF2B5EF4-FFF2-40B4-BE49-F238E27FC236}">
                <a16:creationId xmlns:a16="http://schemas.microsoft.com/office/drawing/2014/main" id="{E025AB58-C3AC-1C01-4DA3-22703B37449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0169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Quote Head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3A4BF43-FA17-1E78-9155-FF2170E2D98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19100" y="4312598"/>
            <a:ext cx="1421916" cy="1428525"/>
          </a:xfrm>
          <a:prstGeom prst="ellipse">
            <a:avLst/>
          </a:prstGeom>
        </p:spPr>
        <p:txBody>
          <a:bodyPr rIns="0"/>
          <a:lstStyle>
            <a:lvl1pPr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1496A2C0-A45A-F093-4D48-BA745EAF70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47900" y="4566878"/>
            <a:ext cx="6667500" cy="461665"/>
          </a:xfrm>
          <a:prstGeom prst="rect">
            <a:avLst/>
          </a:prstGeom>
        </p:spPr>
        <p:txBody>
          <a:bodyPr wrap="square" lIns="64008" rIns="0">
            <a:spAutoFit/>
          </a:bodyPr>
          <a:lstStyle>
            <a:lvl1pPr>
              <a:lnSpc>
                <a:spcPct val="100000"/>
              </a:lnSpc>
              <a:buNone/>
              <a:defRPr sz="2400" b="1" i="0" spc="-8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FirstName LastName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5267AF25-EB0A-171B-BF9C-CF4006993E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47900" y="5033095"/>
            <a:ext cx="6667500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74D4219E-9330-ADE5-EFCC-3658425C6A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70720526-CAB2-3861-B8E1-2D8E2AB191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1517128"/>
            <a:ext cx="8575675" cy="1764714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 marL="0" indent="0">
              <a:lnSpc>
                <a:spcPct val="85000"/>
              </a:lnSpc>
              <a:buNone/>
              <a:tabLst/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700" indent="0">
              <a:buNone/>
              <a:tabLst/>
              <a:defRPr/>
            </a:lvl2pPr>
          </a:lstStyle>
          <a:p>
            <a:pPr lvl="0"/>
            <a:r>
              <a:rPr lang="en-US" dirty="0"/>
              <a:t>“</a:t>
            </a:r>
            <a:r>
              <a:rPr lang="en-US" dirty="0" err="1"/>
              <a:t>Neque</a:t>
            </a:r>
            <a:r>
              <a:rPr lang="en-US" dirty="0"/>
              <a:t> porro </a:t>
            </a:r>
            <a:r>
              <a:rPr lang="en-US" dirty="0" err="1"/>
              <a:t>quisquam</a:t>
            </a:r>
            <a:r>
              <a:rPr lang="en-US" dirty="0"/>
              <a:t> lest, qui </a:t>
            </a:r>
            <a:r>
              <a:rPr lang="en-US" dirty="0" err="1"/>
              <a:t>dolorem</a:t>
            </a:r>
            <a:r>
              <a:rPr lang="en-US" dirty="0"/>
              <a:t> ipsum quia dolor sit </a:t>
            </a:r>
            <a:r>
              <a:rPr lang="en-US" dirty="0" err="1"/>
              <a:t>amet</a:t>
            </a:r>
            <a:r>
              <a:rPr lang="en-US" dirty="0"/>
              <a:t>, porro </a:t>
            </a:r>
            <a:r>
              <a:rPr lang="en-US" dirty="0" err="1"/>
              <a:t>quisquam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.”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AAEF6174-DF81-F83B-C9AA-28AD5F9BAF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2E0086C7-2F0C-FD95-D8E2-6226CA777A5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E07FA23C-0F4B-8A50-6D21-74042CAC01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AD6554B1-AE61-D38C-BD62-C218B50E399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660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Elevator Pitch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0CB210FC-3307-99B1-72CD-8010E835D9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Elevator Pitch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1F03B5D0-B758-47A1-3768-821FE2623B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1576161"/>
            <a:ext cx="10480675" cy="3938001"/>
          </a:xfrm>
          <a:prstGeom prst="rect">
            <a:avLst/>
          </a:prstGeom>
        </p:spPr>
        <p:txBody>
          <a:bodyPr wrap="square" lIns="45720" rIns="0" anchor="ctr">
            <a:spAutoFit/>
          </a:bodyPr>
          <a:lstStyle>
            <a:lvl1pPr marL="0" indent="0">
              <a:lnSpc>
                <a:spcPct val="85000"/>
              </a:lnSpc>
              <a:buNone/>
              <a:tabLst/>
              <a:defRPr sz="4200" b="0" i="0" spc="-13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700" indent="0">
              <a:buNone/>
              <a:tabLst/>
              <a:defRPr/>
            </a:lvl2pPr>
          </a:lstStyle>
          <a:p>
            <a:pPr lvl="0"/>
            <a:r>
              <a:rPr lang="en-US" dirty="0"/>
              <a:t>WD is the storage foundation for everyone from consumers to cloud, AI, and OEM innovators operating at massive scale.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We drive certainty in the AI era by delivering purpose-built technology across all storage tiers from the data center to the home.</a:t>
            </a: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5B205C2D-29C3-59B4-D732-CF6763F75D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0C65699B-675C-A6DA-6834-E149883EE87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F30AB2D4-9E35-4760-0BDD-94E36B9B84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9CDEB3D1-E656-5D25-5029-59CABDA2239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50099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anifes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BCCFE563-A70F-E61A-800A-421C1912BE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Manifesto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0B1CE00F-0D9C-63DD-95F2-77D1F40633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1223646"/>
            <a:ext cx="8575767" cy="1696618"/>
          </a:xfrm>
          <a:prstGeom prst="rect">
            <a:avLst/>
          </a:prstGeom>
        </p:spPr>
        <p:txBody>
          <a:bodyPr wrap="square" lIns="27432" rIns="0">
            <a:spAutoFit/>
          </a:bodyPr>
          <a:lstStyle>
            <a:lvl1pPr>
              <a:lnSpc>
                <a:spcPct val="85000"/>
              </a:lnSpc>
              <a:defRPr sz="6000" b="0" i="0" spc="-17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WD drives certainty in the AI era.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6077F82-363E-A58F-19D4-34D42BB84F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9632" y="3148174"/>
            <a:ext cx="8575768" cy="1600438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 marL="12700" indent="-12700">
              <a:lnSpc>
                <a:spcPct val="100000"/>
              </a:lnSpc>
              <a:buNone/>
              <a:tabLst/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spc="-30"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defRPr sz="1400" spc="-30">
                <a:solidFill>
                  <a:schemeClr val="tx2"/>
                </a:solidFill>
              </a:defRPr>
            </a:lvl3pPr>
            <a:lvl4pPr>
              <a:lnSpc>
                <a:spcPct val="100000"/>
              </a:lnSpc>
              <a:defRPr sz="1400" spc="-3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defRPr sz="1400" spc="-3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We deliver performance without a premium. Infrastructure to keep pace with your AI models. And purpose-built storage designed for proven capacity, reliability, power-efficiency, and superior TCO.</a:t>
            </a:r>
            <a:br>
              <a:rPr lang="en-US" dirty="0"/>
            </a:br>
            <a:r>
              <a:rPr lang="en-US" dirty="0"/>
              <a:t>Developed through decades of engineering excellence, built on expertise from 40,000+ passionate individuals, and field-validated with customers at hyperscale, our storage technology evolves as your data demands grow.</a:t>
            </a:r>
            <a:br>
              <a:rPr lang="en-US" dirty="0"/>
            </a:br>
            <a:r>
              <a:rPr lang="en-US" dirty="0"/>
              <a:t>Always on. Always ready. Across the world’s largest data centers, at home, and everywhere in-between.</a:t>
            </a:r>
            <a:br>
              <a:rPr lang="en-US" dirty="0"/>
            </a:br>
            <a:r>
              <a:rPr lang="en-US" dirty="0"/>
              <a:t>Innovate with confidence. Scale with certainty.</a:t>
            </a:r>
            <a:br>
              <a:rPr lang="en-US" dirty="0"/>
            </a:br>
            <a:r>
              <a:rPr lang="en-US" dirty="0"/>
              <a:t>Only with WD.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99315058-3B5A-8A91-EE93-D7AC56C885E2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B942D230-5F44-4C6A-579D-EB0103DBE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8ED3B323-AA46-23F8-C142-6D014DD162B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29829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title and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CD24FD7F-7349-F1F5-223D-7F65E42A02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1BFF3DBF-B6EF-B5B6-80ED-BD17007411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F1085EB-B6B3-04CF-7847-B672F38F3F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2AA16F8E-B090-9642-F455-E7BE04B868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90A9618-A5C7-FFFF-717E-ADCB6EA53D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632" y="2559700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DE871506-8FFF-28E8-C297-BB40956DA7B4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CD5E26EA-FFEC-E257-87F9-03D811537C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EACD8185-4A42-915C-0F2E-EB0FFDF1E50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6518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title and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CD24FD7F-7349-F1F5-223D-7F65E42A02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1BFF3DBF-B6EF-B5B6-80ED-BD17007411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F1085EB-B6B3-04CF-7847-B672F38F3F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2AA16F8E-B090-9642-F455-E7BE04B868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Lorem Ipsum Headline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90A9618-A5C7-FFFF-717E-ADCB6EA53D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632" y="2559700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1E894E91-1ADF-7A36-EBEA-795B7EF9CAF1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EF431CF9-6649-9BA9-2E27-DEF006649F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7AA75334-B0E2-9798-0EAA-428DA461AE37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52619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12F7BBF-9C82-9666-15BB-66D848FA0F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0A2714-C0DF-0C80-9966-02DC68D5F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1CE56D40-6ADB-3A0A-0BDC-D6D00D929BE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0050841B-5735-F2D5-0A78-51AD08F2F75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B811A320-08A4-EF41-715C-69759B0C4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E4D09478-3997-80B6-4C9B-67FA61E8D9B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1488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12F7BBF-9C82-9666-15BB-66D848FA0F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0A2714-C0DF-0C80-9966-02DC68D5F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1CE56D40-6ADB-3A0A-0BDC-D6D00D929BE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1CED4B45-D08E-55A5-092B-654720B07F2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7E404687-BDF0-09F7-7955-7FED5A0663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8430F890-C0FF-20E6-617A-D6264C712F3D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87023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title and 2-Column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2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D582C36-F359-A0D2-C216-FDD6A5565C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AA07F6F7-51BC-E719-98A2-B0A5961040EB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077697" y="2555421"/>
            <a:ext cx="4742703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A7E657F-2D84-5BAB-3CF6-E00EFFD7002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555421"/>
            <a:ext cx="4765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0583AAAC-E43F-7CB7-FCF3-DC40FBE10141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DB9BB98-B022-71CA-6E27-0BC0608AEF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79654493-A604-7DF1-23A3-0683CB24E17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3848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title and 2-Column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2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D582C36-F359-A0D2-C216-FDD6A5565C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AA07F6F7-51BC-E719-98A2-B0A5961040EB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077697" y="2555421"/>
            <a:ext cx="4742703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A7E657F-2D84-5BAB-3CF6-E00EFFD7002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555421"/>
            <a:ext cx="4765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67323B64-9890-851C-CFCC-80AFAD1995B9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4C19B1D-4D1D-464C-5A79-5EBBCB96EA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1B1A89FE-9F90-CCDF-AD06-574CC4F8AB3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5276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2-Column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4" y="702407"/>
            <a:ext cx="6670766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31040B13-638F-A6E9-D729-9BB66691EC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223272"/>
            <a:ext cx="4765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993765A-531C-BA41-7134-707041754F96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077697" y="2223272"/>
            <a:ext cx="4742703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892F9820-3B54-5A27-B27A-73753286431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435C9CC-6B67-1112-DF24-9027C982F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2F5C104B-2EB9-B56A-FFAC-319DA5A82928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4394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2-Column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4" y="702407"/>
            <a:ext cx="6670766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31040B13-638F-A6E9-D729-9BB66691EC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223272"/>
            <a:ext cx="4765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993765A-531C-BA41-7134-707041754F96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077697" y="2223272"/>
            <a:ext cx="4742703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B3A79694-3F78-2EDB-C057-D866EDA8128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23EFA591-69A9-51C7-CD9E-FD0CCCDBD1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9861632B-3A19-FBB2-0EF1-A481FF7D539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23696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title and 3-Column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D582C36-F359-A0D2-C216-FDD6A5565C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3F1E54E-5BF2-A275-48ED-12E26430CA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555421"/>
            <a:ext cx="3357840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BE3E7D6-0DDF-2433-3B44-9E5C4144EB4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166347" y="2555421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C7D7AF38-C09F-B2CF-757B-713AA6C5115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966636" y="2555421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FA8F56AB-CFA8-AC73-0BC3-459B01A36185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4FCCFFE2-A4FB-5234-F702-14B579F4BC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F2385D96-F468-4612-0122-FFAF043A2E09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2773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title and 3-Column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D582C36-F359-A0D2-C216-FDD6A5565C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3F1E54E-5BF2-A275-48ED-12E26430CA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555421"/>
            <a:ext cx="3357840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BE3E7D6-0DDF-2433-3B44-9E5C4144EB4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166347" y="2555421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C7D7AF38-C09F-B2CF-757B-713AA6C5115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966636" y="2555421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2CC8B5AC-F3AE-E094-B832-73394D434B0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7C940278-C6AD-2BD0-D693-03C926976F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35583BC5-2030-A571-E579-5FC24F25F6C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324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3-Column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3F1E54E-5BF2-A275-48ED-12E26430CA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155810"/>
            <a:ext cx="3357840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BE3E7D6-0DDF-2433-3B44-9E5C4144EB4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166347" y="2155810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C7D7AF38-C09F-B2CF-757B-713AA6C5115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966636" y="2155810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7AA045E7-A44A-ACB8-AA34-0B261636B89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6F8C4D60-797F-6E5D-28C1-7806C56F6A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E6B9DE43-CB49-B21C-2E2E-7CDE82EDBB6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735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3-Column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3F1E54E-5BF2-A275-48ED-12E26430CA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155810"/>
            <a:ext cx="3357840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BE3E7D6-0DDF-2433-3B44-9E5C4144EB4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166347" y="2155810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C7D7AF38-C09F-B2CF-757B-713AA6C5115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966636" y="2155810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5276F0D2-32B8-C7AC-B82A-C606D31FC7C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B0239A21-7BB6-C643-D84F-C232D1980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E8759531-8185-454D-6A95-FD805973061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35919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Subtitl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69089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D7CC45D7-1BAA-BAFE-C00D-0F9E4834A4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312" y="1954332"/>
            <a:ext cx="4764088" cy="320088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93BC1FEF-E960-A249-9518-9C3E0D63E880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6D2DC00-EF0F-608A-74EB-8779CB4A16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ABAD58BC-78F9-B4F0-6B65-18C1CDC222D2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1027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Subtitle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69089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D7CC45D7-1BAA-BAFE-C00D-0F9E4834A4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312" y="1954332"/>
            <a:ext cx="4764088" cy="320088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391D50C1-A731-51B6-C715-F0D945EC168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EB91A628-CC27-D7BB-57A2-EF12184D65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DC20F77F-3AA0-4B76-4250-0F2C0B243FF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47386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Subtitle (Right)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or Data Slide Headline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D1A82A6F-B32A-AE87-DB81-26831C56D4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702407"/>
            <a:ext cx="1908175" cy="757130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Optional subtitle or key takeaway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E859BBAB-728B-1AD4-F240-65960E3235E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4FC36E1C-5DDB-DAD1-AE29-676A690FB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4402B233-F83C-1F9A-4CCF-EBE07534953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3357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and Subtitle (Right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or Data Slide Headline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D1A82A6F-B32A-AE87-DB81-26831C56D4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702407"/>
            <a:ext cx="1908175" cy="757130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Optional subtitle or key takeaway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1310BAEA-1179-6A57-1C60-48E419B2AF0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BF43CC62-22B1-1062-ACE0-78C1312121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E33C62C1-D9E5-2CF9-079C-6E54F23AA01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21270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78A068A3-D3A0-DA36-A633-EED175D1E6A4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828AEF02-BEDA-1BFA-000F-033EF9D980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C3BE7781-CA5D-312E-8344-92F548C99709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0830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2BE2CD35-6CE7-8F5F-6D39-972D4D561784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6CD89FA-F357-1792-1250-99BC3F2C78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3B1BC62A-5770-272A-7EFA-481370AAF3C8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13535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(Bottom)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3CEFD179-CC6E-7D13-6450-355441A668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11300218-03BC-B777-07DF-B7C3E3BE69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480364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Data Slide – Bottom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B35C2A1F-FA1A-0E07-7768-85DC5F6C03D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13CF05D5-C0B3-2723-D54B-FF1C3E782D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72F0C9EA-888F-73F8-1FAA-2C393839607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2492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(Bottom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3CEFD179-CC6E-7D13-6450-355441A668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11300218-03BC-B777-07DF-B7C3E3BE69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480364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Data Slide – Bottom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89A23E38-65E7-DD56-B4E5-8586783CF4D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E448280-606D-19BF-53C0-F94BF2C70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30B9BA75-8CE2-0C9A-0039-48A3A72D41A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15270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Key Takeaway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or Data </a:t>
            </a:r>
            <a:br>
              <a:rPr lang="en-US" dirty="0"/>
            </a:br>
            <a:r>
              <a:rPr lang="en-US" dirty="0"/>
              <a:t>Slide Headline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D7CC45D7-1BAA-BAFE-C00D-0F9E4834A4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312" y="2122728"/>
            <a:ext cx="1908175" cy="757130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Optional subtitle or key takeaway goes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6CF7733-1DE9-9B58-4576-DA0FE39F7D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725" y="5198586"/>
            <a:ext cx="1908175" cy="738664"/>
          </a:xfrm>
          <a:prstGeom prst="rect">
            <a:avLst/>
          </a:prstGeom>
        </p:spPr>
        <p:txBody>
          <a:bodyPr wrap="square" lIns="82296" rIns="0" anchor="b">
            <a:spAutoFit/>
          </a:bodyPr>
          <a:lstStyle>
            <a:lvl1pPr marL="11113" indent="-11113">
              <a:lnSpc>
                <a:spcPct val="100000"/>
              </a:lnSpc>
              <a:buNone/>
              <a:tabLst/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0" dirty="0"/>
              <a:t>Optional additional (less important) text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AABDCA64-0F1C-5EC0-64DA-CD1DEA2EC07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038555D-587B-01AE-60D5-C9BEFE14E3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3AE7A749-92BC-EB07-E27C-08E0B85EDE4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2396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Key Takeaway Vault Nav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E9939BCF-4926-9BD3-1B08-CD2AABECE2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6A794357-5E34-54F0-6CE0-C841EB3D25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BA867570-91F0-1222-CAE7-9867B2C4A9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or Data </a:t>
            </a:r>
            <a:br>
              <a:rPr lang="en-US" dirty="0"/>
            </a:br>
            <a:r>
              <a:rPr lang="en-US" dirty="0"/>
              <a:t>Slide Headline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97D04FA1-D395-FF10-E1E5-9F29C071F23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312" y="2122728"/>
            <a:ext cx="1908175" cy="757130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Optional subtitle or key takeaway goes here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33D57A1A-BE1A-A50F-BA14-528DE7930ED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725" y="5198586"/>
            <a:ext cx="1908175" cy="738664"/>
          </a:xfrm>
          <a:prstGeom prst="rect">
            <a:avLst/>
          </a:prstGeom>
        </p:spPr>
        <p:txBody>
          <a:bodyPr wrap="square" lIns="82296" rIns="0" anchor="b">
            <a:spAutoFit/>
          </a:bodyPr>
          <a:lstStyle>
            <a:lvl1pPr marL="11113" indent="-11113">
              <a:lnSpc>
                <a:spcPct val="100000"/>
              </a:lnSpc>
              <a:buNone/>
              <a:tabLst/>
              <a:defRPr sz="1400" b="0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0" dirty="0"/>
              <a:t>Optional additional (less important) text goes here</a:t>
            </a:r>
          </a:p>
        </p:txBody>
      </p:sp>
      <p:sp>
        <p:nvSpPr>
          <p:cNvPr id="7" name="2026 Western Digital Corporation All rights reserved">
            <a:extLst>
              <a:ext uri="{FF2B5EF4-FFF2-40B4-BE49-F238E27FC236}">
                <a16:creationId xmlns:a16="http://schemas.microsoft.com/office/drawing/2014/main" id="{C7EA4804-4B5C-6645-4E21-96164F63FEE8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83EDC67A-ECC2-19CB-21C7-7194007B74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WD Confidential">
            <a:extLst>
              <a:ext uri="{FF2B5EF4-FFF2-40B4-BE49-F238E27FC236}">
                <a16:creationId xmlns:a16="http://schemas.microsoft.com/office/drawing/2014/main" id="{F339B6A8-73CC-E170-2B36-716394B6E1E7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444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Image (Right)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E974B86-CC47-E3A9-09B8-71351345FD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2B5D790D-84F2-9DA7-31E1-91ADDEF35E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23C2038-0FB4-8A7A-D4C6-98B3F68964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5D2334D-E13A-AC3B-2B22-2888BA0516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D0B3BE4E-DD1F-327D-F922-BCCAD740366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FF9AF1F3-A435-4D15-F610-AFA97C4D5F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2ABEF0FC-8C0A-945E-EBCF-0BC5FBC7F03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5694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Image (Right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E974B86-CC47-E3A9-09B8-71351345FD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2B5D790D-84F2-9DA7-31E1-91ADDEF35E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23C2038-0FB4-8A7A-D4C6-98B3F68964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5D2334D-E13A-AC3B-2B22-2888BA0516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D3F04C5A-5742-1A1E-CA60-840BC18D6CCD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F1EF7B17-BD9C-D0B8-E419-FE329B1E17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E9C19F5F-3594-E4B9-2B41-9F70617EB292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0069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, Content and Image (Right)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BB5D091-BEAD-9C35-8773-E2D117D7C41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9512FB9-F98A-8E5C-951C-4A2FCA238B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8B8EFC7E-41B7-8AFB-607B-3C302BBCD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2C4CDB26-05C0-90D4-FB52-F7EFA3B2BEA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E2373215-143C-72E4-DB18-24A52224C54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B45CE4DF-8334-6E2C-DEBB-F484F0FCEE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WD Confidential">
            <a:extLst>
              <a:ext uri="{FF2B5EF4-FFF2-40B4-BE49-F238E27FC236}">
                <a16:creationId xmlns:a16="http://schemas.microsoft.com/office/drawing/2014/main" id="{F3FD56E7-5137-4D27-17D4-1DAAC934A15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6008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, Content and Image (Right) Whi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BB5D091-BEAD-9C35-8773-E2D117D7C41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9512FB9-F98A-8E5C-951C-4A2FCA238B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8B8EFC7E-41B7-8AFB-607B-3C302BBCD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Lorem Ipsum Headline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2C4CDB26-05C0-90D4-FB52-F7EFA3B2BEA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A1754800-D91A-6F1E-1B60-80E239C599E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9A38803D-431A-9E7E-63D7-F4FDCD9CA1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WD Confidential">
            <a:extLst>
              <a:ext uri="{FF2B5EF4-FFF2-40B4-BE49-F238E27FC236}">
                <a16:creationId xmlns:a16="http://schemas.microsoft.com/office/drawing/2014/main" id="{E171678C-25FB-CE95-0F9A-9410318FDB1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56571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Reversed) and Image (Left)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E974B86-CC47-E3A9-09B8-71351345FD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51054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5CBFB3-5C63-E76A-81F6-352AF6A96AC7}"/>
              </a:ext>
            </a:extLst>
          </p:cNvPr>
          <p:cNvSpPr/>
          <p:nvPr/>
        </p:nvSpPr>
        <p:spPr>
          <a:xfrm>
            <a:off x="0" y="0"/>
            <a:ext cx="5105400" cy="6858000"/>
          </a:xfrm>
          <a:prstGeom prst="rect">
            <a:avLst/>
          </a:prstGeom>
          <a:gradFill flip="none" rotWithShape="1">
            <a:gsLst>
              <a:gs pos="50000">
                <a:schemeClr val="tx1">
                  <a:alpha val="0"/>
                </a:schemeClr>
              </a:gs>
              <a:gs pos="0">
                <a:schemeClr val="tx1"/>
              </a:gs>
              <a:gs pos="99000">
                <a:schemeClr val="tx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Logo" descr="preencoded.png">
            <a:extLst>
              <a:ext uri="{FF2B5EF4-FFF2-40B4-BE49-F238E27FC236}">
                <a16:creationId xmlns:a16="http://schemas.microsoft.com/office/drawing/2014/main" id="{6F697425-33B5-9D49-D509-9E59F4BC32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D739DB5F-A9FD-67F2-C5EA-D8FA35DDD4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D72B7712-95DC-7639-85F6-0FB9353841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Title Reversed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FE7513F5-F1D9-336A-FCDC-4025CC657F1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5467E32F-C75B-80DF-09E8-A08F7B09E1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D6F95B93-2502-5684-FD9E-A3D22721EA1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670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Reversed) and Image (Left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E974B86-CC47-E3A9-09B8-71351345FD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51054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5CBFB3-5C63-E76A-81F6-352AF6A96AC7}"/>
              </a:ext>
            </a:extLst>
          </p:cNvPr>
          <p:cNvSpPr/>
          <p:nvPr/>
        </p:nvSpPr>
        <p:spPr>
          <a:xfrm>
            <a:off x="0" y="0"/>
            <a:ext cx="5105400" cy="6858000"/>
          </a:xfrm>
          <a:prstGeom prst="rect">
            <a:avLst/>
          </a:prstGeom>
          <a:gradFill flip="none" rotWithShape="1">
            <a:gsLst>
              <a:gs pos="50000">
                <a:schemeClr val="tx1">
                  <a:alpha val="0"/>
                </a:schemeClr>
              </a:gs>
              <a:gs pos="0">
                <a:schemeClr val="bg1"/>
              </a:gs>
              <a:gs pos="99000">
                <a:schemeClr val="tx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Logo" descr="preencoded.png">
            <a:extLst>
              <a:ext uri="{FF2B5EF4-FFF2-40B4-BE49-F238E27FC236}">
                <a16:creationId xmlns:a16="http://schemas.microsoft.com/office/drawing/2014/main" id="{6F697425-33B5-9D49-D509-9E59F4BC32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D739DB5F-A9FD-67F2-C5EA-D8FA35DDD4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D72B7712-95DC-7639-85F6-0FB9353841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Title Reversed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D4CE2AA7-6F6A-715E-2844-FD817473448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4E925586-E1A3-2711-4260-20ACB17F52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F1726C1D-A19D-40D2-D37D-1F82A06C2F3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02533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4-Image Grid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83F5FE23-B62A-7209-F6C5-B67C514CECD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39100" y="4565652"/>
            <a:ext cx="2074302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F941C6-2081-0AB0-9116-86BCA188C5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13402" y="4565652"/>
            <a:ext cx="2078598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4FA33BF-F5F6-FB1D-EAC2-F5D76DAC518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2292350"/>
            <a:ext cx="2074302" cy="227965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ECC1E6C9-8423-12CB-5772-49593569DF3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13402" y="2292350"/>
            <a:ext cx="2078598" cy="227965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2826824">
            <a:extLst>
              <a:ext uri="{FF2B5EF4-FFF2-40B4-BE49-F238E27FC236}">
                <a16:creationId xmlns:a16="http://schemas.microsoft.com/office/drawing/2014/main" id="{5EC1BC48-341B-CB94-03C8-5902DE0FAD6B}"/>
              </a:ext>
            </a:extLst>
          </p:cNvPr>
          <p:cNvSpPr/>
          <p:nvPr/>
        </p:nvSpPr>
        <p:spPr>
          <a:xfrm>
            <a:off x="8039100" y="0"/>
            <a:ext cx="4152900" cy="2292350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 sz="1200" b="0" i="0"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1F431622-C5BC-CC47-C470-C077A00D61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915400" y="1112229"/>
            <a:ext cx="1905001" cy="584775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1113" indent="-11113">
              <a:lnSpc>
                <a:spcPct val="100000"/>
              </a:lnSpc>
              <a:buNone/>
              <a:tabLst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14CDBCCB-6E01-8EA8-A691-D8E84C8E908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B979888-354B-53BF-C7CE-C7976C7F8E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3859070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4-Image Grid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C0753B19-0E94-5E37-B9BD-A749DDE08A3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A4129A0-2945-A3BA-951C-76C384057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B3471E69-DD52-0CA8-9CE0-38411AD35A3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7570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4-Image Grid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83F5FE23-B62A-7209-F6C5-B67C514CECD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39100" y="4565652"/>
            <a:ext cx="2074302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F941C6-2081-0AB0-9116-86BCA188C5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13402" y="4565652"/>
            <a:ext cx="2078598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4FA33BF-F5F6-FB1D-EAC2-F5D76DAC518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2292350"/>
            <a:ext cx="2074302" cy="227965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ECC1E6C9-8423-12CB-5772-49593569DF3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13402" y="2292350"/>
            <a:ext cx="2078598" cy="227965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2826824">
            <a:extLst>
              <a:ext uri="{FF2B5EF4-FFF2-40B4-BE49-F238E27FC236}">
                <a16:creationId xmlns:a16="http://schemas.microsoft.com/office/drawing/2014/main" id="{5EC1BC48-341B-CB94-03C8-5902DE0FAD6B}"/>
              </a:ext>
            </a:extLst>
          </p:cNvPr>
          <p:cNvSpPr/>
          <p:nvPr/>
        </p:nvSpPr>
        <p:spPr>
          <a:xfrm>
            <a:off x="8039100" y="0"/>
            <a:ext cx="4152900" cy="2292350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 sz="1200" b="0" i="0"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1F431622-C5BC-CC47-C470-C077A00D61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915400" y="1112229"/>
            <a:ext cx="1905001" cy="584775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7938" indent="-7938">
              <a:lnSpc>
                <a:spcPct val="100000"/>
              </a:lnSpc>
              <a:buNone/>
              <a:tabLst/>
              <a:defRPr sz="1600" b="1" i="0" spc="-4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14CDBCCB-6E01-8EA8-A691-D8E84C8E908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B979888-354B-53BF-C7CE-C7976C7F8E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4-Image Grid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DE66D1A0-6F87-7355-6FB5-EC2E50AF2BF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70795BE5-F45F-97D1-3174-2868FC6628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95D1F8EE-1A0F-2C96-FC1C-4FAAFAF4DD0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18748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6-Image Grid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8AC27782-1955-C093-91A2-B66C8851DC8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113402" y="4578924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32620FBD-9C59-F02A-9B9E-AF36773994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39100" y="2279652"/>
            <a:ext cx="2074302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84B0E93E-1612-874F-E295-1E4D1D1FC75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13402" y="2279652"/>
            <a:ext cx="2078598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22C06ADB-D1F7-ABF0-77DE-682B9728EC0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BAF1612D-EB63-F628-E9D5-63240969436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13402" y="0"/>
            <a:ext cx="2078598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CF7665F6-37BC-9BEC-34C4-36347A0FEFC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039100" y="4578924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4" name="Logo" descr="preencoded.png">
            <a:extLst>
              <a:ext uri="{FF2B5EF4-FFF2-40B4-BE49-F238E27FC236}">
                <a16:creationId xmlns:a16="http://schemas.microsoft.com/office/drawing/2014/main" id="{F841EFE1-E224-7CD3-5B8B-CFDCC366F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984FB51-EB77-2DE4-DD54-69AE510EA9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1C113D96-4D97-155A-FE52-4BCE3F983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6-Image Grid</a:t>
            </a:r>
          </a:p>
        </p:txBody>
      </p:sp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F4FE30AF-42E6-416F-D8D5-C2D0A69F0D2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76035546-B7B7-BDD8-5283-C1931FC9EC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WD Confidential">
            <a:extLst>
              <a:ext uri="{FF2B5EF4-FFF2-40B4-BE49-F238E27FC236}">
                <a16:creationId xmlns:a16="http://schemas.microsoft.com/office/drawing/2014/main" id="{20D1837E-0062-8BF4-A963-96631D55F60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4217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6-Image Grid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72768E50-4F8A-707B-3B64-888A6D28154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113402" y="4578924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0FD63C80-67B9-0E70-C35A-2787A907D48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39100" y="2279652"/>
            <a:ext cx="2074302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BD2881D2-388F-598E-9A93-486A3B3B44C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13402" y="2279652"/>
            <a:ext cx="2078598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13883C4B-3946-CDDE-4891-33FD97E9178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2F7C217B-5411-1407-AB4D-0F331F01DB4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13402" y="0"/>
            <a:ext cx="2078598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5F37DA75-1BBE-A161-11E0-19C5909B0BC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039100" y="4578924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984FB51-EB77-2DE4-DD54-69AE510EA9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1C113D96-4D97-155A-FE52-4BCE3F983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6-Image Grid</a:t>
            </a:r>
          </a:p>
        </p:txBody>
      </p:sp>
      <p:pic>
        <p:nvPicPr>
          <p:cNvPr id="14" name="Logo" descr="preencoded.png">
            <a:extLst>
              <a:ext uri="{FF2B5EF4-FFF2-40B4-BE49-F238E27FC236}">
                <a16:creationId xmlns:a16="http://schemas.microsoft.com/office/drawing/2014/main" id="{F841EFE1-E224-7CD3-5B8B-CFDCC366F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E1647B93-DF49-D676-AD9E-A527B023EA7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65971A0-9D80-6D26-5302-E6DEB09BE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9A13EC03-5802-2E73-0FB5-1529BA715D69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62013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3-Image Grid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2F7C217B-5411-1407-AB4D-0F331F01DB4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39100" y="0"/>
            <a:ext cx="4152900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72768E50-4F8A-707B-3B64-888A6D28154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043391" y="4572000"/>
            <a:ext cx="4144317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BD2881D2-388F-598E-9A93-486A3B3B44C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039100" y="2279652"/>
            <a:ext cx="4152900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4" name="Logo" descr="preencoded.png">
            <a:extLst>
              <a:ext uri="{FF2B5EF4-FFF2-40B4-BE49-F238E27FC236}">
                <a16:creationId xmlns:a16="http://schemas.microsoft.com/office/drawing/2014/main" id="{F841EFE1-E224-7CD3-5B8B-CFDCC366F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984FB51-EB77-2DE4-DD54-69AE510EA9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1C113D96-4D97-155A-FE52-4BCE3F983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Sustainability Slide – </a:t>
            </a:r>
            <a:br>
              <a:rPr lang="en-US" dirty="0"/>
            </a:br>
            <a:r>
              <a:rPr lang="en-US" dirty="0"/>
              <a:t>3-Image Grid</a:t>
            </a:r>
          </a:p>
        </p:txBody>
      </p:sp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934001FE-6CE7-D2A2-F053-7C7E3B5E60C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E2CEA27B-D843-86C8-B9D4-1DFBA28F18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99E96AFD-C844-FEE5-4657-6C28E101288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094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3-Image Grid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113423BF-EFE6-1A11-3DD1-E7BAA3F849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39100" y="0"/>
            <a:ext cx="4152900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08CD47F8-4D14-72D0-8929-08E3F009C2B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043391" y="4572000"/>
            <a:ext cx="4144317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2144EC6D-5AE3-AA4B-1CBB-1B2575A065A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039100" y="2279652"/>
            <a:ext cx="4152900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984FB51-EB77-2DE4-DD54-69AE510EA9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1C113D96-4D97-155A-FE52-4BCE3F983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Sustainability Slide – </a:t>
            </a:r>
            <a:br>
              <a:rPr lang="en-US" dirty="0"/>
            </a:br>
            <a:r>
              <a:rPr lang="en-US" dirty="0"/>
              <a:t>3-Image Grid</a:t>
            </a:r>
          </a:p>
        </p:txBody>
      </p:sp>
      <p:pic>
        <p:nvPicPr>
          <p:cNvPr id="14" name="Logo" descr="preencoded.png">
            <a:extLst>
              <a:ext uri="{FF2B5EF4-FFF2-40B4-BE49-F238E27FC236}">
                <a16:creationId xmlns:a16="http://schemas.microsoft.com/office/drawing/2014/main" id="{F841EFE1-E224-7CD3-5B8B-CFDCC366F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F92D6152-F703-9B45-7540-1A202F967102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DD1F341C-43A2-ACD7-92F2-ED96215B43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WD Confidential">
            <a:extLst>
              <a:ext uri="{FF2B5EF4-FFF2-40B4-BE49-F238E27FC236}">
                <a16:creationId xmlns:a16="http://schemas.microsoft.com/office/drawing/2014/main" id="{396F4B9B-2B50-C576-1387-3B079CC512E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65574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Logo" descr="preencoded.png">
            <a:extLst>
              <a:ext uri="{FF2B5EF4-FFF2-40B4-BE49-F238E27FC236}">
                <a16:creationId xmlns:a16="http://schemas.microsoft.com/office/drawing/2014/main" id="{B4B9D2F9-5A96-F925-8611-62C83E7E0F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191A5D5C-7B08-F17B-C598-F8E1EBDFEFA8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53B2D08B-E918-937D-84CA-3D69DDA1FB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FA32F025-C9A1-AED8-7466-9706F9AAAEAD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384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 Vault Nav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 descr="preencoded.png">
            <a:extLst>
              <a:ext uri="{FF2B5EF4-FFF2-40B4-BE49-F238E27FC236}">
                <a16:creationId xmlns:a16="http://schemas.microsoft.com/office/drawing/2014/main" id="{CFD0F635-23F0-6005-05C6-A8FE4B835A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4" name="2026 Western Digital Corporation All rights reserved">
            <a:extLst>
              <a:ext uri="{FF2B5EF4-FFF2-40B4-BE49-F238E27FC236}">
                <a16:creationId xmlns:a16="http://schemas.microsoft.com/office/drawing/2014/main" id="{461D3CA5-88EF-0328-F997-2E9F47C61B15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EF3A8A3D-06A7-7AF4-7174-E6377F3DE9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69CBEC74-3B8B-056A-05B1-FD71ECD6303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7210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(Small) Product Featur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F097115-7F61-E8CC-58FF-D9C801520C90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0" y="1951437"/>
            <a:ext cx="8915400" cy="4906563"/>
          </a:xfrm>
          <a:prstGeom prst="rect">
            <a:avLst/>
          </a:prstGeom>
        </p:spPr>
      </p:pic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1396905D-1B87-DFCE-F5F2-3A55043BDE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0A019DC-EDF0-29A1-971C-57AED63E27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F04E1E-B680-F453-BF2D-12E044E4F6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2" y="702407"/>
            <a:ext cx="6670767" cy="665952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Product Feature - Smaller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4BCD7F94-D239-A34D-B21B-4D5045EC4B6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92B0277-C163-1361-A328-92DF3A8BB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0C0050B3-421C-437F-A3F6-F63B7B8E054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267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losing Slide Logo Vault Nav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BF542350-7CEC-CEE6-CD80-EC7531D732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59322" y="2836444"/>
            <a:ext cx="4673355" cy="118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605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losing Slide Logo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FBE187C-7342-D67B-D42B-17028FF6E5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30706" y="2628899"/>
            <a:ext cx="5081155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78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, Content and Image (Right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BB5D091-BEAD-9C35-8773-E2D117D7C41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9512FB9-F98A-8E5C-951C-4A2FCA238B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8B8EFC7E-41B7-8AFB-607B-3C302BBCD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191095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Lorem Ipsum Headline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2C4CDB26-05C0-90D4-FB52-F7EFA3B2BEA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885B0382-64EB-E2C0-C824-F203D46CD546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0F908C31-FDCA-5B80-F374-F8075AD99B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WD Confidential">
            <a:extLst>
              <a:ext uri="{FF2B5EF4-FFF2-40B4-BE49-F238E27FC236}">
                <a16:creationId xmlns:a16="http://schemas.microsoft.com/office/drawing/2014/main" id="{840A70F8-15E4-7077-46F5-FF5EA83DAF9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30988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7E2DD-39EB-6F14-53F0-36CA56E93C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6BC7AE-1CAD-1819-1135-BC8F925C1A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1DE84-655A-CC43-8010-AE80D02D2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5640E-9FFF-4CBB-BB82-6DC04795C58D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5B6AB-451B-781D-1DDD-6746219FE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5DA29-AD02-FC6F-23A4-41A81EF46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6475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slideLayout" Target="../slideLayouts/slideLayout71.xml"/><Relationship Id="rId72" Type="http://schemas.openxmlformats.org/officeDocument/2006/relationships/slideLayout" Target="../slideLayouts/slideLayout72.xml"/><Relationship Id="rId73" Type="http://schemas.openxmlformats.org/officeDocument/2006/relationships/slideLayout" Target="../slideLayouts/slideLayout73.xml"/><Relationship Id="rId74" Type="http://schemas.openxmlformats.org/officeDocument/2006/relationships/slideLayout" Target="../slideLayouts/slideLayout74.xml"/><Relationship Id="rId75" Type="http://schemas.openxmlformats.org/officeDocument/2006/relationships/slideLayout" Target="../slideLayouts/slideLayout75.xml"/><Relationship Id="rId76" Type="http://schemas.openxmlformats.org/officeDocument/2006/relationships/slideLayout" Target="../slideLayouts/slideLayout76.xml"/><Relationship Id="rId77" Type="http://schemas.openxmlformats.org/officeDocument/2006/relationships/slideLayout" Target="../slideLayouts/slideLayout77.xml"/><Relationship Id="rId78" Type="http://schemas.openxmlformats.org/officeDocument/2006/relationships/slideLayout" Target="../slideLayouts/slideLayout78.xml"/><Relationship Id="rId79" Type="http://schemas.openxmlformats.org/officeDocument/2006/relationships/slideLayout" Target="../slideLayouts/slideLayout79.xml"/><Relationship Id="rId80" Type="http://schemas.openxmlformats.org/officeDocument/2006/relationships/slideLayout" Target="../slideLayouts/slideLayout80.xml"/><Relationship Id="rId81" Type="http://schemas.openxmlformats.org/officeDocument/2006/relationships/slideLayout" Target="../slideLayouts/slideLayout81.xml"/><Relationship Id="rId82" Type="http://schemas.openxmlformats.org/officeDocument/2006/relationships/slideLayout" Target="../slideLayouts/slideLayout82.xml"/><Relationship Id="rId83" Type="http://schemas.openxmlformats.org/officeDocument/2006/relationships/slideLayout" Target="../slideLayouts/slideLayout83.xml"/><Relationship Id="rId84" Type="http://schemas.openxmlformats.org/officeDocument/2006/relationships/slideLayout" Target="../slideLayouts/slideLayout84.xml"/><Relationship Id="rId85" Type="http://schemas.openxmlformats.org/officeDocument/2006/relationships/slideLayout" Target="../slideLayouts/slideLayout85.xml"/><Relationship Id="rId86" Type="http://schemas.openxmlformats.org/officeDocument/2006/relationships/slideLayout" Target="../slideLayouts/slideLayout86.xml"/><Relationship Id="rId87" Type="http://schemas.openxmlformats.org/officeDocument/2006/relationships/slideLayout" Target="../slideLayouts/slideLayout87.xml"/><Relationship Id="rId88" Type="http://schemas.openxmlformats.org/officeDocument/2006/relationships/slideLayout" Target="../slideLayouts/slideLayout88.xml"/><Relationship Id="rId89" Type="http://schemas.openxmlformats.org/officeDocument/2006/relationships/slideLayout" Target="../slideLayouts/slideLayout89.xml"/><Relationship Id="rId90" Type="http://schemas.openxmlformats.org/officeDocument/2006/relationships/slideLayout" Target="../slideLayouts/slideLayout90.xml"/><Relationship Id="rId91" Type="http://schemas.openxmlformats.org/officeDocument/2006/relationships/slideLayout" Target="../slideLayouts/slideLayout91.xml"/><Relationship Id="rId92" Type="http://schemas.openxmlformats.org/officeDocument/2006/relationships/slideLayout" Target="../slideLayouts/slideLayout92.xml"/><Relationship Id="rId93" Type="http://schemas.openxmlformats.org/officeDocument/2006/relationships/slideLayout" Target="../slideLayouts/slideLayout93.xml"/><Relationship Id="rId94" Type="http://schemas.openxmlformats.org/officeDocument/2006/relationships/slideLayout" Target="../slideLayouts/slideLayout94.xml"/><Relationship Id="rId95" Type="http://schemas.openxmlformats.org/officeDocument/2006/relationships/slideLayout" Target="../slideLayouts/slideLayout95.xml"/><Relationship Id="rId96" Type="http://schemas.openxmlformats.org/officeDocument/2006/relationships/slideLayout" Target="../slideLayouts/slideLayout96.xml"/><Relationship Id="rId97" Type="http://schemas.openxmlformats.org/officeDocument/2006/relationships/slideLayout" Target="../slideLayouts/slideLayout97.xml"/><Relationship Id="rId98" Type="http://schemas.openxmlformats.org/officeDocument/2006/relationships/slideLayout" Target="../slideLayouts/slideLayout98.xml"/><Relationship Id="rId99" Type="http://schemas.openxmlformats.org/officeDocument/2006/relationships/slideLayout" Target="../slideLayouts/slideLayout99.xml"/><Relationship Id="rId100" Type="http://schemas.openxmlformats.org/officeDocument/2006/relationships/slideLayout" Target="../slideLayouts/slideLayout100.xml"/><Relationship Id="rId101" Type="http://schemas.openxmlformats.org/officeDocument/2006/relationships/slideLayout" Target="../slideLayouts/slideLayout101.xml"/><Relationship Id="rId102" Type="http://schemas.openxmlformats.org/officeDocument/2006/relationships/slideLayout" Target="../slideLayouts/slideLayout102.xml"/><Relationship Id="rId103" Type="http://schemas.openxmlformats.org/officeDocument/2006/relationships/slideLayout" Target="../slideLayouts/slideLayout103.xml"/><Relationship Id="rId104" Type="http://schemas.openxmlformats.org/officeDocument/2006/relationships/slideLayout" Target="../slideLayouts/slideLayout104.xml"/><Relationship Id="rId105" Type="http://schemas.openxmlformats.org/officeDocument/2006/relationships/slideLayout" Target="../slideLayouts/slideLayout105.xml"/><Relationship Id="rId106" Type="http://schemas.openxmlformats.org/officeDocument/2006/relationships/slideLayout" Target="../slideLayouts/slideLayout106.xml"/><Relationship Id="rId107" Type="http://schemas.openxmlformats.org/officeDocument/2006/relationships/slideLayout" Target="../slideLayouts/slideLayout107.xml"/><Relationship Id="rId10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64F0F728-9286-1DF2-1258-099E58F6EE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51939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149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  <p:sldLayoutId id="2147483733" r:id="rId73"/>
    <p:sldLayoutId id="2147483734" r:id="rId74"/>
    <p:sldLayoutId id="2147483735" r:id="rId75"/>
    <p:sldLayoutId id="2147483736" r:id="rId76"/>
    <p:sldLayoutId id="2147483737" r:id="rId77"/>
    <p:sldLayoutId id="2147483738" r:id="rId78"/>
    <p:sldLayoutId id="2147483739" r:id="rId79"/>
    <p:sldLayoutId id="2147483740" r:id="rId80"/>
    <p:sldLayoutId id="2147483741" r:id="rId81"/>
    <p:sldLayoutId id="2147483742" r:id="rId82"/>
    <p:sldLayoutId id="2147483743" r:id="rId83"/>
    <p:sldLayoutId id="2147483744" r:id="rId84"/>
    <p:sldLayoutId id="2147483745" r:id="rId85"/>
    <p:sldLayoutId id="2147483746" r:id="rId86"/>
    <p:sldLayoutId id="2147483747" r:id="rId87"/>
    <p:sldLayoutId id="2147483748" r:id="rId88"/>
    <p:sldLayoutId id="2147483749" r:id="rId89"/>
    <p:sldLayoutId id="2147483750" r:id="rId90"/>
    <p:sldLayoutId id="2147483751" r:id="rId91"/>
    <p:sldLayoutId id="2147483752" r:id="rId92"/>
    <p:sldLayoutId id="2147483753" r:id="rId93"/>
    <p:sldLayoutId id="2147483754" r:id="rId94"/>
    <p:sldLayoutId id="2147483755" r:id="rId95"/>
    <p:sldLayoutId id="2147483756" r:id="rId96"/>
    <p:sldLayoutId id="2147483757" r:id="rId97"/>
    <p:sldLayoutId id="2147483758" r:id="rId98"/>
    <p:sldLayoutId id="2147483759" r:id="rId99"/>
    <p:sldLayoutId id="2147483760" r:id="rId100"/>
    <p:sldLayoutId id="2147483761" r:id="rId101"/>
    <p:sldLayoutId id="2147483762" r:id="rId102"/>
    <p:sldLayoutId id="2147483763" r:id="rId103"/>
    <p:sldLayoutId id="2147483764" r:id="rId104"/>
    <p:sldLayoutId id="2147483765" r:id="rId105"/>
    <p:sldLayoutId id="2147483766" r:id="rId106"/>
    <p:sldLayoutId id="2147483767" r:id="rId10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64">
          <p15:clr>
            <a:srgbClr val="547EBF"/>
          </p15:clr>
        </p15:guide>
        <p15:guide id="2" pos="7416">
          <p15:clr>
            <a:srgbClr val="547EBF"/>
          </p15:clr>
        </p15:guide>
        <p15:guide id="3" pos="264">
          <p15:clr>
            <a:srgbClr val="547EBF"/>
          </p15:clr>
        </p15:guide>
        <p15:guide id="4" orient="horz" pos="4056">
          <p15:clr>
            <a:srgbClr val="547EBF"/>
          </p15:clr>
        </p15:guide>
        <p15:guide id="5" pos="1464">
          <p15:clr>
            <a:srgbClr val="5ACBF0"/>
          </p15:clr>
        </p15:guide>
        <p15:guide id="6" pos="864">
          <p15:clr>
            <a:srgbClr val="5ACBF0"/>
          </p15:clr>
        </p15:guide>
        <p15:guide id="7" pos="2064">
          <p15:clr>
            <a:srgbClr val="5ACBF0"/>
          </p15:clr>
        </p15:guide>
        <p15:guide id="8" pos="2016">
          <p15:clr>
            <a:srgbClr val="5ACBF0"/>
          </p15:clr>
        </p15:guide>
        <p15:guide id="9" pos="3864">
          <p15:clr>
            <a:srgbClr val="5ACBF0"/>
          </p15:clr>
        </p15:guide>
        <p15:guide id="10" pos="4464">
          <p15:clr>
            <a:srgbClr val="5ACBF0"/>
          </p15:clr>
        </p15:guide>
        <p15:guide id="11" pos="5064">
          <p15:clr>
            <a:srgbClr val="5ACBF0"/>
          </p15:clr>
        </p15:guide>
        <p15:guide id="12" pos="5664">
          <p15:clr>
            <a:srgbClr val="5ACBF0"/>
          </p15:clr>
        </p15:guide>
        <p15:guide id="13" pos="6264">
          <p15:clr>
            <a:srgbClr val="5ACBF0"/>
          </p15:clr>
        </p15:guide>
        <p15:guide id="14" pos="6216">
          <p15:clr>
            <a:srgbClr val="5ACBF0"/>
          </p15:clr>
        </p15:guide>
        <p15:guide id="15" pos="6864">
          <p15:clr>
            <a:srgbClr val="5ACBF0"/>
          </p15:clr>
        </p15:guide>
        <p15:guide id="17" pos="5616">
          <p15:clr>
            <a:srgbClr val="5ACBF0"/>
          </p15:clr>
        </p15:guide>
        <p15:guide id="18" pos="5016">
          <p15:clr>
            <a:srgbClr val="5ACBF0"/>
          </p15:clr>
        </p15:guide>
        <p15:guide id="19" pos="4416">
          <p15:clr>
            <a:srgbClr val="5ACBF0"/>
          </p15:clr>
        </p15:guide>
        <p15:guide id="20" pos="3816">
          <p15:clr>
            <a:srgbClr val="5ACBF0"/>
          </p15:clr>
        </p15:guide>
        <p15:guide id="21" pos="3216">
          <p15:clr>
            <a:srgbClr val="5ACBF0"/>
          </p15:clr>
        </p15:guide>
        <p15:guide id="22" pos="3264">
          <p15:clr>
            <a:srgbClr val="5ACBF0"/>
          </p15:clr>
        </p15:guide>
        <p15:guide id="23" pos="2616">
          <p15:clr>
            <a:srgbClr val="5ACBF0"/>
          </p15:clr>
        </p15:guide>
        <p15:guide id="24" pos="2664">
          <p15:clr>
            <a:srgbClr val="5ACBF0"/>
          </p15:clr>
        </p15:guide>
        <p15:guide id="25" pos="1416">
          <p15:clr>
            <a:srgbClr val="5ACBF0"/>
          </p15:clr>
        </p15:guide>
        <p15:guide id="26" pos="816">
          <p15:clr>
            <a:srgbClr val="5ACBF0"/>
          </p15:clr>
        </p15:guide>
        <p15:guide id="27" pos="6816">
          <p15:clr>
            <a:srgbClr val="5ACBF0"/>
          </p15:clr>
        </p15:guide>
        <p15:guide id="28" orient="horz" pos="422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3.png"/><Relationship Id="rId3" Type="http://schemas.openxmlformats.org/officeDocument/2006/relationships/image" Target="../media/image26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7.png"/><Relationship Id="rId7" Type="http://schemas.openxmlformats.org/officeDocument/2006/relationships/notesSlide" Target="../notesSlides/notesSlide2.xml"/><Relationship Id="rId8" Type="http://schemas.openxmlformats.org/officeDocument/2006/relationships/slide" Target="slide3.xml"/><Relationship Id="rId9" Type="http://schemas.openxmlformats.org/officeDocument/2006/relationships/slide" Target="slide7.xml"/><Relationship Id="rId10" Type="http://schemas.openxmlformats.org/officeDocument/2006/relationships/slide" Target="slide11.xml"/><Relationship Id="rId11" Type="http://schemas.openxmlformats.org/officeDocument/2006/relationships/slide" Target="slide1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3.png"/><Relationship Id="rId3" Type="http://schemas.openxmlformats.org/officeDocument/2006/relationships/image" Target="../media/image26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3.png"/><Relationship Id="rId3" Type="http://schemas.openxmlformats.org/officeDocument/2006/relationships/image" Target="../media/image26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3.png"/><Relationship Id="rId3" Type="http://schemas.openxmlformats.org/officeDocument/2006/relationships/image" Target="../media/image30.png"/><Relationship Id="rId4" Type="http://schemas.openxmlformats.org/officeDocument/2006/relationships/image" Target="../media/image26.png"/><Relationship Id="rId5" Type="http://schemas.openxmlformats.org/officeDocument/2006/relationships/image" Target="../media/image31.png"/><Relationship Id="rId6" Type="http://schemas.openxmlformats.org/officeDocument/2006/relationships/image" Target="../media/image25.png"/><Relationship Id="rId7" Type="http://schemas.openxmlformats.org/officeDocument/2006/relationships/image" Target="../media/image33.png"/><Relationship Id="rId8" Type="http://schemas.openxmlformats.org/officeDocument/2006/relationships/image" Target="../media/image27.png"/><Relationship Id="rId9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3.png"/><Relationship Id="rId3" Type="http://schemas.openxmlformats.org/officeDocument/2006/relationships/image" Target="../media/image31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29.png"/><Relationship Id="rId10" Type="http://schemas.openxmlformats.org/officeDocument/2006/relationships/image" Target="../media/image26.png"/><Relationship Id="rId11" Type="http://schemas.openxmlformats.org/officeDocument/2006/relationships/image" Target="../media/image39.png"/><Relationship Id="rId1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31.png"/><Relationship Id="rId5" Type="http://schemas.openxmlformats.org/officeDocument/2006/relationships/image" Target="../media/image33.png"/><Relationship Id="rId6" Type="http://schemas.openxmlformats.org/officeDocument/2006/relationships/image" Target="../media/image36.png"/><Relationship Id="rId7" Type="http://schemas.openxmlformats.org/officeDocument/2006/relationships/image" Target="../media/image35.png"/><Relationship Id="rId8" Type="http://schemas.openxmlformats.org/officeDocument/2006/relationships/image" Target="../media/image30.png"/><Relationship Id="rId9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3.png"/><Relationship Id="rId3" Type="http://schemas.openxmlformats.org/officeDocument/2006/relationships/image" Target="../media/image40.png"/><Relationship Id="rId4" Type="http://schemas.openxmlformats.org/officeDocument/2006/relationships/image" Target="../media/image29.pn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3.png"/><Relationship Id="rId3" Type="http://schemas.openxmlformats.org/officeDocument/2006/relationships/image" Target="../media/image25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3.png"/><Relationship Id="rId3" Type="http://schemas.openxmlformats.org/officeDocument/2006/relationships/image" Target="../media/image41.png"/><Relationship Id="rId4" Type="http://schemas.openxmlformats.org/officeDocument/2006/relationships/image" Target="../media/image25.png"/><Relationship Id="rId5" Type="http://schemas.openxmlformats.org/officeDocument/2006/relationships/image" Target="../media/image28.png"/><Relationship Id="rId6" Type="http://schemas.openxmlformats.org/officeDocument/2006/relationships/image" Target="../media/image42.png"/><Relationship Id="rId7" Type="http://schemas.openxmlformats.org/officeDocument/2006/relationships/image" Target="../media/image27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Relationship Id="rId10" Type="http://schemas.openxmlformats.org/officeDocument/2006/relationships/image" Target="../media/image45.png"/><Relationship Id="rId11" Type="http://schemas.openxmlformats.org/officeDocument/2006/relationships/image" Target="../media/image46.png"/><Relationship Id="rId12" Type="http://schemas.openxmlformats.org/officeDocument/2006/relationships/image" Target="../media/image47.png"/><Relationship Id="rId1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3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28.png"/><Relationship Id="rId7" Type="http://schemas.openxmlformats.org/officeDocument/2006/relationships/image" Target="../media/image27.png"/><Relationship Id="rId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3.png"/><Relationship Id="rId3" Type="http://schemas.openxmlformats.org/officeDocument/2006/relationships/image" Target="../media/image40.png"/><Relationship Id="rId4" Type="http://schemas.openxmlformats.org/officeDocument/2006/relationships/image" Target="../media/image51.png"/><Relationship Id="rId5" Type="http://schemas.openxmlformats.org/officeDocument/2006/relationships/image" Target="../media/image50.png"/><Relationship Id="rId6" Type="http://schemas.openxmlformats.org/officeDocument/2006/relationships/image" Target="../media/image28.png"/><Relationship Id="rId7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3.png"/><Relationship Id="rId3" Type="http://schemas.openxmlformats.org/officeDocument/2006/relationships/image" Target="../media/image52.png"/><Relationship Id="rId4" Type="http://schemas.openxmlformats.org/officeDocument/2006/relationships/image" Target="../media/image51.png"/><Relationship Id="rId5" Type="http://schemas.openxmlformats.org/officeDocument/2006/relationships/image" Target="../media/image50.png"/><Relationship Id="rId6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3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3.png"/><Relationship Id="rId3" Type="http://schemas.openxmlformats.org/officeDocument/2006/relationships/image" Target="../media/image27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3.png"/><Relationship Id="rId3" Type="http://schemas.openxmlformats.org/officeDocument/2006/relationships/image" Target="../media/image27.png"/><Relationship Id="rId4" Type="http://schemas.openxmlformats.org/officeDocument/2006/relationships/image" Target="../media/image31.png"/><Relationship Id="rId5" Type="http://schemas.openxmlformats.org/officeDocument/2006/relationships/image" Target="../media/image36.png"/><Relationship Id="rId6" Type="http://schemas.openxmlformats.org/officeDocument/2006/relationships/image" Target="../media/image42.png"/><Relationship Id="rId7" Type="http://schemas.openxmlformats.org/officeDocument/2006/relationships/image" Target="../media/image30.png"/><Relationship Id="rId8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3.png"/><Relationship Id="rId3" Type="http://schemas.openxmlformats.org/officeDocument/2006/relationships/image" Target="../media/image26.png"/><Relationship Id="rId4" Type="http://schemas.openxmlformats.org/officeDocument/2006/relationships/image" Target="../media/image31.png"/><Relationship Id="rId5" Type="http://schemas.openxmlformats.org/officeDocument/2006/relationships/image" Target="../media/image27.png"/><Relationship Id="rId6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007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 | 平台架构与标准流程汇报"/>
          <p:cNvSpPr txBox="1"/>
          <p:nvPr/>
        </p:nvSpPr>
        <p:spPr>
          <a:xfrm>
            <a:off x="546100" y="363410"/>
            <a:ext cx="9525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4C6B83"/>
                </a:solidFill>
                <a:latin typeface="Arial"/>
                <a:ea typeface="SimHei"/>
              </a:rPr>
              <a:t>平台架构与标准流程汇报</a:t>
            </a:r>
          </a:p>
        </p:txBody>
      </p:sp>
      <p:pic>
        <p:nvPicPr>
          <p:cNvPr id="4" name="Picture | Independent image" descr="139ef02520a55c1aaee95c1d6e7f5f730beac004ebb72c9c012b0f76513ab8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cxnSp>
        <p:nvCxnSpPr>
          <p:cNvPr id="5" name="Connector | 1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C6D8E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 | SwiftFlow + HawkeyePlus  |  Industrial Vision Engineering"/>
          <p:cNvSpPr txBox="1"/>
          <p:nvPr/>
        </p:nvSpPr>
        <p:spPr>
          <a:xfrm>
            <a:off x="412750" y="6607238"/>
            <a:ext cx="825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SwiftFlow + HawkeyePlus  |  Industrial Vision Engineering</a:t>
            </a:r>
          </a:p>
        </p:txBody>
      </p:sp>
      <p:sp>
        <p:nvSpPr>
          <p:cNvPr id="7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4C6B83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8" name="Text | 01 / 20"/>
          <p:cNvSpPr txBox="1"/>
          <p:nvPr/>
        </p:nvSpPr>
        <p:spPr>
          <a:xfrm>
            <a:off x="11137900" y="6607238"/>
            <a:ext cx="63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01 / 20</a:t>
            </a:r>
          </a:p>
        </p:txBody>
      </p:sp>
      <p:sp>
        <p:nvSpPr>
          <p:cNvPr id="9" name="Text | SwiftFlow + HawkeyePlus"/>
          <p:cNvSpPr txBox="1"/>
          <p:nvPr/>
        </p:nvSpPr>
        <p:spPr>
          <a:xfrm>
            <a:off x="501650" y="989711"/>
            <a:ext cx="11207750" cy="83273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5104"/>
              </a:lnSpc>
              <a:spcBef>
                <a:spcPts val="0"/>
              </a:spcBef>
              <a:spcAft>
                <a:spcPts val="0"/>
              </a:spcAft>
            </a:pPr>
            <a:r>
              <a:rPr sz="4150" b="1" lang="en-US">
                <a:solidFill>
                  <a:srgbClr val="082D48"/>
                </a:solidFill>
                <a:latin typeface="Arial"/>
                <a:ea typeface="SimHei"/>
              </a:rPr>
              <a:t>SwiftFlow + HawkeyePlus</a:t>
            </a:r>
          </a:p>
        </p:txBody>
      </p:sp>
      <p:sp>
        <p:nvSpPr>
          <p:cNvPr id="10" name="Text | 工业检测与测量标准化平台"/>
          <p:cNvSpPr txBox="1"/>
          <p:nvPr/>
        </p:nvSpPr>
        <p:spPr>
          <a:xfrm>
            <a:off x="527050" y="1796098"/>
            <a:ext cx="11207750" cy="63207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874"/>
              </a:lnSpc>
              <a:spcBef>
                <a:spcPts val="0"/>
              </a:spcBef>
              <a:spcAft>
                <a:spcPts val="0"/>
              </a:spcAft>
            </a:pPr>
            <a:r>
              <a:rPr sz="3150" b="1" lang="zh-CN">
                <a:solidFill>
                  <a:srgbClr val="082D48"/>
                </a:solidFill>
                <a:latin typeface="Arial"/>
                <a:ea typeface="SimHei"/>
              </a:rPr>
              <a:t>工业检测与测量标准化平台</a:t>
            </a:r>
          </a:p>
        </p:txBody>
      </p:sp>
      <p:sp>
        <p:nvSpPr>
          <p:cNvPr id="11" name="Text | 架构、流程与协同交付"/>
          <p:cNvSpPr txBox="1"/>
          <p:nvPr/>
        </p:nvSpPr>
        <p:spPr>
          <a:xfrm>
            <a:off x="552450" y="2415159"/>
            <a:ext cx="11049000" cy="38125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2337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007D9D"/>
                </a:solidFill>
                <a:latin typeface="Arial"/>
                <a:ea typeface="SimHei"/>
              </a:rPr>
              <a:t>架构、流程与协同交付</a:t>
            </a:r>
          </a:p>
        </p:txBody>
      </p:sp>
      <p:cxnSp>
        <p:nvCxnSpPr>
          <p:cNvPr id="12" name="Connector | 2"/>
          <p:cNvCxnSpPr/>
          <p:nvPr/>
        </p:nvCxnSpPr>
        <p:spPr>
          <a:xfrm>
            <a:off x="558800" y="2863850"/>
            <a:ext cx="11074400" cy="0"/>
          </a:xfrm>
          <a:prstGeom prst="line">
            <a:avLst/>
          </a:prstGeom>
          <a:ln w="9525" cap="rnd">
            <a:solidFill>
              <a:srgbClr val="C6D8E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" name="Node | SwiftFlow"/>
          <p:cNvGrpSpPr/>
          <p:nvPr/>
        </p:nvGrpSpPr>
        <p:grpSpPr>
          <a:xfrm>
            <a:off x="711200" y="3060700"/>
            <a:ext cx="4127500" cy="2795080"/>
            <a:chOff x="711200" y="3060700"/>
            <a:chExt cx="4127500" cy="2795080"/>
          </a:xfrm>
        </p:grpSpPr>
        <p:pic>
          <p:nvPicPr>
            <p:cNvPr id="14" name="Picture | Independent image" descr="5f1bcf78ecb92f4492224ef45a833bd24f87b72940a435af1d4530231d53bab7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43810" y="3060700"/>
              <a:ext cx="2662280" cy="2095500"/>
            </a:xfrm>
            <a:prstGeom prst="rect">
              <a:avLst/>
            </a:prstGeom>
          </p:spPr>
        </p:pic>
        <p:sp>
          <p:nvSpPr>
            <p:cNvPr id="15" name="Text | SwiftFlow"/>
            <p:cNvSpPr txBox="1"/>
            <p:nvPr/>
          </p:nvSpPr>
          <p:spPr>
            <a:xfrm>
              <a:off x="711200" y="5174488"/>
              <a:ext cx="4127500" cy="411353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252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50" b="1" lang="en-US">
                  <a:solidFill>
                    <a:srgbClr val="007D9D"/>
                  </a:solidFill>
                  <a:latin typeface="Arial"/>
                  <a:ea typeface="SimHei"/>
                </a:rPr>
                <a:t>SwiftFlow</a:t>
              </a:r>
            </a:p>
          </p:txBody>
        </p:sp>
        <p:sp>
          <p:nvSpPr>
            <p:cNvPr id="16" name="Text | 设备、工艺与现场执行"/>
            <p:cNvSpPr txBox="1"/>
            <p:nvPr/>
          </p:nvSpPr>
          <p:spPr>
            <a:xfrm>
              <a:off x="711200" y="5574856"/>
              <a:ext cx="41275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0" lang="zh-CN">
                  <a:solidFill>
                    <a:srgbClr val="4C6B83"/>
                  </a:solidFill>
                  <a:latin typeface="Arial"/>
                  <a:ea typeface="SimHei"/>
                </a:rPr>
                <a:t>设备、工艺与现场执行</a:t>
              </a:r>
            </a:p>
          </p:txBody>
        </p:sp>
      </p:grpSp>
      <p:grpSp>
        <p:nvGrpSpPr>
          <p:cNvPr id="17" name="Node | HawkeyePlus"/>
          <p:cNvGrpSpPr/>
          <p:nvPr/>
        </p:nvGrpSpPr>
        <p:grpSpPr>
          <a:xfrm>
            <a:off x="7137400" y="3145367"/>
            <a:ext cx="4127500" cy="2710413"/>
            <a:chOff x="7137400" y="3145367"/>
            <a:chExt cx="4127500" cy="2710413"/>
          </a:xfrm>
        </p:grpSpPr>
        <p:pic>
          <p:nvPicPr>
            <p:cNvPr id="18" name="Picture | Independent image" descr="0e1cacdd2dd64d49c68307ca39c10d929dcfdd478b4480a29a0805d6b17ec43b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37400" y="3145367"/>
              <a:ext cx="4127500" cy="1926167"/>
            </a:xfrm>
            <a:prstGeom prst="rect">
              <a:avLst/>
            </a:prstGeom>
          </p:spPr>
        </p:pic>
        <p:sp>
          <p:nvSpPr>
            <p:cNvPr id="19" name="Text | HawkeyePlus"/>
            <p:cNvSpPr txBox="1"/>
            <p:nvPr/>
          </p:nvSpPr>
          <p:spPr>
            <a:xfrm>
              <a:off x="7137400" y="5174488"/>
              <a:ext cx="4127500" cy="411353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252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50" b="1" lang="en-US">
                  <a:solidFill>
                    <a:srgbClr val="087F79"/>
                  </a:solidFill>
                  <a:latin typeface="Arial"/>
                  <a:ea typeface="SimHei"/>
                </a:rPr>
                <a:t>HawkeyePlus</a:t>
              </a:r>
            </a:p>
          </p:txBody>
        </p:sp>
        <p:sp>
          <p:nvSpPr>
            <p:cNvPr id="20" name="Text | 数据、模型与研发验证"/>
            <p:cNvSpPr txBox="1"/>
            <p:nvPr/>
          </p:nvSpPr>
          <p:spPr>
            <a:xfrm>
              <a:off x="7137400" y="5574856"/>
              <a:ext cx="41275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0" lang="zh-CN">
                  <a:solidFill>
                    <a:srgbClr val="4C6B83"/>
                  </a:solidFill>
                  <a:latin typeface="Arial"/>
                  <a:ea typeface="SimHei"/>
                </a:rPr>
                <a:t>数据、模型与研发验证</a:t>
              </a:r>
            </a:p>
          </p:txBody>
        </p:sp>
      </p:grpSp>
      <p:cxnSp>
        <p:nvCxnSpPr>
          <p:cNvPr id="21" name="Connector | 3"/>
          <p:cNvCxnSpPr/>
          <p:nvPr/>
        </p:nvCxnSpPr>
        <p:spPr>
          <a:xfrm>
            <a:off x="5022850" y="4121150"/>
            <a:ext cx="2095500" cy="0"/>
          </a:xfrm>
          <a:prstGeom prst="line">
            <a:avLst/>
          </a:prstGeom>
          <a:ln w="12700" cap="rnd">
            <a:solidFill>
              <a:srgbClr val="C6D8E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ircle | 1"/>
          <p:cNvSpPr/>
          <p:nvPr/>
        </p:nvSpPr>
        <p:spPr>
          <a:xfrm>
            <a:off x="5778500" y="3816350"/>
            <a:ext cx="609600" cy="609600"/>
          </a:xfrm>
          <a:prstGeom prst="ellipse">
            <a:avLst/>
          </a:prstGeom>
          <a:solidFill>
            <a:srgbClr val="E9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 | +"/>
          <p:cNvSpPr txBox="1"/>
          <p:nvPr/>
        </p:nvSpPr>
        <p:spPr>
          <a:xfrm>
            <a:off x="5803900" y="3928364"/>
            <a:ext cx="558800" cy="491617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>
              <a:lnSpc>
                <a:spcPts val="3013"/>
              </a:lnSpc>
              <a:spcBef>
                <a:spcPts val="0"/>
              </a:spcBef>
              <a:spcAft>
                <a:spcPts val="0"/>
              </a:spcAft>
            </a:pPr>
            <a:r>
              <a:rPr sz="2450" b="1" lang="en-US">
                <a:solidFill>
                  <a:srgbClr val="007D9D"/>
                </a:solidFill>
                <a:latin typeface="Arial"/>
                <a:ea typeface="SimHei"/>
              </a:rPr>
              <a:t>+</a:t>
            </a:r>
          </a:p>
        </p:txBody>
      </p:sp>
      <p:sp>
        <p:nvSpPr>
          <p:cNvPr id="24" name="Text | 从硬件设计到算法研发与现场应用"/>
          <p:cNvSpPr txBox="1"/>
          <p:nvPr/>
        </p:nvSpPr>
        <p:spPr>
          <a:xfrm>
            <a:off x="552450" y="6121844"/>
            <a:ext cx="9588500" cy="290957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0" lang="zh-CN">
                <a:solidFill>
                  <a:srgbClr val="4C6B83"/>
                </a:solidFill>
                <a:latin typeface="Arial"/>
                <a:ea typeface="SimHei"/>
              </a:rPr>
              <a:t>从硬件设计到算法研发与现场应用</a:t>
            </a:r>
          </a:p>
        </p:txBody>
      </p:sp>
      <p:sp>
        <p:nvSpPr>
          <p:cNvPr id="25" name="Text | 2026.10"/>
          <p:cNvSpPr txBox="1"/>
          <p:nvPr/>
        </p:nvSpPr>
        <p:spPr>
          <a:xfrm>
            <a:off x="10553700" y="6141530"/>
            <a:ext cx="10795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0" lang="en-US">
                <a:solidFill>
                  <a:srgbClr val="4C6B83"/>
                </a:solidFill>
                <a:latin typeface="Arial"/>
                <a:ea typeface="SimHei"/>
              </a:rPr>
              <a:t>2026.10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007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 | 汇报导览 / SWIFTFLOW + HAWKEYEPLUS"/>
          <p:cNvSpPr txBox="1"/>
          <p:nvPr/>
        </p:nvSpPr>
        <p:spPr>
          <a:xfrm>
            <a:off x="546100" y="363410"/>
            <a:ext cx="9525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4C6B83"/>
                </a:solidFill>
                <a:latin typeface="Arial"/>
                <a:ea typeface="SimHei"/>
              </a:rPr>
              <a:t>汇报导览 / SWIFTFLOW + HAWKEYEPLUS</a:t>
            </a:r>
          </a:p>
        </p:txBody>
      </p:sp>
      <p:pic>
        <p:nvPicPr>
          <p:cNvPr id="4" name="Picture | Independent image" descr="139ef02520a55c1aaee95c1d6e7f5f730beac004ebb72c9c012b0f76513ab8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sp>
        <p:nvSpPr>
          <p:cNvPr id="5" name="Text | 汇报目录"/>
          <p:cNvSpPr txBox="1"/>
          <p:nvPr/>
        </p:nvSpPr>
        <p:spPr>
          <a:xfrm>
            <a:off x="406400" y="616014"/>
            <a:ext cx="11303000" cy="571881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5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zh-CN">
                <a:solidFill>
                  <a:srgbClr val="082D48"/>
                </a:solidFill>
                <a:latin typeface="Arial"/>
                <a:ea typeface="SimHei"/>
              </a:rPr>
              <a:t>汇报目录</a:t>
            </a:r>
          </a:p>
        </p:txBody>
      </p:sp>
      <p:sp>
        <p:nvSpPr>
          <p:cNvPr id="6" name="Text | 先建立统一工程方法，再展开两个平台及其协同交付"/>
          <p:cNvSpPr txBox="1"/>
          <p:nvPr/>
        </p:nvSpPr>
        <p:spPr>
          <a:xfrm>
            <a:off x="425450" y="1072706"/>
            <a:ext cx="112395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4C6B83"/>
                </a:solidFill>
                <a:latin typeface="Arial"/>
                <a:ea typeface="SimHei"/>
              </a:rPr>
              <a:t>先建立统一工程方法，再展开两个平台及其协同交付</a:t>
            </a:r>
          </a:p>
        </p:txBody>
      </p:sp>
      <p:cxnSp>
        <p:nvCxnSpPr>
          <p:cNvPr id="7" name="Connector | 1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C6D8E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| SwiftFlow + HawkeyePlus  |  Industrial Vision Engineering"/>
          <p:cNvSpPr txBox="1"/>
          <p:nvPr/>
        </p:nvSpPr>
        <p:spPr>
          <a:xfrm>
            <a:off x="412750" y="6607238"/>
            <a:ext cx="825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SwiftFlow + HawkeyePlus  |  Industrial Vision Engineering</a:t>
            </a:r>
          </a:p>
        </p:txBody>
      </p:sp>
      <p:sp>
        <p:nvSpPr>
          <p:cNvPr id="9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4C6B83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10" name="Text | 02 / 20"/>
          <p:cNvSpPr txBox="1"/>
          <p:nvPr/>
        </p:nvSpPr>
        <p:spPr>
          <a:xfrm>
            <a:off x="11137900" y="6607238"/>
            <a:ext cx="63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02 / 20</a:t>
            </a:r>
          </a:p>
        </p:txBody>
      </p:sp>
      <p:grpSp>
        <p:nvGrpSpPr>
          <p:cNvPr id="11" name="Node | 总体概念与建设目的"/>
          <p:cNvGrpSpPr/>
          <p:nvPr/>
        </p:nvGrpSpPr>
        <p:grpSpPr>
          <a:xfrm>
            <a:off x="406400" y="1555750"/>
            <a:ext cx="5549900" cy="1905000"/>
            <a:chOff x="406400" y="1555750"/>
            <a:chExt cx="5549900" cy="1905000"/>
          </a:xfrm>
        </p:grpSpPr>
        <p:sp>
          <p:nvSpPr>
            <p:cNvPr id="12" name="Panel | 2">
              <a:hlinkClick action="ppaction://hlinksldjump" r:id="rId8"/>
            </p:cNvPr>
            <p:cNvSpPr/>
            <p:nvPr/>
          </p:nvSpPr>
          <p:spPr>
            <a:xfrm>
              <a:off x="406400" y="1555750"/>
              <a:ext cx="5549900" cy="190500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 | 01">
              <a:hlinkClick action="ppaction://hlinksldjump" r:id="rId8"/>
            </p:cNvPr>
            <p:cNvSpPr txBox="1"/>
            <p:nvPr/>
          </p:nvSpPr>
          <p:spPr>
            <a:xfrm>
              <a:off x="577850" y="1683194"/>
              <a:ext cx="609600" cy="43141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6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50" b="1" lang="en-US">
                  <a:solidFill>
                    <a:srgbClr val="007D9D"/>
                  </a:solidFill>
                  <a:latin typeface="Arial"/>
                  <a:ea typeface="SimHei"/>
                </a:rPr>
                <a:t>01</a:t>
              </a:r>
            </a:p>
          </p:txBody>
        </p:sp>
        <p:pic>
          <p:nvPicPr>
            <p:cNvPr id="14" name="Picture | Independent image" descr="085782651a052b950f6c4aa546074ea7e352e9df9e9ba1e1d1a63e6cbbeeaac3.png">
              <a:hlinkClick action="ppaction://hlinksldjump" r:id="rId8"/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4777" y="2089150"/>
              <a:ext cx="1281545" cy="1174750"/>
            </a:xfrm>
            <a:prstGeom prst="rect">
              <a:avLst/>
            </a:prstGeom>
          </p:spPr>
        </p:pic>
        <p:sp>
          <p:nvSpPr>
            <p:cNvPr id="15" name="Text | 总体概念与建设目的">
              <a:hlinkClick action="ppaction://hlinksldjump" r:id="rId8"/>
            </p:cNvPr>
            <p:cNvSpPr txBox="1"/>
            <p:nvPr/>
          </p:nvSpPr>
          <p:spPr>
            <a:xfrm>
              <a:off x="2044700" y="1797431"/>
              <a:ext cx="3714750" cy="36118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2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lang="zh-CN">
                  <a:solidFill>
                    <a:srgbClr val="082D48"/>
                  </a:solidFill>
                  <a:latin typeface="Arial"/>
                  <a:ea typeface="SimHei"/>
                </a:rPr>
                <a:t>总体概念与建设目的</a:t>
              </a:r>
            </a:p>
          </p:txBody>
        </p:sp>
        <p:sp>
          <p:nvSpPr>
            <p:cNvPr id="16" name="Text | 建立统一的工程方法">
              <a:hlinkClick action="ppaction://hlinksldjump" r:id="rId8"/>
            </p:cNvPr>
            <p:cNvSpPr txBox="1"/>
            <p:nvPr/>
          </p:nvSpPr>
          <p:spPr>
            <a:xfrm>
              <a:off x="2044700" y="2202116"/>
              <a:ext cx="371475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lang="zh-CN">
                  <a:solidFill>
                    <a:srgbClr val="4C6B83"/>
                  </a:solidFill>
                  <a:latin typeface="Arial"/>
                  <a:ea typeface="SimHei"/>
                </a:rPr>
                <a:t>建立统一的工程方法</a:t>
              </a:r>
            </a:p>
          </p:txBody>
        </p:sp>
        <p:sp>
          <p:nvSpPr>
            <p:cNvPr id="17" name="Text | 平台关系">
              <a:hlinkClick action="ppaction://hlinksldjump" r:id="rId8"/>
            </p:cNvPr>
            <p:cNvSpPr txBox="1"/>
            <p:nvPr/>
          </p:nvSpPr>
          <p:spPr>
            <a:xfrm>
              <a:off x="2044700" y="2696528"/>
              <a:ext cx="266700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007D9D"/>
                  </a:solidFill>
                  <a:latin typeface="Arial"/>
                  <a:ea typeface="SimHei"/>
                </a:rPr>
                <a:t>平台关系</a:t>
              </a:r>
            </a:p>
          </p:txBody>
        </p:sp>
        <p:sp>
          <p:nvSpPr>
            <p:cNvPr id="18" name="Text | 建设目的">
              <a:hlinkClick action="ppaction://hlinksldjump" r:id="rId8"/>
            </p:cNvPr>
            <p:cNvSpPr txBox="1"/>
            <p:nvPr/>
          </p:nvSpPr>
          <p:spPr>
            <a:xfrm>
              <a:off x="2044700" y="2975928"/>
              <a:ext cx="266700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007D9D"/>
                  </a:solidFill>
                  <a:latin typeface="Arial"/>
                  <a:ea typeface="SimHei"/>
                </a:rPr>
                <a:t>建设目的</a:t>
              </a:r>
            </a:p>
          </p:txBody>
        </p:sp>
        <p:sp>
          <p:nvSpPr>
            <p:cNvPr id="19" name="Panel | 3">
              <a:hlinkClick action="ppaction://hlinksldjump" r:id="rId8"/>
            </p:cNvPr>
            <p:cNvSpPr/>
            <p:nvPr/>
          </p:nvSpPr>
          <p:spPr>
            <a:xfrm>
              <a:off x="4921250" y="3073400"/>
              <a:ext cx="838200" cy="241300"/>
            </a:xfrm>
            <a:prstGeom prst="roundRect">
              <a:avLst>
                <a:gd name="adj" fmla="val 26315"/>
              </a:avLst>
            </a:prstGeom>
            <a:solidFill>
              <a:srgbClr val="E5EF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 | 03–06">
              <a:hlinkClick action="ppaction://hlinksldjump" r:id="rId8"/>
            </p:cNvPr>
            <p:cNvSpPr txBox="1"/>
            <p:nvPr/>
          </p:nvSpPr>
          <p:spPr>
            <a:xfrm>
              <a:off x="4959350" y="3106230"/>
              <a:ext cx="7620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007D9D"/>
                  </a:solidFill>
                  <a:latin typeface="Arial"/>
                  <a:ea typeface="SimHei"/>
                </a:rPr>
                <a:t>03–06</a:t>
              </a:r>
            </a:p>
          </p:txBody>
        </p:sp>
      </p:grpSp>
      <p:grpSp>
        <p:nvGrpSpPr>
          <p:cNvPr id="21" name="Node | SwiftFlow"/>
          <p:cNvGrpSpPr/>
          <p:nvPr/>
        </p:nvGrpSpPr>
        <p:grpSpPr>
          <a:xfrm>
            <a:off x="6235700" y="1555750"/>
            <a:ext cx="5549900" cy="1905000"/>
            <a:chOff x="6235700" y="1555750"/>
            <a:chExt cx="5549900" cy="1905000"/>
          </a:xfrm>
        </p:grpSpPr>
        <p:sp>
          <p:nvSpPr>
            <p:cNvPr id="22" name="Panel | 4">
              <a:hlinkClick action="ppaction://hlinksldjump" r:id="rId9"/>
            </p:cNvPr>
            <p:cNvSpPr/>
            <p:nvPr/>
          </p:nvSpPr>
          <p:spPr>
            <a:xfrm>
              <a:off x="6235700" y="1555750"/>
              <a:ext cx="5549900" cy="190500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 | 02">
              <a:hlinkClick action="ppaction://hlinksldjump" r:id="rId9"/>
            </p:cNvPr>
            <p:cNvSpPr txBox="1"/>
            <p:nvPr/>
          </p:nvSpPr>
          <p:spPr>
            <a:xfrm>
              <a:off x="6407150" y="1683194"/>
              <a:ext cx="609600" cy="43141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6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50" b="1" lang="en-US">
                  <a:solidFill>
                    <a:srgbClr val="007D9D"/>
                  </a:solidFill>
                  <a:latin typeface="Arial"/>
                  <a:ea typeface="SimHei"/>
                </a:rPr>
                <a:t>02</a:t>
              </a:r>
            </a:p>
          </p:txBody>
        </p:sp>
        <p:pic>
          <p:nvPicPr>
            <p:cNvPr id="24" name="Picture | Independent image" descr="5f1bcf78ecb92f4492224ef45a833bd24f87b72940a435af1d4530231d53bab7.png">
              <a:hlinkClick action="ppaction://hlinksldjump" r:id="rId9"/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37300" y="2111736"/>
              <a:ext cx="1435100" cy="1129578"/>
            </a:xfrm>
            <a:prstGeom prst="rect">
              <a:avLst/>
            </a:prstGeom>
          </p:spPr>
        </p:pic>
        <p:sp>
          <p:nvSpPr>
            <p:cNvPr id="25" name="Text | SwiftFlow">
              <a:hlinkClick action="ppaction://hlinksldjump" r:id="rId9"/>
            </p:cNvPr>
            <p:cNvSpPr txBox="1"/>
            <p:nvPr/>
          </p:nvSpPr>
          <p:spPr>
            <a:xfrm>
              <a:off x="7874000" y="1786953"/>
              <a:ext cx="3714750" cy="36118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2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lang="en-US">
                  <a:solidFill>
                    <a:srgbClr val="082D48"/>
                  </a:solidFill>
                  <a:latin typeface="Arial"/>
                  <a:ea typeface="SimHei"/>
                </a:rPr>
                <a:t>SwiftFlow</a:t>
              </a:r>
            </a:p>
          </p:txBody>
        </p:sp>
        <p:sp>
          <p:nvSpPr>
            <p:cNvPr id="26" name="Text | 设备、流程与算法执行">
              <a:hlinkClick action="ppaction://hlinksldjump" r:id="rId9"/>
            </p:cNvPr>
            <p:cNvSpPr txBox="1"/>
            <p:nvPr/>
          </p:nvSpPr>
          <p:spPr>
            <a:xfrm>
              <a:off x="7874000" y="2202116"/>
              <a:ext cx="371475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lang="zh-CN">
                  <a:solidFill>
                    <a:srgbClr val="4C6B83"/>
                  </a:solidFill>
                  <a:latin typeface="Arial"/>
                  <a:ea typeface="SimHei"/>
                </a:rPr>
                <a:t>设备、流程与算法执行</a:t>
              </a:r>
            </a:p>
          </p:txBody>
        </p:sp>
        <p:sp>
          <p:nvSpPr>
            <p:cNvPr id="27" name="Text | 设备接入">
              <a:hlinkClick action="ppaction://hlinksldjump" r:id="rId9"/>
            </p:cNvPr>
            <p:cNvSpPr txBox="1"/>
            <p:nvPr/>
          </p:nvSpPr>
          <p:spPr>
            <a:xfrm>
              <a:off x="7874000" y="2696528"/>
              <a:ext cx="266700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007D9D"/>
                  </a:solidFill>
                  <a:latin typeface="Arial"/>
                  <a:ea typeface="SimHei"/>
                </a:rPr>
                <a:t>设备接入</a:t>
              </a:r>
            </a:p>
          </p:txBody>
        </p:sp>
        <p:sp>
          <p:nvSpPr>
            <p:cNvPr id="28" name="Text | 流程设计">
              <a:hlinkClick action="ppaction://hlinksldjump" r:id="rId9"/>
            </p:cNvPr>
            <p:cNvSpPr txBox="1"/>
            <p:nvPr/>
          </p:nvSpPr>
          <p:spPr>
            <a:xfrm>
              <a:off x="7874000" y="2975928"/>
              <a:ext cx="266700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007D9D"/>
                  </a:solidFill>
                  <a:latin typeface="Arial"/>
                  <a:ea typeface="SimHei"/>
                </a:rPr>
                <a:t>流程设计</a:t>
              </a:r>
            </a:p>
          </p:txBody>
        </p:sp>
        <p:sp>
          <p:nvSpPr>
            <p:cNvPr id="29" name="Panel | 5">
              <a:hlinkClick action="ppaction://hlinksldjump" r:id="rId9"/>
            </p:cNvPr>
            <p:cNvSpPr/>
            <p:nvPr/>
          </p:nvSpPr>
          <p:spPr>
            <a:xfrm>
              <a:off x="10750550" y="3073400"/>
              <a:ext cx="838200" cy="241300"/>
            </a:xfrm>
            <a:prstGeom prst="roundRect">
              <a:avLst>
                <a:gd name="adj" fmla="val 26315"/>
              </a:avLst>
            </a:prstGeom>
            <a:solidFill>
              <a:srgbClr val="E5EF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 | 07–10">
              <a:hlinkClick action="ppaction://hlinksldjump" r:id="rId9"/>
            </p:cNvPr>
            <p:cNvSpPr txBox="1"/>
            <p:nvPr/>
          </p:nvSpPr>
          <p:spPr>
            <a:xfrm>
              <a:off x="10788650" y="3106230"/>
              <a:ext cx="7620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007D9D"/>
                  </a:solidFill>
                  <a:latin typeface="Arial"/>
                  <a:ea typeface="SimHei"/>
                </a:rPr>
                <a:t>07–10</a:t>
              </a:r>
            </a:p>
          </p:txBody>
        </p:sp>
      </p:grpSp>
      <p:grpSp>
        <p:nvGrpSpPr>
          <p:cNvPr id="31" name="Node | HawkeyePlus"/>
          <p:cNvGrpSpPr/>
          <p:nvPr/>
        </p:nvGrpSpPr>
        <p:grpSpPr>
          <a:xfrm>
            <a:off x="406400" y="3651250"/>
            <a:ext cx="5549900" cy="1905000"/>
            <a:chOff x="406400" y="3651250"/>
            <a:chExt cx="5549900" cy="1905000"/>
          </a:xfrm>
        </p:grpSpPr>
        <p:sp>
          <p:nvSpPr>
            <p:cNvPr id="32" name="Panel | 6">
              <a:hlinkClick action="ppaction://hlinksldjump" r:id="rId10"/>
            </p:cNvPr>
            <p:cNvSpPr/>
            <p:nvPr/>
          </p:nvSpPr>
          <p:spPr>
            <a:xfrm>
              <a:off x="406400" y="3651250"/>
              <a:ext cx="5549900" cy="190500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 | 03">
              <a:hlinkClick action="ppaction://hlinksldjump" r:id="rId10"/>
            </p:cNvPr>
            <p:cNvSpPr txBox="1"/>
            <p:nvPr/>
          </p:nvSpPr>
          <p:spPr>
            <a:xfrm>
              <a:off x="577850" y="3778695"/>
              <a:ext cx="609600" cy="43141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6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50" b="1" lang="en-US">
                  <a:solidFill>
                    <a:srgbClr val="007D9D"/>
                  </a:solidFill>
                  <a:latin typeface="Arial"/>
                  <a:ea typeface="SimHei"/>
                </a:rPr>
                <a:t>03</a:t>
              </a:r>
            </a:p>
          </p:txBody>
        </p:sp>
        <p:pic>
          <p:nvPicPr>
            <p:cNvPr id="34" name="Picture | Independent image" descr="0e1cacdd2dd64d49c68307ca39c10d929dcfdd478b4480a29a0805d6b17ec43b.png">
              <a:hlinkClick action="ppaction://hlinksldjump" r:id="rId10"/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8000" y="4437168"/>
              <a:ext cx="1435100" cy="669713"/>
            </a:xfrm>
            <a:prstGeom prst="rect">
              <a:avLst/>
            </a:prstGeom>
          </p:spPr>
        </p:pic>
        <p:sp>
          <p:nvSpPr>
            <p:cNvPr id="35" name="Text | HawkeyePlus">
              <a:hlinkClick action="ppaction://hlinksldjump" r:id="rId10"/>
            </p:cNvPr>
            <p:cNvSpPr txBox="1"/>
            <p:nvPr/>
          </p:nvSpPr>
          <p:spPr>
            <a:xfrm>
              <a:off x="2044700" y="3882454"/>
              <a:ext cx="3714750" cy="36118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2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lang="en-US">
                  <a:solidFill>
                    <a:srgbClr val="082D48"/>
                  </a:solidFill>
                  <a:latin typeface="Arial"/>
                  <a:ea typeface="SimHei"/>
                </a:rPr>
                <a:t>HawkeyePlus</a:t>
              </a:r>
            </a:p>
          </p:txBody>
        </p:sp>
        <p:sp>
          <p:nvSpPr>
            <p:cNvPr id="36" name="Text | 工业视觉模型研发与验证">
              <a:hlinkClick action="ppaction://hlinksldjump" r:id="rId10"/>
            </p:cNvPr>
            <p:cNvSpPr txBox="1"/>
            <p:nvPr/>
          </p:nvSpPr>
          <p:spPr>
            <a:xfrm>
              <a:off x="2044700" y="4297616"/>
              <a:ext cx="371475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lang="zh-CN">
                  <a:solidFill>
                    <a:srgbClr val="4C6B83"/>
                  </a:solidFill>
                  <a:latin typeface="Arial"/>
                  <a:ea typeface="SimHei"/>
                </a:rPr>
                <a:t>工业视觉模型研发与验证</a:t>
              </a:r>
            </a:p>
          </p:txBody>
        </p:sp>
        <p:sp>
          <p:nvSpPr>
            <p:cNvPr id="37" name="Text | 模型研发流程">
              <a:hlinkClick action="ppaction://hlinksldjump" r:id="rId10"/>
            </p:cNvPr>
            <p:cNvSpPr txBox="1"/>
            <p:nvPr/>
          </p:nvSpPr>
          <p:spPr>
            <a:xfrm>
              <a:off x="2044700" y="4792028"/>
              <a:ext cx="266700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007D9D"/>
                  </a:solidFill>
                  <a:latin typeface="Arial"/>
                  <a:ea typeface="SimHei"/>
                </a:rPr>
                <a:t>模型研发流程</a:t>
              </a:r>
            </a:p>
          </p:txBody>
        </p:sp>
        <p:sp>
          <p:nvSpPr>
            <p:cNvPr id="38" name="Text | 当前模型能力">
              <a:hlinkClick action="ppaction://hlinksldjump" r:id="rId10"/>
            </p:cNvPr>
            <p:cNvSpPr txBox="1"/>
            <p:nvPr/>
          </p:nvSpPr>
          <p:spPr>
            <a:xfrm>
              <a:off x="2044700" y="5071428"/>
              <a:ext cx="266700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007D9D"/>
                  </a:solidFill>
                  <a:latin typeface="Arial"/>
                  <a:ea typeface="SimHei"/>
                </a:rPr>
                <a:t>当前模型能力</a:t>
              </a:r>
            </a:p>
          </p:txBody>
        </p:sp>
        <p:sp>
          <p:nvSpPr>
            <p:cNvPr id="39" name="Panel | 7">
              <a:hlinkClick action="ppaction://hlinksldjump" r:id="rId10"/>
            </p:cNvPr>
            <p:cNvSpPr/>
            <p:nvPr/>
          </p:nvSpPr>
          <p:spPr>
            <a:xfrm>
              <a:off x="4921250" y="5168900"/>
              <a:ext cx="838200" cy="241300"/>
            </a:xfrm>
            <a:prstGeom prst="roundRect">
              <a:avLst>
                <a:gd name="adj" fmla="val 26315"/>
              </a:avLst>
            </a:prstGeom>
            <a:solidFill>
              <a:srgbClr val="E5EF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 | 11–16">
              <a:hlinkClick action="ppaction://hlinksldjump" r:id="rId10"/>
            </p:cNvPr>
            <p:cNvSpPr txBox="1"/>
            <p:nvPr/>
          </p:nvSpPr>
          <p:spPr>
            <a:xfrm>
              <a:off x="4959350" y="5201730"/>
              <a:ext cx="7620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007D9D"/>
                  </a:solidFill>
                  <a:latin typeface="Arial"/>
                  <a:ea typeface="SimHei"/>
                </a:rPr>
                <a:t>11–16</a:t>
              </a:r>
            </a:p>
          </p:txBody>
        </p:sp>
      </p:grpSp>
      <p:grpSp>
        <p:nvGrpSpPr>
          <p:cNvPr id="41" name="Node | 协同交付"/>
          <p:cNvGrpSpPr/>
          <p:nvPr/>
        </p:nvGrpSpPr>
        <p:grpSpPr>
          <a:xfrm>
            <a:off x="6235700" y="3651250"/>
            <a:ext cx="5549900" cy="1905000"/>
            <a:chOff x="6235700" y="3651250"/>
            <a:chExt cx="5549900" cy="1905000"/>
          </a:xfrm>
        </p:grpSpPr>
        <p:sp>
          <p:nvSpPr>
            <p:cNvPr id="42" name="Panel | 8">
              <a:hlinkClick action="ppaction://hlinksldjump" r:id="rId11"/>
            </p:cNvPr>
            <p:cNvSpPr/>
            <p:nvPr/>
          </p:nvSpPr>
          <p:spPr>
            <a:xfrm>
              <a:off x="6235700" y="3651250"/>
              <a:ext cx="5549900" cy="190500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 | 04">
              <a:hlinkClick action="ppaction://hlinksldjump" r:id="rId11"/>
            </p:cNvPr>
            <p:cNvSpPr txBox="1"/>
            <p:nvPr/>
          </p:nvSpPr>
          <p:spPr>
            <a:xfrm>
              <a:off x="6407150" y="3778695"/>
              <a:ext cx="609600" cy="43141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6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50" b="1" lang="en-US">
                  <a:solidFill>
                    <a:srgbClr val="007D9D"/>
                  </a:solidFill>
                  <a:latin typeface="Arial"/>
                  <a:ea typeface="SimHei"/>
                </a:rPr>
                <a:t>04</a:t>
              </a:r>
            </a:p>
          </p:txBody>
        </p:sp>
        <p:pic>
          <p:nvPicPr>
            <p:cNvPr id="44" name="Picture | Independent image" descr="12bb1e3e4f2e170eca1f6489649f4e45a3b3250e5c5303eec76095d714b0e260.png">
              <a:hlinkClick action="ppaction://hlinksldjump" r:id="rId11"/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14077" y="4184650"/>
              <a:ext cx="1281545" cy="1174750"/>
            </a:xfrm>
            <a:prstGeom prst="rect">
              <a:avLst/>
            </a:prstGeom>
          </p:spPr>
        </p:pic>
        <p:sp>
          <p:nvSpPr>
            <p:cNvPr id="45" name="Text | 协同交付">
              <a:hlinkClick action="ppaction://hlinksldjump" r:id="rId11"/>
            </p:cNvPr>
            <p:cNvSpPr txBox="1"/>
            <p:nvPr/>
          </p:nvSpPr>
          <p:spPr>
            <a:xfrm>
              <a:off x="7874000" y="3892931"/>
              <a:ext cx="3714750" cy="36118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2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lang="zh-CN">
                  <a:solidFill>
                    <a:srgbClr val="082D48"/>
                  </a:solidFill>
                  <a:latin typeface="Arial"/>
                  <a:ea typeface="SimHei"/>
                </a:rPr>
                <a:t>协同交付</a:t>
              </a:r>
            </a:p>
          </p:txBody>
        </p:sp>
        <p:sp>
          <p:nvSpPr>
            <p:cNvPr id="46" name="Text | 从研发效果到现场可用">
              <a:hlinkClick action="ppaction://hlinksldjump" r:id="rId11"/>
            </p:cNvPr>
            <p:cNvSpPr txBox="1"/>
            <p:nvPr/>
          </p:nvSpPr>
          <p:spPr>
            <a:xfrm>
              <a:off x="7874000" y="4297616"/>
              <a:ext cx="371475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lang="zh-CN">
                  <a:solidFill>
                    <a:srgbClr val="4C6B83"/>
                  </a:solidFill>
                  <a:latin typeface="Arial"/>
                  <a:ea typeface="SimHei"/>
                </a:rPr>
                <a:t>从研发效果到现场可用</a:t>
              </a:r>
            </a:p>
          </p:txBody>
        </p:sp>
        <p:sp>
          <p:nvSpPr>
            <p:cNvPr id="47" name="Text | 适配与验收">
              <a:hlinkClick action="ppaction://hlinksldjump" r:id="rId11"/>
            </p:cNvPr>
            <p:cNvSpPr txBox="1"/>
            <p:nvPr/>
          </p:nvSpPr>
          <p:spPr>
            <a:xfrm>
              <a:off x="7874000" y="4792028"/>
              <a:ext cx="266700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007D9D"/>
                  </a:solidFill>
                  <a:latin typeface="Arial"/>
                  <a:ea typeface="SimHei"/>
                </a:rPr>
                <a:t>适配与验收</a:t>
              </a:r>
            </a:p>
          </p:txBody>
        </p:sp>
        <p:sp>
          <p:nvSpPr>
            <p:cNvPr id="48" name="Text | 统一交付资产">
              <a:hlinkClick action="ppaction://hlinksldjump" r:id="rId11"/>
            </p:cNvPr>
            <p:cNvSpPr txBox="1"/>
            <p:nvPr/>
          </p:nvSpPr>
          <p:spPr>
            <a:xfrm>
              <a:off x="7874000" y="5071428"/>
              <a:ext cx="266700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007D9D"/>
                  </a:solidFill>
                  <a:latin typeface="Arial"/>
                  <a:ea typeface="SimHei"/>
                </a:rPr>
                <a:t>统一交付资产</a:t>
              </a:r>
            </a:p>
          </p:txBody>
        </p:sp>
        <p:sp>
          <p:nvSpPr>
            <p:cNvPr id="49" name="Panel | 9">
              <a:hlinkClick action="ppaction://hlinksldjump" r:id="rId11"/>
            </p:cNvPr>
            <p:cNvSpPr/>
            <p:nvPr/>
          </p:nvSpPr>
          <p:spPr>
            <a:xfrm>
              <a:off x="10750550" y="5168900"/>
              <a:ext cx="838200" cy="241300"/>
            </a:xfrm>
            <a:prstGeom prst="roundRect">
              <a:avLst>
                <a:gd name="adj" fmla="val 26315"/>
              </a:avLst>
            </a:prstGeom>
            <a:solidFill>
              <a:srgbClr val="E5EF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Text | 17–18">
              <a:hlinkClick action="ppaction://hlinksldjump" r:id="rId11"/>
            </p:cNvPr>
            <p:cNvSpPr txBox="1"/>
            <p:nvPr/>
          </p:nvSpPr>
          <p:spPr>
            <a:xfrm>
              <a:off x="10788650" y="5201730"/>
              <a:ext cx="7620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007D9D"/>
                  </a:solidFill>
                  <a:latin typeface="Arial"/>
                  <a:ea typeface="SimHei"/>
                </a:rPr>
                <a:t>17–18</a:t>
              </a:r>
            </a:p>
          </p:txBody>
        </p:sp>
      </p:grpSp>
      <p:sp>
        <p:nvSpPr>
          <p:cNvPr id="51" name="Panel | 10"/>
          <p:cNvSpPr/>
          <p:nvPr/>
        </p:nvSpPr>
        <p:spPr>
          <a:xfrm>
            <a:off x="406400" y="5905500"/>
            <a:ext cx="11379200" cy="463550"/>
          </a:xfrm>
          <a:prstGeom prst="roundRect">
            <a:avLst>
              <a:gd name="adj" fmla="val 19178"/>
            </a:avLst>
          </a:prstGeom>
          <a:solidFill>
            <a:srgbClr val="E9F1FC"/>
          </a:solidFill>
          <a:ln w="6350" cap="rnd">
            <a:solidFill>
              <a:srgbClr val="C6D8EB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 | 最后：总结与交流"/>
          <p:cNvSpPr txBox="1"/>
          <p:nvPr/>
        </p:nvSpPr>
        <p:spPr>
          <a:xfrm>
            <a:off x="590550" y="6039294"/>
            <a:ext cx="8255000" cy="290957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lang="zh-CN">
                <a:solidFill>
                  <a:srgbClr val="087F79"/>
                </a:solidFill>
                <a:latin typeface="Arial"/>
                <a:ea typeface="SimHei"/>
              </a:rPr>
              <a:t>最后：总结与交流</a:t>
            </a:r>
          </a:p>
        </p:txBody>
      </p:sp>
      <p:sp>
        <p:nvSpPr>
          <p:cNvPr id="53" name="Text | 19–20"/>
          <p:cNvSpPr txBox="1"/>
          <p:nvPr/>
        </p:nvSpPr>
        <p:spPr>
          <a:xfrm>
            <a:off x="10560050" y="6035421"/>
            <a:ext cx="1016000" cy="26085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1599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en-US">
                <a:solidFill>
                  <a:srgbClr val="087F79"/>
                </a:solidFill>
                <a:latin typeface="Arial"/>
                <a:ea typeface="SimHei"/>
              </a:rPr>
              <a:t>19–20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007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 | 章节导览 / 第 01 章"/>
          <p:cNvSpPr txBox="1"/>
          <p:nvPr/>
        </p:nvSpPr>
        <p:spPr>
          <a:xfrm>
            <a:off x="546100" y="363410"/>
            <a:ext cx="9525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4C6B83"/>
                </a:solidFill>
                <a:latin typeface="Arial"/>
                <a:ea typeface="SimHei"/>
              </a:rPr>
              <a:t>章节导览 / 第 01 章</a:t>
            </a:r>
          </a:p>
        </p:txBody>
      </p:sp>
      <p:pic>
        <p:nvPicPr>
          <p:cNvPr id="4" name="Picture | Independent image" descr="139ef02520a55c1aaee95c1d6e7f5f730beac004ebb72c9c012b0f76513ab8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cxnSp>
        <p:nvCxnSpPr>
          <p:cNvPr id="5" name="Connector | 1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C6D8E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 | SwiftFlow + HawkeyePlus  |  Industrial Vision Engineering"/>
          <p:cNvSpPr txBox="1"/>
          <p:nvPr/>
        </p:nvSpPr>
        <p:spPr>
          <a:xfrm>
            <a:off x="412750" y="6607238"/>
            <a:ext cx="825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SwiftFlow + HawkeyePlus  |  Industrial Vision Engineering</a:t>
            </a:r>
          </a:p>
        </p:txBody>
      </p:sp>
      <p:sp>
        <p:nvSpPr>
          <p:cNvPr id="7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4C6B83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8" name="Text | 03 / 20"/>
          <p:cNvSpPr txBox="1"/>
          <p:nvPr/>
        </p:nvSpPr>
        <p:spPr>
          <a:xfrm>
            <a:off x="11137900" y="6607238"/>
            <a:ext cx="63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03 / 20</a:t>
            </a:r>
          </a:p>
        </p:txBody>
      </p:sp>
      <p:sp>
        <p:nvSpPr>
          <p:cNvPr id="9" name="Text | 01"/>
          <p:cNvSpPr txBox="1"/>
          <p:nvPr/>
        </p:nvSpPr>
        <p:spPr>
          <a:xfrm>
            <a:off x="495300" y="1704848"/>
            <a:ext cx="1714500" cy="1745742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0701"/>
              </a:lnSpc>
              <a:spcBef>
                <a:spcPts val="0"/>
              </a:spcBef>
              <a:spcAft>
                <a:spcPts val="0"/>
              </a:spcAft>
            </a:pPr>
            <a:r>
              <a:rPr sz="8700" b="1" lang="en-US">
                <a:solidFill>
                  <a:srgbClr val="007D9D"/>
                </a:solidFill>
                <a:latin typeface="Arial"/>
                <a:ea typeface="SimHei"/>
              </a:rPr>
              <a:t>01</a:t>
            </a:r>
          </a:p>
        </p:txBody>
      </p:sp>
      <p:sp>
        <p:nvSpPr>
          <p:cNvPr id="10" name="Text | 总体概念与建设目的"/>
          <p:cNvSpPr txBox="1"/>
          <p:nvPr/>
        </p:nvSpPr>
        <p:spPr>
          <a:xfrm>
            <a:off x="2203450" y="1875092"/>
            <a:ext cx="5873750" cy="591947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628"/>
              </a:lnSpc>
              <a:spcBef>
                <a:spcPts val="0"/>
              </a:spcBef>
              <a:spcAft>
                <a:spcPts val="0"/>
              </a:spcAft>
            </a:pPr>
            <a:r>
              <a:rPr sz="2950" b="1" lang="zh-CN">
                <a:solidFill>
                  <a:srgbClr val="082D48"/>
                </a:solidFill>
                <a:latin typeface="Arial"/>
                <a:ea typeface="SimHei"/>
              </a:rPr>
              <a:t>总体概念与建设目的</a:t>
            </a:r>
          </a:p>
        </p:txBody>
      </p:sp>
      <p:sp>
        <p:nvSpPr>
          <p:cNvPr id="11" name="Text | 建立统一的工程方法"/>
          <p:cNvSpPr txBox="1"/>
          <p:nvPr/>
        </p:nvSpPr>
        <p:spPr>
          <a:xfrm>
            <a:off x="2222500" y="2500503"/>
            <a:ext cx="5080000" cy="341122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4C6B83"/>
                </a:solidFill>
                <a:latin typeface="Arial"/>
                <a:ea typeface="SimHei"/>
              </a:rPr>
              <a:t>建立统一的工程方法</a:t>
            </a:r>
          </a:p>
        </p:txBody>
      </p:sp>
      <p:cxnSp>
        <p:nvCxnSpPr>
          <p:cNvPr id="12" name="Connector | 2"/>
          <p:cNvCxnSpPr/>
          <p:nvPr/>
        </p:nvCxnSpPr>
        <p:spPr>
          <a:xfrm>
            <a:off x="520700" y="3086100"/>
            <a:ext cx="6375400" cy="0"/>
          </a:xfrm>
          <a:prstGeom prst="line">
            <a:avLst/>
          </a:prstGeom>
          <a:ln w="11430" cap="rnd">
            <a:solidFill>
              <a:srgbClr val="C6D8E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| 如何让硬件、工艺与算法形成统一方法？"/>
          <p:cNvSpPr txBox="1"/>
          <p:nvPr/>
        </p:nvSpPr>
        <p:spPr>
          <a:xfrm>
            <a:off x="520700" y="3355022"/>
            <a:ext cx="6604000" cy="311023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906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zh-CN">
                <a:solidFill>
                  <a:srgbClr val="082D48"/>
                </a:solidFill>
                <a:latin typeface="Arial"/>
                <a:ea typeface="SimHei"/>
              </a:rPr>
              <a:t>如何让硬件、工艺与算法形成统一方法？</a:t>
            </a:r>
          </a:p>
        </p:txBody>
      </p:sp>
      <p:pic>
        <p:nvPicPr>
          <p:cNvPr id="14" name="Picture | Independent image" descr="085782651a052b950f6c4aa546074ea7e352e9df9e9ba1e1d1a63e6cbbeeaa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2684" y="1733550"/>
            <a:ext cx="2916382" cy="2673350"/>
          </a:xfrm>
          <a:prstGeom prst="rect">
            <a:avLst/>
          </a:prstGeom>
        </p:spPr>
      </p:pic>
      <p:grpSp>
        <p:nvGrpSpPr>
          <p:cNvPr id="15" name="Node | 平台关系"/>
          <p:cNvGrpSpPr/>
          <p:nvPr/>
        </p:nvGrpSpPr>
        <p:grpSpPr>
          <a:xfrm>
            <a:off x="406400" y="4978400"/>
            <a:ext cx="3670300" cy="984250"/>
            <a:chOff x="406400" y="4978400"/>
            <a:chExt cx="3670300" cy="984250"/>
          </a:xfrm>
        </p:grpSpPr>
        <p:sp>
          <p:nvSpPr>
            <p:cNvPr id="16" name="Panel | 2"/>
            <p:cNvSpPr/>
            <p:nvPr/>
          </p:nvSpPr>
          <p:spPr>
            <a:xfrm>
              <a:off x="406400" y="4978400"/>
              <a:ext cx="3670300" cy="984250"/>
            </a:xfrm>
            <a:prstGeom prst="roundRect">
              <a:avLst>
                <a:gd name="adj" fmla="val 11612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 | 01.1"/>
            <p:cNvSpPr txBox="1"/>
            <p:nvPr/>
          </p:nvSpPr>
          <p:spPr>
            <a:xfrm>
              <a:off x="577850" y="5157914"/>
              <a:ext cx="6985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en-US">
                  <a:solidFill>
                    <a:srgbClr val="007D9D"/>
                  </a:solidFill>
                  <a:latin typeface="Arial"/>
                  <a:ea typeface="SimHei"/>
                </a:rPr>
                <a:t>01.1</a:t>
              </a:r>
            </a:p>
          </p:txBody>
        </p:sp>
        <p:sp>
          <p:nvSpPr>
            <p:cNvPr id="18" name="Text | 平台关系"/>
            <p:cNvSpPr txBox="1"/>
            <p:nvPr/>
          </p:nvSpPr>
          <p:spPr>
            <a:xfrm>
              <a:off x="577850" y="5502275"/>
              <a:ext cx="332105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zh-CN">
                  <a:solidFill>
                    <a:srgbClr val="082D48"/>
                  </a:solidFill>
                  <a:latin typeface="Arial"/>
                  <a:ea typeface="SimHei"/>
                </a:rPr>
                <a:t>平台关系</a:t>
              </a:r>
            </a:p>
          </p:txBody>
        </p:sp>
      </p:grpSp>
      <p:grpSp>
        <p:nvGrpSpPr>
          <p:cNvPr id="19" name="Node | 建设目的"/>
          <p:cNvGrpSpPr/>
          <p:nvPr/>
        </p:nvGrpSpPr>
        <p:grpSpPr>
          <a:xfrm>
            <a:off x="4260850" y="4978400"/>
            <a:ext cx="3670300" cy="984250"/>
            <a:chOff x="4260850" y="4978400"/>
            <a:chExt cx="3670300" cy="984250"/>
          </a:xfrm>
        </p:grpSpPr>
        <p:sp>
          <p:nvSpPr>
            <p:cNvPr id="20" name="Panel | 3"/>
            <p:cNvSpPr/>
            <p:nvPr/>
          </p:nvSpPr>
          <p:spPr>
            <a:xfrm>
              <a:off x="4260850" y="4978400"/>
              <a:ext cx="3670300" cy="984250"/>
            </a:xfrm>
            <a:prstGeom prst="roundRect">
              <a:avLst>
                <a:gd name="adj" fmla="val 11612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 | 01.2"/>
            <p:cNvSpPr txBox="1"/>
            <p:nvPr/>
          </p:nvSpPr>
          <p:spPr>
            <a:xfrm>
              <a:off x="4432300" y="5157914"/>
              <a:ext cx="6985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en-US">
                  <a:solidFill>
                    <a:srgbClr val="007D9D"/>
                  </a:solidFill>
                  <a:latin typeface="Arial"/>
                  <a:ea typeface="SimHei"/>
                </a:rPr>
                <a:t>01.2</a:t>
              </a:r>
            </a:p>
          </p:txBody>
        </p:sp>
        <p:sp>
          <p:nvSpPr>
            <p:cNvPr id="22" name="Text | 建设目的"/>
            <p:cNvSpPr txBox="1"/>
            <p:nvPr/>
          </p:nvSpPr>
          <p:spPr>
            <a:xfrm>
              <a:off x="4432300" y="5502275"/>
              <a:ext cx="332105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zh-CN">
                  <a:solidFill>
                    <a:srgbClr val="082D48"/>
                  </a:solidFill>
                  <a:latin typeface="Arial"/>
                  <a:ea typeface="SimHei"/>
                </a:rPr>
                <a:t>建设目的</a:t>
              </a:r>
            </a:p>
          </p:txBody>
        </p:sp>
      </p:grpSp>
      <p:grpSp>
        <p:nvGrpSpPr>
          <p:cNvPr id="23" name="Node | 标准流程"/>
          <p:cNvGrpSpPr/>
          <p:nvPr/>
        </p:nvGrpSpPr>
        <p:grpSpPr>
          <a:xfrm>
            <a:off x="8115300" y="4978400"/>
            <a:ext cx="3670300" cy="984250"/>
            <a:chOff x="8115300" y="4978400"/>
            <a:chExt cx="3670300" cy="984250"/>
          </a:xfrm>
        </p:grpSpPr>
        <p:sp>
          <p:nvSpPr>
            <p:cNvPr id="24" name="Panel | 4"/>
            <p:cNvSpPr/>
            <p:nvPr/>
          </p:nvSpPr>
          <p:spPr>
            <a:xfrm>
              <a:off x="8115300" y="4978400"/>
              <a:ext cx="3670300" cy="984250"/>
            </a:xfrm>
            <a:prstGeom prst="roundRect">
              <a:avLst>
                <a:gd name="adj" fmla="val 11612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 | 01.3"/>
            <p:cNvSpPr txBox="1"/>
            <p:nvPr/>
          </p:nvSpPr>
          <p:spPr>
            <a:xfrm>
              <a:off x="8286750" y="5157914"/>
              <a:ext cx="6985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en-US">
                  <a:solidFill>
                    <a:srgbClr val="007D9D"/>
                  </a:solidFill>
                  <a:latin typeface="Arial"/>
                  <a:ea typeface="SimHei"/>
                </a:rPr>
                <a:t>01.3</a:t>
              </a:r>
            </a:p>
          </p:txBody>
        </p:sp>
        <p:sp>
          <p:nvSpPr>
            <p:cNvPr id="26" name="Text | 标准流程"/>
            <p:cNvSpPr txBox="1"/>
            <p:nvPr/>
          </p:nvSpPr>
          <p:spPr>
            <a:xfrm>
              <a:off x="8286750" y="5502275"/>
              <a:ext cx="332105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zh-CN">
                  <a:solidFill>
                    <a:srgbClr val="082D48"/>
                  </a:solidFill>
                  <a:latin typeface="Arial"/>
                  <a:ea typeface="SimHei"/>
                </a:rPr>
                <a:t>标准流程</a:t>
              </a:r>
            </a:p>
          </p:txBody>
        </p:sp>
      </p:grpSp>
      <p:sp>
        <p:nvSpPr>
          <p:cNvPr id="27" name="Text | SwiftFlow + HawkeyePlus｜一套标准方法，两个互补平台"/>
          <p:cNvSpPr txBox="1"/>
          <p:nvPr/>
        </p:nvSpPr>
        <p:spPr>
          <a:xfrm>
            <a:off x="520700" y="6169088"/>
            <a:ext cx="10731500" cy="25082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537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zh-CN">
                <a:solidFill>
                  <a:srgbClr val="4C6B83"/>
                </a:solidFill>
                <a:latin typeface="Arial"/>
                <a:ea typeface="SimHei"/>
              </a:rPr>
              <a:t>SwiftFlow + HawkeyePlus｜一套标准方法，两个互补平台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007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 | 第 01 章 / 总体概念与建设目的"/>
          <p:cNvSpPr txBox="1"/>
          <p:nvPr/>
        </p:nvSpPr>
        <p:spPr>
          <a:xfrm>
            <a:off x="546100" y="363410"/>
            <a:ext cx="9525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4C6B83"/>
                </a:solidFill>
                <a:latin typeface="Arial"/>
                <a:ea typeface="SimHei"/>
              </a:rPr>
              <a:t>第 01 章 / 总体概念与建设目的</a:t>
            </a:r>
          </a:p>
        </p:txBody>
      </p:sp>
      <p:pic>
        <p:nvPicPr>
          <p:cNvPr id="4" name="Picture | Independent image" descr="139ef02520a55c1aaee95c1d6e7f5f730beac004ebb72c9c012b0f76513ab8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sp>
        <p:nvSpPr>
          <p:cNvPr id="5" name="Text | 一套标准流程，贯通检测与测量"/>
          <p:cNvSpPr txBox="1"/>
          <p:nvPr/>
        </p:nvSpPr>
        <p:spPr>
          <a:xfrm>
            <a:off x="406400" y="616014"/>
            <a:ext cx="11303000" cy="571881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5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zh-CN">
                <a:solidFill>
                  <a:srgbClr val="082D48"/>
                </a:solidFill>
                <a:latin typeface="Arial"/>
                <a:ea typeface="SimHei"/>
              </a:rPr>
              <a:t>一套标准流程，贯通检测与测量</a:t>
            </a:r>
          </a:p>
        </p:txBody>
      </p:sp>
      <p:sp>
        <p:nvSpPr>
          <p:cNvPr id="6" name="Text | 以 SwiftFlow 与 HawkeyePlus 协同，连接硬件设计、检测流程与算法研发"/>
          <p:cNvSpPr txBox="1"/>
          <p:nvPr/>
        </p:nvSpPr>
        <p:spPr>
          <a:xfrm>
            <a:off x="425450" y="1072706"/>
            <a:ext cx="112395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4C6B83"/>
                </a:solidFill>
                <a:latin typeface="Arial"/>
                <a:ea typeface="SimHei"/>
              </a:rPr>
              <a:t>以 SwiftFlow 与 HawkeyePlus 协同，连接硬件设计、检测流程与算法研发</a:t>
            </a:r>
          </a:p>
        </p:txBody>
      </p:sp>
      <p:cxnSp>
        <p:nvCxnSpPr>
          <p:cNvPr id="7" name="Connector | 1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C6D8E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| SwiftFlow + HawkeyePlus  |  Industrial Vision Engineering"/>
          <p:cNvSpPr txBox="1"/>
          <p:nvPr/>
        </p:nvSpPr>
        <p:spPr>
          <a:xfrm>
            <a:off x="412750" y="6607238"/>
            <a:ext cx="825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SwiftFlow + HawkeyePlus  |  Industrial Vision Engineering</a:t>
            </a:r>
          </a:p>
        </p:txBody>
      </p:sp>
      <p:sp>
        <p:nvSpPr>
          <p:cNvPr id="9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4C6B83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10" name="Text | 04 / 20"/>
          <p:cNvSpPr txBox="1"/>
          <p:nvPr/>
        </p:nvSpPr>
        <p:spPr>
          <a:xfrm>
            <a:off x="11137900" y="6607238"/>
            <a:ext cx="63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04 / 20</a:t>
            </a:r>
          </a:p>
        </p:txBody>
      </p:sp>
      <p:grpSp>
        <p:nvGrpSpPr>
          <p:cNvPr id="11" name="Node | SwiftFlow"/>
          <p:cNvGrpSpPr/>
          <p:nvPr/>
        </p:nvGrpSpPr>
        <p:grpSpPr>
          <a:xfrm>
            <a:off x="406400" y="1524000"/>
            <a:ext cx="5461000" cy="2959100"/>
            <a:chOff x="406400" y="1524000"/>
            <a:chExt cx="5461000" cy="2959100"/>
          </a:xfrm>
        </p:grpSpPr>
        <p:sp>
          <p:nvSpPr>
            <p:cNvPr id="12" name="Panel | 2"/>
            <p:cNvSpPr/>
            <p:nvPr/>
          </p:nvSpPr>
          <p:spPr>
            <a:xfrm>
              <a:off x="406400" y="1524000"/>
              <a:ext cx="5461000" cy="2959100"/>
            </a:xfrm>
            <a:prstGeom prst="roundRect">
              <a:avLst>
                <a:gd name="adj" fmla="val 4935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 | SwiftFlow"/>
            <p:cNvSpPr txBox="1"/>
            <p:nvPr/>
          </p:nvSpPr>
          <p:spPr>
            <a:xfrm>
              <a:off x="609600" y="1615122"/>
              <a:ext cx="5048250" cy="46151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82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300" b="1" lang="en-US">
                  <a:solidFill>
                    <a:srgbClr val="007D9D"/>
                  </a:solidFill>
                  <a:latin typeface="Arial"/>
                  <a:ea typeface="SimHei"/>
                </a:rPr>
                <a:t>SwiftFlow</a:t>
              </a:r>
            </a:p>
          </p:txBody>
        </p:sp>
        <p:pic>
          <p:nvPicPr>
            <p:cNvPr id="14" name="Picture | Independent image" descr="5f1bcf78ecb92f4492224ef45a833bd24f87b72940a435af1d4530231d53bab7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5639" y="2057400"/>
              <a:ext cx="2266972" cy="1784350"/>
            </a:xfrm>
            <a:prstGeom prst="rect">
              <a:avLst/>
            </a:prstGeom>
          </p:spPr>
        </p:pic>
        <p:sp>
          <p:nvSpPr>
            <p:cNvPr id="15" name="Circle | 1"/>
            <p:cNvSpPr/>
            <p:nvPr/>
          </p:nvSpPr>
          <p:spPr>
            <a:xfrm>
              <a:off x="3384550" y="2413000"/>
              <a:ext cx="63500" cy="63500"/>
            </a:xfrm>
            <a:prstGeom prst="ellipse">
              <a:avLst/>
            </a:prstGeom>
            <a:solidFill>
              <a:srgbClr val="007D9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 | 设备接入"/>
            <p:cNvSpPr txBox="1"/>
            <p:nvPr/>
          </p:nvSpPr>
          <p:spPr>
            <a:xfrm>
              <a:off x="3536950" y="2350834"/>
              <a:ext cx="2120900" cy="300990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0" lang="zh-CN">
                  <a:solidFill>
                    <a:srgbClr val="082D48"/>
                  </a:solidFill>
                  <a:latin typeface="Arial"/>
                  <a:ea typeface="SimHei"/>
                </a:rPr>
                <a:t>设备接入</a:t>
              </a:r>
            </a:p>
          </p:txBody>
        </p:sp>
        <p:sp>
          <p:nvSpPr>
            <p:cNvPr id="17" name="Circle | 2"/>
            <p:cNvSpPr/>
            <p:nvPr/>
          </p:nvSpPr>
          <p:spPr>
            <a:xfrm>
              <a:off x="3384550" y="2882900"/>
              <a:ext cx="63500" cy="63500"/>
            </a:xfrm>
            <a:prstGeom prst="ellipse">
              <a:avLst/>
            </a:prstGeom>
            <a:solidFill>
              <a:srgbClr val="007D9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 | 流程编排"/>
            <p:cNvSpPr txBox="1"/>
            <p:nvPr/>
          </p:nvSpPr>
          <p:spPr>
            <a:xfrm>
              <a:off x="3536950" y="2820734"/>
              <a:ext cx="2120900" cy="300990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0" lang="zh-CN">
                  <a:solidFill>
                    <a:srgbClr val="082D48"/>
                  </a:solidFill>
                  <a:latin typeface="Arial"/>
                  <a:ea typeface="SimHei"/>
                </a:rPr>
                <a:t>流程编排</a:t>
              </a:r>
            </a:p>
          </p:txBody>
        </p:sp>
        <p:sp>
          <p:nvSpPr>
            <p:cNvPr id="19" name="Circle | 3"/>
            <p:cNvSpPr/>
            <p:nvPr/>
          </p:nvSpPr>
          <p:spPr>
            <a:xfrm>
              <a:off x="3384550" y="3352800"/>
              <a:ext cx="63500" cy="63500"/>
            </a:xfrm>
            <a:prstGeom prst="ellipse">
              <a:avLst/>
            </a:prstGeom>
            <a:solidFill>
              <a:srgbClr val="007D9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 | 现场执行"/>
            <p:cNvSpPr txBox="1"/>
            <p:nvPr/>
          </p:nvSpPr>
          <p:spPr>
            <a:xfrm>
              <a:off x="3536950" y="3290634"/>
              <a:ext cx="2120900" cy="300990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0" lang="zh-CN">
                  <a:solidFill>
                    <a:srgbClr val="082D48"/>
                  </a:solidFill>
                  <a:latin typeface="Arial"/>
                  <a:ea typeface="SimHei"/>
                </a:rPr>
                <a:t>现场执行</a:t>
              </a:r>
            </a:p>
          </p:txBody>
        </p:sp>
        <p:sp>
          <p:nvSpPr>
            <p:cNvPr id="21" name="Text | 把硬件、算法和工艺组织成可执行流程"/>
            <p:cNvSpPr txBox="1"/>
            <p:nvPr/>
          </p:nvSpPr>
          <p:spPr>
            <a:xfrm>
              <a:off x="628650" y="4056316"/>
              <a:ext cx="50165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lang="zh-CN">
                  <a:solidFill>
                    <a:srgbClr val="4C6B83"/>
                  </a:solidFill>
                  <a:latin typeface="Arial"/>
                  <a:ea typeface="SimHei"/>
                </a:rPr>
                <a:t>把硬件、算法和工艺组织成可执行流程</a:t>
              </a:r>
            </a:p>
          </p:txBody>
        </p:sp>
      </p:grpSp>
      <p:grpSp>
        <p:nvGrpSpPr>
          <p:cNvPr id="22" name="Node | HawkeyePlus"/>
          <p:cNvGrpSpPr/>
          <p:nvPr/>
        </p:nvGrpSpPr>
        <p:grpSpPr>
          <a:xfrm>
            <a:off x="6324600" y="1524000"/>
            <a:ext cx="5461000" cy="2959100"/>
            <a:chOff x="6324600" y="1524000"/>
            <a:chExt cx="5461000" cy="2959100"/>
          </a:xfrm>
        </p:grpSpPr>
        <p:sp>
          <p:nvSpPr>
            <p:cNvPr id="23" name="Panel | 3"/>
            <p:cNvSpPr/>
            <p:nvPr/>
          </p:nvSpPr>
          <p:spPr>
            <a:xfrm>
              <a:off x="6324600" y="1524000"/>
              <a:ext cx="5461000" cy="2959100"/>
            </a:xfrm>
            <a:prstGeom prst="roundRect">
              <a:avLst>
                <a:gd name="adj" fmla="val 4935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 | HawkeyePlus"/>
            <p:cNvSpPr txBox="1"/>
            <p:nvPr/>
          </p:nvSpPr>
          <p:spPr>
            <a:xfrm>
              <a:off x="6527800" y="1615122"/>
              <a:ext cx="5048250" cy="46151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82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300" b="1" lang="en-US">
                  <a:solidFill>
                    <a:srgbClr val="087F79"/>
                  </a:solidFill>
                  <a:latin typeface="Arial"/>
                  <a:ea typeface="SimHei"/>
                </a:rPr>
                <a:t>HawkeyePlus</a:t>
              </a:r>
            </a:p>
          </p:txBody>
        </p:sp>
        <p:pic>
          <p:nvPicPr>
            <p:cNvPr id="25" name="Picture | Independent image" descr="0e1cacdd2dd64d49c68307ca39c10d929dcfdd478b4480a29a0805d6b17ec43b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83350" y="2331720"/>
              <a:ext cx="2647950" cy="1235710"/>
            </a:xfrm>
            <a:prstGeom prst="rect">
              <a:avLst/>
            </a:prstGeom>
          </p:spPr>
        </p:pic>
        <p:sp>
          <p:nvSpPr>
            <p:cNvPr id="26" name="Circle | 4"/>
            <p:cNvSpPr/>
            <p:nvPr/>
          </p:nvSpPr>
          <p:spPr>
            <a:xfrm>
              <a:off x="9302750" y="2413000"/>
              <a:ext cx="63500" cy="63500"/>
            </a:xfrm>
            <a:prstGeom prst="ellipse">
              <a:avLst/>
            </a:prstGeom>
            <a:solidFill>
              <a:srgbClr val="007D9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 | 数据与标注"/>
            <p:cNvSpPr txBox="1"/>
            <p:nvPr/>
          </p:nvSpPr>
          <p:spPr>
            <a:xfrm>
              <a:off x="9455150" y="2350834"/>
              <a:ext cx="2120900" cy="300990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0" lang="zh-CN">
                  <a:solidFill>
                    <a:srgbClr val="082D48"/>
                  </a:solidFill>
                  <a:latin typeface="Arial"/>
                  <a:ea typeface="SimHei"/>
                </a:rPr>
                <a:t>数据与标注</a:t>
              </a:r>
            </a:p>
          </p:txBody>
        </p:sp>
        <p:sp>
          <p:nvSpPr>
            <p:cNvPr id="28" name="Circle | 5"/>
            <p:cNvSpPr/>
            <p:nvPr/>
          </p:nvSpPr>
          <p:spPr>
            <a:xfrm>
              <a:off x="9302750" y="2882900"/>
              <a:ext cx="63500" cy="63500"/>
            </a:xfrm>
            <a:prstGeom prst="ellipse">
              <a:avLst/>
            </a:prstGeom>
            <a:solidFill>
              <a:srgbClr val="007D9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 | 模型训练"/>
            <p:cNvSpPr txBox="1"/>
            <p:nvPr/>
          </p:nvSpPr>
          <p:spPr>
            <a:xfrm>
              <a:off x="9455150" y="2820734"/>
              <a:ext cx="2120900" cy="300990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0" lang="zh-CN">
                  <a:solidFill>
                    <a:srgbClr val="082D48"/>
                  </a:solidFill>
                  <a:latin typeface="Arial"/>
                  <a:ea typeface="SimHei"/>
                </a:rPr>
                <a:t>模型训练</a:t>
              </a:r>
            </a:p>
          </p:txBody>
        </p:sp>
        <p:sp>
          <p:nvSpPr>
            <p:cNvPr id="30" name="Circle | 6"/>
            <p:cNvSpPr/>
            <p:nvPr/>
          </p:nvSpPr>
          <p:spPr>
            <a:xfrm>
              <a:off x="9302750" y="3352800"/>
              <a:ext cx="63500" cy="63500"/>
            </a:xfrm>
            <a:prstGeom prst="ellipse">
              <a:avLst/>
            </a:prstGeom>
            <a:solidFill>
              <a:srgbClr val="007D9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 | 验证与发布"/>
            <p:cNvSpPr txBox="1"/>
            <p:nvPr/>
          </p:nvSpPr>
          <p:spPr>
            <a:xfrm>
              <a:off x="9455150" y="3290634"/>
              <a:ext cx="2120900" cy="300990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0" lang="zh-CN">
                  <a:solidFill>
                    <a:srgbClr val="082D48"/>
                  </a:solidFill>
                  <a:latin typeface="Arial"/>
                  <a:ea typeface="SimHei"/>
                </a:rPr>
                <a:t>验证与发布</a:t>
              </a:r>
            </a:p>
          </p:txBody>
        </p:sp>
        <p:sp>
          <p:nvSpPr>
            <p:cNvPr id="32" name="Text | 把工业图像沉淀为可验证、可交付的模型"/>
            <p:cNvSpPr txBox="1"/>
            <p:nvPr/>
          </p:nvSpPr>
          <p:spPr>
            <a:xfrm>
              <a:off x="6546850" y="4056316"/>
              <a:ext cx="50165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lang="zh-CN">
                  <a:solidFill>
                    <a:srgbClr val="4C6B83"/>
                  </a:solidFill>
                  <a:latin typeface="Arial"/>
                  <a:ea typeface="SimHei"/>
                </a:rPr>
                <a:t>把工业图像沉淀为可验证、可交付的模型</a:t>
              </a:r>
            </a:p>
          </p:txBody>
        </p:sp>
      </p:grpSp>
      <p:sp>
        <p:nvSpPr>
          <p:cNvPr id="33" name="Text | 样本"/>
          <p:cNvSpPr txBox="1"/>
          <p:nvPr/>
        </p:nvSpPr>
        <p:spPr>
          <a:xfrm>
            <a:off x="5873750" y="2449004"/>
            <a:ext cx="444500" cy="190627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>
              <a:lnSpc>
                <a:spcPts val="1168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7D9D"/>
                </a:solidFill>
                <a:latin typeface="Arial"/>
                <a:ea typeface="SimHei"/>
              </a:rPr>
              <a:t>样本</a:t>
            </a:r>
          </a:p>
        </p:txBody>
      </p:sp>
      <p:cxnSp>
        <p:nvCxnSpPr>
          <p:cNvPr id="34" name="Connector | 2"/>
          <p:cNvCxnSpPr/>
          <p:nvPr/>
        </p:nvCxnSpPr>
        <p:spPr>
          <a:xfrm>
            <a:off x="5924550" y="2686050"/>
            <a:ext cx="336550" cy="0"/>
          </a:xfrm>
          <a:prstGeom prst="line">
            <a:avLst/>
          </a:prstGeom>
          <a:ln w="15875" cap="rnd">
            <a:solidFill>
              <a:srgbClr val="007D9D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 | 模型包"/>
          <p:cNvSpPr txBox="1"/>
          <p:nvPr/>
        </p:nvSpPr>
        <p:spPr>
          <a:xfrm>
            <a:off x="5873750" y="3103054"/>
            <a:ext cx="444500" cy="190627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>
              <a:lnSpc>
                <a:spcPts val="1168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87F79"/>
                </a:solidFill>
                <a:latin typeface="Arial"/>
                <a:ea typeface="SimHei"/>
              </a:rPr>
              <a:t>模型包</a:t>
            </a:r>
          </a:p>
        </p:txBody>
      </p:sp>
      <p:cxnSp>
        <p:nvCxnSpPr>
          <p:cNvPr id="36" name="Connector | 3"/>
          <p:cNvCxnSpPr/>
          <p:nvPr/>
        </p:nvCxnSpPr>
        <p:spPr>
          <a:xfrm flipH="1">
            <a:off x="5924550" y="3340100"/>
            <a:ext cx="336550" cy="0"/>
          </a:xfrm>
          <a:prstGeom prst="line">
            <a:avLst/>
          </a:prstGeom>
          <a:ln w="15875" cap="rnd">
            <a:solidFill>
              <a:srgbClr val="087F79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Panel | 4"/>
          <p:cNvSpPr/>
          <p:nvPr/>
        </p:nvSpPr>
        <p:spPr>
          <a:xfrm>
            <a:off x="406400" y="4692650"/>
            <a:ext cx="11379200" cy="406400"/>
          </a:xfrm>
          <a:prstGeom prst="roundRect">
            <a:avLst>
              <a:gd name="adj" fmla="val 21875"/>
            </a:avLst>
          </a:prstGeom>
          <a:solidFill>
            <a:srgbClr val="E9F1FC"/>
          </a:solidFill>
          <a:ln w="6350" cap="rnd">
            <a:solidFill>
              <a:srgbClr val="C6D8EB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 | 共同方法：明确目标 → 设计实现 → 适配验证 → 标准交付"/>
          <p:cNvSpPr txBox="1"/>
          <p:nvPr/>
        </p:nvSpPr>
        <p:spPr>
          <a:xfrm>
            <a:off x="635000" y="4801044"/>
            <a:ext cx="10922000" cy="290957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lang="zh-CN">
                <a:solidFill>
                  <a:srgbClr val="007D9D"/>
                </a:solidFill>
                <a:latin typeface="Arial"/>
                <a:ea typeface="SimHei"/>
              </a:rPr>
              <a:t>共同方法：明确目标 → 设计实现 → 适配验证 → 标准交付</a:t>
            </a:r>
          </a:p>
        </p:txBody>
      </p:sp>
      <p:grpSp>
        <p:nvGrpSpPr>
          <p:cNvPr id="39" name="Node | 检测"/>
          <p:cNvGrpSpPr/>
          <p:nvPr/>
        </p:nvGrpSpPr>
        <p:grpSpPr>
          <a:xfrm>
            <a:off x="406400" y="5321300"/>
            <a:ext cx="3670300" cy="971550"/>
            <a:chOff x="406400" y="5321300"/>
            <a:chExt cx="3670300" cy="971550"/>
          </a:xfrm>
        </p:grpSpPr>
        <p:sp>
          <p:nvSpPr>
            <p:cNvPr id="40" name="Panel | 5"/>
            <p:cNvSpPr/>
            <p:nvPr/>
          </p:nvSpPr>
          <p:spPr>
            <a:xfrm>
              <a:off x="406400" y="5321300"/>
              <a:ext cx="3670300" cy="97155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1" name="Picture | Independent image" descr="9d8a396ed4272854fb93ae8fa019b1c482371fd2a5043a2fbf37b1757aef0d47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9900" y="5422900"/>
              <a:ext cx="838200" cy="768350"/>
            </a:xfrm>
            <a:prstGeom prst="rect">
              <a:avLst/>
            </a:prstGeom>
          </p:spPr>
        </p:pic>
        <p:sp>
          <p:nvSpPr>
            <p:cNvPr id="42" name="Text | 检测"/>
            <p:cNvSpPr txBox="1"/>
            <p:nvPr/>
          </p:nvSpPr>
          <p:spPr>
            <a:xfrm>
              <a:off x="1390650" y="5486844"/>
              <a:ext cx="254635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082D48"/>
                  </a:solidFill>
                  <a:latin typeface="Arial"/>
                  <a:ea typeface="SimHei"/>
                </a:rPr>
                <a:t>检测</a:t>
              </a:r>
            </a:p>
          </p:txBody>
        </p:sp>
        <p:sp>
          <p:nvSpPr>
            <p:cNvPr id="43" name="Text | 缺陷位置 · 类型 · 判定"/>
            <p:cNvSpPr txBox="1"/>
            <p:nvPr/>
          </p:nvSpPr>
          <p:spPr>
            <a:xfrm>
              <a:off x="1390650" y="5812600"/>
              <a:ext cx="25463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4C6B83"/>
                  </a:solidFill>
                  <a:latin typeface="Arial"/>
                  <a:ea typeface="SimHei"/>
                </a:rPr>
                <a:t>缺陷位置 · 类型 · 判定</a:t>
              </a:r>
            </a:p>
          </p:txBody>
        </p:sp>
      </p:grpSp>
      <p:grpSp>
        <p:nvGrpSpPr>
          <p:cNvPr id="44" name="Node | 测量"/>
          <p:cNvGrpSpPr/>
          <p:nvPr/>
        </p:nvGrpSpPr>
        <p:grpSpPr>
          <a:xfrm>
            <a:off x="4260850" y="5321300"/>
            <a:ext cx="3670300" cy="971550"/>
            <a:chOff x="4260850" y="5321300"/>
            <a:chExt cx="3670300" cy="971550"/>
          </a:xfrm>
        </p:grpSpPr>
        <p:sp>
          <p:nvSpPr>
            <p:cNvPr id="45" name="Panel | 6"/>
            <p:cNvSpPr/>
            <p:nvPr/>
          </p:nvSpPr>
          <p:spPr>
            <a:xfrm>
              <a:off x="4260850" y="5321300"/>
              <a:ext cx="3670300" cy="97155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6" name="Picture | Independent image" descr="938386b544cc3dcea0cd3895eb322acc6b99443d97c62c56d09096f190c4de0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324350" y="5422900"/>
              <a:ext cx="838200" cy="768350"/>
            </a:xfrm>
            <a:prstGeom prst="rect">
              <a:avLst/>
            </a:prstGeom>
          </p:spPr>
        </p:pic>
        <p:sp>
          <p:nvSpPr>
            <p:cNvPr id="47" name="Text | 测量"/>
            <p:cNvSpPr txBox="1"/>
            <p:nvPr/>
          </p:nvSpPr>
          <p:spPr>
            <a:xfrm>
              <a:off x="5245100" y="5486844"/>
              <a:ext cx="254635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082D48"/>
                  </a:solidFill>
                  <a:latin typeface="Arial"/>
                  <a:ea typeface="SimHei"/>
                </a:rPr>
                <a:t>测量</a:t>
              </a:r>
            </a:p>
          </p:txBody>
        </p:sp>
        <p:sp>
          <p:nvSpPr>
            <p:cNvPr id="48" name="Text | 尺寸 · 高度 · 几何指标"/>
            <p:cNvSpPr txBox="1"/>
            <p:nvPr/>
          </p:nvSpPr>
          <p:spPr>
            <a:xfrm>
              <a:off x="5245100" y="5812600"/>
              <a:ext cx="25463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4C6B83"/>
                  </a:solidFill>
                  <a:latin typeface="Arial"/>
                  <a:ea typeface="SimHei"/>
                </a:rPr>
                <a:t>尺寸 · 高度 · 几何指标</a:t>
              </a:r>
            </a:p>
          </p:txBody>
        </p:sp>
      </p:grpSp>
      <p:grpSp>
        <p:nvGrpSpPr>
          <p:cNvPr id="49" name="Node | 可追溯交付"/>
          <p:cNvGrpSpPr/>
          <p:nvPr/>
        </p:nvGrpSpPr>
        <p:grpSpPr>
          <a:xfrm>
            <a:off x="8115300" y="5321300"/>
            <a:ext cx="3670300" cy="971550"/>
            <a:chOff x="8115300" y="5321300"/>
            <a:chExt cx="3670300" cy="971550"/>
          </a:xfrm>
        </p:grpSpPr>
        <p:sp>
          <p:nvSpPr>
            <p:cNvPr id="50" name="Panel | 7"/>
            <p:cNvSpPr/>
            <p:nvPr/>
          </p:nvSpPr>
          <p:spPr>
            <a:xfrm>
              <a:off x="8115300" y="5321300"/>
              <a:ext cx="3670300" cy="97155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1" name="Picture | Independent image" descr="7c3bcb38bbd7e2e2c643083a079a2905b3d45de7da56f071c27b404acc55d820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178800" y="5422900"/>
              <a:ext cx="838200" cy="768350"/>
            </a:xfrm>
            <a:prstGeom prst="rect">
              <a:avLst/>
            </a:prstGeom>
          </p:spPr>
        </p:pic>
        <p:sp>
          <p:nvSpPr>
            <p:cNvPr id="52" name="Text | 可追溯交付"/>
            <p:cNvSpPr txBox="1"/>
            <p:nvPr/>
          </p:nvSpPr>
          <p:spPr>
            <a:xfrm>
              <a:off x="9099550" y="5486844"/>
              <a:ext cx="254635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082D48"/>
                  </a:solidFill>
                  <a:latin typeface="Arial"/>
                  <a:ea typeface="SimHei"/>
                </a:rPr>
                <a:t>可追溯交付</a:t>
              </a:r>
            </a:p>
          </p:txBody>
        </p:sp>
        <p:sp>
          <p:nvSpPr>
            <p:cNvPr id="53" name="Text | 配置 · 版本 · 验收结果"/>
            <p:cNvSpPr txBox="1"/>
            <p:nvPr/>
          </p:nvSpPr>
          <p:spPr>
            <a:xfrm>
              <a:off x="9099550" y="5812600"/>
              <a:ext cx="25463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4C6B83"/>
                  </a:solidFill>
                  <a:latin typeface="Arial"/>
                  <a:ea typeface="SimHei"/>
                </a:rPr>
                <a:t>配置 · 版本 · 验收结果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007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 | 第 01 章 / 总体概念与建设目的"/>
          <p:cNvSpPr txBox="1"/>
          <p:nvPr/>
        </p:nvSpPr>
        <p:spPr>
          <a:xfrm>
            <a:off x="546100" y="363410"/>
            <a:ext cx="9525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4C6B83"/>
                </a:solidFill>
                <a:latin typeface="Arial"/>
                <a:ea typeface="SimHei"/>
              </a:rPr>
              <a:t>第 01 章 / 总体概念与建设目的</a:t>
            </a:r>
          </a:p>
        </p:txBody>
      </p:sp>
      <p:pic>
        <p:nvPicPr>
          <p:cNvPr id="4" name="Picture | Independent image" descr="139ef02520a55c1aaee95c1d6e7f5f730beac004ebb72c9c012b0f76513ab8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sp>
        <p:nvSpPr>
          <p:cNvPr id="5" name="Text | 为什么要建立统一的工程方法"/>
          <p:cNvSpPr txBox="1"/>
          <p:nvPr/>
        </p:nvSpPr>
        <p:spPr>
          <a:xfrm>
            <a:off x="406400" y="616014"/>
            <a:ext cx="11303000" cy="571881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5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zh-CN">
                <a:solidFill>
                  <a:srgbClr val="082D48"/>
                </a:solidFill>
                <a:latin typeface="Arial"/>
                <a:ea typeface="SimHei"/>
              </a:rPr>
              <a:t>为什么要建立统一的工程方法</a:t>
            </a:r>
          </a:p>
        </p:txBody>
      </p:sp>
      <p:sp>
        <p:nvSpPr>
          <p:cNvPr id="6" name="Text | 让参与者知道每一步需要什么、交付什么，以及如何判断完成"/>
          <p:cNvSpPr txBox="1"/>
          <p:nvPr/>
        </p:nvSpPr>
        <p:spPr>
          <a:xfrm>
            <a:off x="425450" y="1072706"/>
            <a:ext cx="112395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4C6B83"/>
                </a:solidFill>
                <a:latin typeface="Arial"/>
                <a:ea typeface="SimHei"/>
              </a:rPr>
              <a:t>让参与者知道每一步需要什么、交付什么，以及如何判断完成</a:t>
            </a:r>
          </a:p>
        </p:txBody>
      </p:sp>
      <p:cxnSp>
        <p:nvCxnSpPr>
          <p:cNvPr id="7" name="Connector | 1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C6D8E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| SwiftFlow + HawkeyePlus  |  Industrial Vision Engineering"/>
          <p:cNvSpPr txBox="1"/>
          <p:nvPr/>
        </p:nvSpPr>
        <p:spPr>
          <a:xfrm>
            <a:off x="412750" y="6607238"/>
            <a:ext cx="825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SwiftFlow + HawkeyePlus  |  Industrial Vision Engineering</a:t>
            </a:r>
          </a:p>
        </p:txBody>
      </p:sp>
      <p:sp>
        <p:nvSpPr>
          <p:cNvPr id="9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4C6B83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10" name="Text | 05 / 20"/>
          <p:cNvSpPr txBox="1"/>
          <p:nvPr/>
        </p:nvSpPr>
        <p:spPr>
          <a:xfrm>
            <a:off x="11137900" y="6607238"/>
            <a:ext cx="63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05 / 20</a:t>
            </a:r>
          </a:p>
        </p:txBody>
      </p:sp>
      <p:grpSp>
        <p:nvGrpSpPr>
          <p:cNvPr id="11" name="Node | 减少衔接歧义"/>
          <p:cNvGrpSpPr/>
          <p:nvPr/>
        </p:nvGrpSpPr>
        <p:grpSpPr>
          <a:xfrm>
            <a:off x="406400" y="1536700"/>
            <a:ext cx="3670300" cy="3829050"/>
            <a:chOff x="406400" y="1536700"/>
            <a:chExt cx="3670300" cy="3829050"/>
          </a:xfrm>
        </p:grpSpPr>
        <p:sp>
          <p:nvSpPr>
            <p:cNvPr id="12" name="Panel | 2"/>
            <p:cNvSpPr/>
            <p:nvPr/>
          </p:nvSpPr>
          <p:spPr>
            <a:xfrm>
              <a:off x="406400" y="1536700"/>
              <a:ext cx="3670300" cy="3829050"/>
            </a:xfrm>
            <a:prstGeom prst="roundRect">
              <a:avLst>
                <a:gd name="adj" fmla="val 3806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 | 减少衔接歧义"/>
            <p:cNvSpPr txBox="1"/>
            <p:nvPr/>
          </p:nvSpPr>
          <p:spPr>
            <a:xfrm>
              <a:off x="584200" y="1686814"/>
              <a:ext cx="3314700" cy="33108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02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0" b="1" lang="zh-CN">
                  <a:solidFill>
                    <a:srgbClr val="082D48"/>
                  </a:solidFill>
                  <a:latin typeface="Arial"/>
                  <a:ea typeface="SimHei"/>
                </a:rPr>
                <a:t>减少衔接歧义</a:t>
              </a:r>
            </a:p>
          </p:txBody>
        </p:sp>
        <p:pic>
          <p:nvPicPr>
            <p:cNvPr id="14" name="Picture | Independent image" descr="085782651a052b950f6c4aa546074ea7e352e9df9e9ba1e1d1a63e6cbbeeaac3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06814" y="2000250"/>
              <a:ext cx="1669473" cy="1530350"/>
            </a:xfrm>
            <a:prstGeom prst="rect">
              <a:avLst/>
            </a:prstGeom>
          </p:spPr>
        </p:pic>
        <p:sp>
          <p:nvSpPr>
            <p:cNvPr id="15" name="Text | 硬件、成像与算法各有约束"/>
            <p:cNvSpPr txBox="1"/>
            <p:nvPr/>
          </p:nvSpPr>
          <p:spPr>
            <a:xfrm>
              <a:off x="603250" y="3629088"/>
              <a:ext cx="3276600" cy="25082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3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 b="0" lang="zh-CN">
                  <a:solidFill>
                    <a:srgbClr val="4C6B83"/>
                  </a:solidFill>
                  <a:latin typeface="Arial"/>
                  <a:ea typeface="SimHei"/>
                </a:rPr>
                <a:t>硬件、成像与算法各有约束</a:t>
              </a:r>
            </a:p>
          </p:txBody>
        </p:sp>
        <p:cxnSp>
          <p:nvCxnSpPr>
            <p:cNvPr id="16" name="Connector | 2"/>
            <p:cNvCxnSpPr/>
            <p:nvPr/>
          </p:nvCxnSpPr>
          <p:spPr>
            <a:xfrm>
              <a:off x="584200" y="3956050"/>
              <a:ext cx="3314700" cy="0"/>
            </a:xfrm>
            <a:prstGeom prst="line">
              <a:avLst/>
            </a:prstGeom>
            <a:ln w="6350" cap="rnd">
              <a:solidFill>
                <a:srgbClr val="C6D8E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 | 统一设计输入"/>
            <p:cNvSpPr txBox="1"/>
            <p:nvPr/>
          </p:nvSpPr>
          <p:spPr>
            <a:xfrm>
              <a:off x="584200" y="4104322"/>
              <a:ext cx="3302000" cy="311023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0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lang="zh-CN">
                  <a:solidFill>
                    <a:srgbClr val="007D9D"/>
                  </a:solidFill>
                  <a:latin typeface="Arial"/>
                  <a:ea typeface="SimHei"/>
                </a:rPr>
                <a:t>统一设计输入</a:t>
              </a:r>
            </a:p>
          </p:txBody>
        </p:sp>
        <p:sp>
          <p:nvSpPr>
            <p:cNvPr id="18" name="Circle | 1"/>
            <p:cNvSpPr/>
            <p:nvPr/>
          </p:nvSpPr>
          <p:spPr>
            <a:xfrm>
              <a:off x="584200" y="4546600"/>
              <a:ext cx="50800" cy="50800"/>
            </a:xfrm>
            <a:prstGeom prst="ellipse">
              <a:avLst/>
            </a:prstGeom>
            <a:solidFill>
              <a:srgbClr val="087F7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 | 检测 / 测量目标"/>
            <p:cNvSpPr txBox="1"/>
            <p:nvPr/>
          </p:nvSpPr>
          <p:spPr>
            <a:xfrm>
              <a:off x="717550" y="4494466"/>
              <a:ext cx="318135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lang="zh-CN">
                  <a:solidFill>
                    <a:srgbClr val="082D48"/>
                  </a:solidFill>
                  <a:latin typeface="Arial"/>
                  <a:ea typeface="SimHei"/>
                </a:rPr>
                <a:t>检测 / 测量目标</a:t>
              </a:r>
            </a:p>
          </p:txBody>
        </p:sp>
        <p:sp>
          <p:nvSpPr>
            <p:cNvPr id="20" name="Circle | 2"/>
            <p:cNvSpPr/>
            <p:nvPr/>
          </p:nvSpPr>
          <p:spPr>
            <a:xfrm>
              <a:off x="584200" y="4940300"/>
              <a:ext cx="50800" cy="50800"/>
            </a:xfrm>
            <a:prstGeom prst="ellipse">
              <a:avLst/>
            </a:prstGeom>
            <a:solidFill>
              <a:srgbClr val="087F7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 | 成像质量与标定要求"/>
            <p:cNvSpPr txBox="1"/>
            <p:nvPr/>
          </p:nvSpPr>
          <p:spPr>
            <a:xfrm>
              <a:off x="717550" y="4888166"/>
              <a:ext cx="318135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lang="zh-CN">
                  <a:solidFill>
                    <a:srgbClr val="082D48"/>
                  </a:solidFill>
                  <a:latin typeface="Arial"/>
                  <a:ea typeface="SimHei"/>
                </a:rPr>
                <a:t>成像质量与标定要求</a:t>
              </a:r>
            </a:p>
          </p:txBody>
        </p:sp>
      </p:grpSp>
      <p:grpSp>
        <p:nvGrpSpPr>
          <p:cNvPr id="22" name="Node | 减少重复搭建"/>
          <p:cNvGrpSpPr/>
          <p:nvPr/>
        </p:nvGrpSpPr>
        <p:grpSpPr>
          <a:xfrm>
            <a:off x="4260850" y="1536700"/>
            <a:ext cx="3670300" cy="3829050"/>
            <a:chOff x="4260850" y="1536700"/>
            <a:chExt cx="3670300" cy="3829050"/>
          </a:xfrm>
        </p:grpSpPr>
        <p:sp>
          <p:nvSpPr>
            <p:cNvPr id="23" name="Panel | 3"/>
            <p:cNvSpPr/>
            <p:nvPr/>
          </p:nvSpPr>
          <p:spPr>
            <a:xfrm>
              <a:off x="4260850" y="1536700"/>
              <a:ext cx="3670300" cy="3829050"/>
            </a:xfrm>
            <a:prstGeom prst="roundRect">
              <a:avLst>
                <a:gd name="adj" fmla="val 3806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 | 减少重复搭建"/>
            <p:cNvSpPr txBox="1"/>
            <p:nvPr/>
          </p:nvSpPr>
          <p:spPr>
            <a:xfrm>
              <a:off x="4438650" y="1686814"/>
              <a:ext cx="3314700" cy="33108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02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0" b="1" lang="zh-CN">
                  <a:solidFill>
                    <a:srgbClr val="082D48"/>
                  </a:solidFill>
                  <a:latin typeface="Arial"/>
                  <a:ea typeface="SimHei"/>
                </a:rPr>
                <a:t>减少重复搭建</a:t>
              </a:r>
            </a:p>
          </p:txBody>
        </p:sp>
        <p:pic>
          <p:nvPicPr>
            <p:cNvPr id="25" name="Picture | Independent image" descr="d235d7460685fbce7c25a12631d1439d4d6219b6901e988eaac07fae35a8f6f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61264" y="2000250"/>
              <a:ext cx="1669473" cy="1530350"/>
            </a:xfrm>
            <a:prstGeom prst="rect">
              <a:avLst/>
            </a:prstGeom>
          </p:spPr>
        </p:pic>
        <p:sp>
          <p:nvSpPr>
            <p:cNvPr id="26" name="Text | 成熟经验应成为可复用资产"/>
            <p:cNvSpPr txBox="1"/>
            <p:nvPr/>
          </p:nvSpPr>
          <p:spPr>
            <a:xfrm>
              <a:off x="4457700" y="3629088"/>
              <a:ext cx="3276600" cy="25082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3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 b="0" lang="zh-CN">
                  <a:solidFill>
                    <a:srgbClr val="4C6B83"/>
                  </a:solidFill>
                  <a:latin typeface="Arial"/>
                  <a:ea typeface="SimHei"/>
                </a:rPr>
                <a:t>成熟经验应成为可复用资产</a:t>
              </a:r>
            </a:p>
          </p:txBody>
        </p:sp>
        <p:cxnSp>
          <p:nvCxnSpPr>
            <p:cNvPr id="27" name="Connector | 3"/>
            <p:cNvCxnSpPr/>
            <p:nvPr/>
          </p:nvCxnSpPr>
          <p:spPr>
            <a:xfrm>
              <a:off x="4438650" y="3956050"/>
              <a:ext cx="3314700" cy="0"/>
            </a:xfrm>
            <a:prstGeom prst="line">
              <a:avLst/>
            </a:prstGeom>
            <a:ln w="6350" cap="rnd">
              <a:solidFill>
                <a:srgbClr val="C6D8E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 | 统一交付资产"/>
            <p:cNvSpPr txBox="1"/>
            <p:nvPr/>
          </p:nvSpPr>
          <p:spPr>
            <a:xfrm>
              <a:off x="4438650" y="4104322"/>
              <a:ext cx="3302000" cy="311023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0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lang="zh-CN">
                  <a:solidFill>
                    <a:srgbClr val="007D9D"/>
                  </a:solidFill>
                  <a:latin typeface="Arial"/>
                  <a:ea typeface="SimHei"/>
                </a:rPr>
                <a:t>统一交付资产</a:t>
              </a:r>
            </a:p>
          </p:txBody>
        </p:sp>
        <p:sp>
          <p:nvSpPr>
            <p:cNvPr id="29" name="Circle | 3"/>
            <p:cNvSpPr/>
            <p:nvPr/>
          </p:nvSpPr>
          <p:spPr>
            <a:xfrm>
              <a:off x="4438650" y="4546600"/>
              <a:ext cx="50800" cy="50800"/>
            </a:xfrm>
            <a:prstGeom prst="ellipse">
              <a:avLst/>
            </a:prstGeom>
            <a:solidFill>
              <a:srgbClr val="087F7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 | 设备与流程配置"/>
            <p:cNvSpPr txBox="1"/>
            <p:nvPr/>
          </p:nvSpPr>
          <p:spPr>
            <a:xfrm>
              <a:off x="4572000" y="4494466"/>
              <a:ext cx="318135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lang="zh-CN">
                  <a:solidFill>
                    <a:srgbClr val="082D48"/>
                  </a:solidFill>
                  <a:latin typeface="Arial"/>
                  <a:ea typeface="SimHei"/>
                </a:rPr>
                <a:t>设备与流程配置</a:t>
              </a:r>
            </a:p>
          </p:txBody>
        </p:sp>
        <p:sp>
          <p:nvSpPr>
            <p:cNvPr id="31" name="Circle | 4"/>
            <p:cNvSpPr/>
            <p:nvPr/>
          </p:nvSpPr>
          <p:spPr>
            <a:xfrm>
              <a:off x="4438650" y="4940300"/>
              <a:ext cx="50800" cy="50800"/>
            </a:xfrm>
            <a:prstGeom prst="ellipse">
              <a:avLst/>
            </a:prstGeom>
            <a:solidFill>
              <a:srgbClr val="087F7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 | 模型与算法参数"/>
            <p:cNvSpPr txBox="1"/>
            <p:nvPr/>
          </p:nvSpPr>
          <p:spPr>
            <a:xfrm>
              <a:off x="4572000" y="4888166"/>
              <a:ext cx="318135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lang="zh-CN">
                  <a:solidFill>
                    <a:srgbClr val="082D48"/>
                  </a:solidFill>
                  <a:latin typeface="Arial"/>
                  <a:ea typeface="SimHei"/>
                </a:rPr>
                <a:t>模型与算法参数</a:t>
              </a:r>
            </a:p>
          </p:txBody>
        </p:sp>
      </p:grpSp>
      <p:grpSp>
        <p:nvGrpSpPr>
          <p:cNvPr id="33" name="Node | 减少交付不确定性"/>
          <p:cNvGrpSpPr/>
          <p:nvPr/>
        </p:nvGrpSpPr>
        <p:grpSpPr>
          <a:xfrm>
            <a:off x="8115300" y="1536700"/>
            <a:ext cx="3670300" cy="3829050"/>
            <a:chOff x="8115300" y="1536700"/>
            <a:chExt cx="3670300" cy="3829050"/>
          </a:xfrm>
        </p:grpSpPr>
        <p:sp>
          <p:nvSpPr>
            <p:cNvPr id="34" name="Panel | 4"/>
            <p:cNvSpPr/>
            <p:nvPr/>
          </p:nvSpPr>
          <p:spPr>
            <a:xfrm>
              <a:off x="8115300" y="1536700"/>
              <a:ext cx="3670300" cy="3829050"/>
            </a:xfrm>
            <a:prstGeom prst="roundRect">
              <a:avLst>
                <a:gd name="adj" fmla="val 3806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 | 减少交付不确定性"/>
            <p:cNvSpPr txBox="1"/>
            <p:nvPr/>
          </p:nvSpPr>
          <p:spPr>
            <a:xfrm>
              <a:off x="8293100" y="1686814"/>
              <a:ext cx="3314700" cy="33108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02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0" b="1" lang="zh-CN">
                  <a:solidFill>
                    <a:srgbClr val="082D48"/>
                  </a:solidFill>
                  <a:latin typeface="Arial"/>
                  <a:ea typeface="SimHei"/>
                </a:rPr>
                <a:t>减少交付不确定性</a:t>
              </a:r>
            </a:p>
          </p:txBody>
        </p:sp>
        <p:pic>
          <p:nvPicPr>
            <p:cNvPr id="36" name="Picture | Independent image" descr="8724be1c571d7951e3224ef9c59a82f3745f377f3c70e7de67150b9fc71ffc17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115714" y="2000250"/>
              <a:ext cx="1669473" cy="1530350"/>
            </a:xfrm>
            <a:prstGeom prst="rect">
              <a:avLst/>
            </a:prstGeom>
          </p:spPr>
        </p:pic>
        <p:sp>
          <p:nvSpPr>
            <p:cNvPr id="37" name="Text | 研发效果需要在现场条件下复现"/>
            <p:cNvSpPr txBox="1"/>
            <p:nvPr/>
          </p:nvSpPr>
          <p:spPr>
            <a:xfrm>
              <a:off x="8312150" y="3629088"/>
              <a:ext cx="3276600" cy="25082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3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 b="0" lang="zh-CN">
                  <a:solidFill>
                    <a:srgbClr val="4C6B83"/>
                  </a:solidFill>
                  <a:latin typeface="Arial"/>
                  <a:ea typeface="SimHei"/>
                </a:rPr>
                <a:t>研发效果需要在现场条件下复现</a:t>
              </a:r>
            </a:p>
          </p:txBody>
        </p:sp>
        <p:cxnSp>
          <p:nvCxnSpPr>
            <p:cNvPr id="38" name="Connector | 4"/>
            <p:cNvCxnSpPr/>
            <p:nvPr/>
          </p:nvCxnSpPr>
          <p:spPr>
            <a:xfrm>
              <a:off x="8293100" y="3956050"/>
              <a:ext cx="3314700" cy="0"/>
            </a:xfrm>
            <a:prstGeom prst="line">
              <a:avLst/>
            </a:prstGeom>
            <a:ln w="6350" cap="rnd">
              <a:solidFill>
                <a:srgbClr val="C6D8E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 | 统一验收口径"/>
            <p:cNvSpPr txBox="1"/>
            <p:nvPr/>
          </p:nvSpPr>
          <p:spPr>
            <a:xfrm>
              <a:off x="8293100" y="4104322"/>
              <a:ext cx="3302000" cy="311023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0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lang="zh-CN">
                  <a:solidFill>
                    <a:srgbClr val="007D9D"/>
                  </a:solidFill>
                  <a:latin typeface="Arial"/>
                  <a:ea typeface="SimHei"/>
                </a:rPr>
                <a:t>统一验收口径</a:t>
              </a:r>
            </a:p>
          </p:txBody>
        </p:sp>
        <p:sp>
          <p:nvSpPr>
            <p:cNvPr id="40" name="Circle | 5"/>
            <p:cNvSpPr/>
            <p:nvPr/>
          </p:nvSpPr>
          <p:spPr>
            <a:xfrm>
              <a:off x="8293100" y="4546600"/>
              <a:ext cx="50800" cy="50800"/>
            </a:xfrm>
            <a:prstGeom prst="ellipse">
              <a:avLst/>
            </a:prstGeom>
            <a:solidFill>
              <a:srgbClr val="087F7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 | 独立样本与参考结果"/>
            <p:cNvSpPr txBox="1"/>
            <p:nvPr/>
          </p:nvSpPr>
          <p:spPr>
            <a:xfrm>
              <a:off x="8426450" y="4494466"/>
              <a:ext cx="318135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lang="zh-CN">
                  <a:solidFill>
                    <a:srgbClr val="082D48"/>
                  </a:solidFill>
                  <a:latin typeface="Arial"/>
                  <a:ea typeface="SimHei"/>
                </a:rPr>
                <a:t>独立样本与参考结果</a:t>
              </a:r>
            </a:p>
          </p:txBody>
        </p:sp>
        <p:sp>
          <p:nvSpPr>
            <p:cNvPr id="42" name="Circle | 6"/>
            <p:cNvSpPr/>
            <p:nvPr/>
          </p:nvSpPr>
          <p:spPr>
            <a:xfrm>
              <a:off x="8293100" y="4940300"/>
              <a:ext cx="50800" cy="50800"/>
            </a:xfrm>
            <a:prstGeom prst="ellipse">
              <a:avLst/>
            </a:prstGeom>
            <a:solidFill>
              <a:srgbClr val="087F7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 | 效果、节拍与结果留痕"/>
            <p:cNvSpPr txBox="1"/>
            <p:nvPr/>
          </p:nvSpPr>
          <p:spPr>
            <a:xfrm>
              <a:off x="8426450" y="4888166"/>
              <a:ext cx="318135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lang="zh-CN">
                  <a:solidFill>
                    <a:srgbClr val="082D48"/>
                  </a:solidFill>
                  <a:latin typeface="Arial"/>
                  <a:ea typeface="SimHei"/>
                </a:rPr>
                <a:t>效果、节拍与结果留痕</a:t>
              </a:r>
            </a:p>
          </p:txBody>
        </p:sp>
      </p:grpSp>
      <p:sp>
        <p:nvSpPr>
          <p:cNvPr id="44" name="Panel | 5"/>
          <p:cNvSpPr/>
          <p:nvPr/>
        </p:nvSpPr>
        <p:spPr>
          <a:xfrm>
            <a:off x="406400" y="5607050"/>
            <a:ext cx="11379200" cy="685800"/>
          </a:xfrm>
          <a:prstGeom prst="roundRect">
            <a:avLst>
              <a:gd name="adj" fmla="val 15740"/>
            </a:avLst>
          </a:prstGeom>
          <a:solidFill>
            <a:srgbClr val="E9F1FC"/>
          </a:solidFill>
          <a:ln w="6350" cap="rnd">
            <a:solidFill>
              <a:srgbClr val="C6D8EB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 | 标准化的价值：让项目交接、方案复用与后续维护有共同依据"/>
          <p:cNvSpPr txBox="1"/>
          <p:nvPr/>
        </p:nvSpPr>
        <p:spPr>
          <a:xfrm>
            <a:off x="666750" y="5705475"/>
            <a:ext cx="10858500" cy="321056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zh-CN">
                <a:solidFill>
                  <a:srgbClr val="087F79"/>
                </a:solidFill>
                <a:latin typeface="Arial"/>
                <a:ea typeface="SimHei"/>
              </a:rPr>
              <a:t>标准化的价值：让项目交接、方案复用与后续维护有共同依据</a:t>
            </a:r>
          </a:p>
        </p:txBody>
      </p:sp>
      <p:sp>
        <p:nvSpPr>
          <p:cNvPr id="46" name="Text | 形成工程方法与交付约定，再由两个平台承载具体能力"/>
          <p:cNvSpPr txBox="1"/>
          <p:nvPr/>
        </p:nvSpPr>
        <p:spPr>
          <a:xfrm>
            <a:off x="666750" y="6017578"/>
            <a:ext cx="10858500" cy="26085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>
              <a:lnSpc>
                <a:spcPts val="1599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4C6B83"/>
                </a:solidFill>
                <a:latin typeface="Arial"/>
                <a:ea typeface="SimHei"/>
              </a:rPr>
              <a:t>形成工程方法与交付约定，再由两个平台承载具体能力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007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 | 第 01 章 / 总体概念与建设目的"/>
          <p:cNvSpPr txBox="1"/>
          <p:nvPr/>
        </p:nvSpPr>
        <p:spPr>
          <a:xfrm>
            <a:off x="546100" y="363410"/>
            <a:ext cx="9525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4C6B83"/>
                </a:solidFill>
                <a:latin typeface="Arial"/>
                <a:ea typeface="SimHei"/>
              </a:rPr>
              <a:t>第 01 章 / 总体概念与建设目的</a:t>
            </a:r>
          </a:p>
        </p:txBody>
      </p:sp>
      <p:pic>
        <p:nvPicPr>
          <p:cNvPr id="4" name="Picture | Independent image" descr="139ef02520a55c1aaee95c1d6e7f5f730beac004ebb72c9c012b0f76513ab8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sp>
        <p:nvSpPr>
          <p:cNvPr id="5" name="Text | 从工程目标到标准化交付"/>
          <p:cNvSpPr txBox="1"/>
          <p:nvPr/>
        </p:nvSpPr>
        <p:spPr>
          <a:xfrm>
            <a:off x="406400" y="616014"/>
            <a:ext cx="11303000" cy="571881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5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zh-CN">
                <a:solidFill>
                  <a:srgbClr val="082D48"/>
                </a:solidFill>
                <a:latin typeface="Arial"/>
                <a:ea typeface="SimHei"/>
              </a:rPr>
              <a:t>从工程目标到标准化交付</a:t>
            </a:r>
          </a:p>
        </p:txBody>
      </p:sp>
      <p:sp>
        <p:nvSpPr>
          <p:cNvPr id="6" name="Text | 推荐标准流程：每一步都有明确输入、负责内容和可检查的交付物"/>
          <p:cNvSpPr txBox="1"/>
          <p:nvPr/>
        </p:nvSpPr>
        <p:spPr>
          <a:xfrm>
            <a:off x="425450" y="1072706"/>
            <a:ext cx="112395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4C6B83"/>
                </a:solidFill>
                <a:latin typeface="Arial"/>
                <a:ea typeface="SimHei"/>
              </a:rPr>
              <a:t>推荐标准流程：每一步都有明确输入、负责内容和可检查的交付物</a:t>
            </a:r>
          </a:p>
        </p:txBody>
      </p:sp>
      <p:cxnSp>
        <p:nvCxnSpPr>
          <p:cNvPr id="7" name="Connector | 1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C6D8E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| SwiftFlow + HawkeyePlus  |  Industrial Vision Engineering"/>
          <p:cNvSpPr txBox="1"/>
          <p:nvPr/>
        </p:nvSpPr>
        <p:spPr>
          <a:xfrm>
            <a:off x="412750" y="6607238"/>
            <a:ext cx="825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SwiftFlow + HawkeyePlus  |  Industrial Vision Engineering</a:t>
            </a:r>
          </a:p>
        </p:txBody>
      </p:sp>
      <p:sp>
        <p:nvSpPr>
          <p:cNvPr id="9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4C6B83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10" name="Text | 06 / 20"/>
          <p:cNvSpPr txBox="1"/>
          <p:nvPr/>
        </p:nvSpPr>
        <p:spPr>
          <a:xfrm>
            <a:off x="11137900" y="6607238"/>
            <a:ext cx="63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06 / 20</a:t>
            </a:r>
          </a:p>
        </p:txBody>
      </p:sp>
      <p:grpSp>
        <p:nvGrpSpPr>
          <p:cNvPr id="11" name="Node | 明确目标"/>
          <p:cNvGrpSpPr/>
          <p:nvPr/>
        </p:nvGrpSpPr>
        <p:grpSpPr>
          <a:xfrm>
            <a:off x="406400" y="1555750"/>
            <a:ext cx="1790700" cy="3219450"/>
            <a:chOff x="406400" y="1555750"/>
            <a:chExt cx="1790700" cy="3219450"/>
          </a:xfrm>
        </p:grpSpPr>
        <p:sp>
          <p:nvSpPr>
            <p:cNvPr id="12" name="Panel | 2"/>
            <p:cNvSpPr/>
            <p:nvPr/>
          </p:nvSpPr>
          <p:spPr>
            <a:xfrm>
              <a:off x="406400" y="1555750"/>
              <a:ext cx="1790700" cy="3219450"/>
            </a:xfrm>
            <a:prstGeom prst="roundRect">
              <a:avLst>
                <a:gd name="adj" fmla="val 6382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 | 01"/>
            <p:cNvSpPr txBox="1"/>
            <p:nvPr/>
          </p:nvSpPr>
          <p:spPr>
            <a:xfrm>
              <a:off x="552450" y="1683258"/>
              <a:ext cx="635000" cy="22072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3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lang="en-US">
                  <a:solidFill>
                    <a:srgbClr val="007D9D"/>
                  </a:solidFill>
                  <a:latin typeface="Arial"/>
                  <a:ea typeface="SimHei"/>
                </a:rPr>
                <a:t>01</a:t>
              </a:r>
            </a:p>
          </p:txBody>
        </p:sp>
        <p:sp>
          <p:nvSpPr>
            <p:cNvPr id="14" name="Text | 明确目标"/>
            <p:cNvSpPr txBox="1"/>
            <p:nvPr/>
          </p:nvSpPr>
          <p:spPr>
            <a:xfrm>
              <a:off x="527050" y="1943544"/>
              <a:ext cx="154940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082D48"/>
                  </a:solidFill>
                  <a:latin typeface="Arial"/>
                  <a:ea typeface="SimHei"/>
                </a:rPr>
                <a:t>明确目标</a:t>
              </a:r>
            </a:p>
          </p:txBody>
        </p:sp>
        <p:pic>
          <p:nvPicPr>
            <p:cNvPr id="15" name="Picture | Independent image" descr="7c3bcb38bbd7e2e2c643083a079a2905b3d45de7da56f071c27b404acc55d820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0977" y="2241550"/>
              <a:ext cx="1281545" cy="1174750"/>
            </a:xfrm>
            <a:prstGeom prst="rect">
              <a:avLst/>
            </a:prstGeom>
          </p:spPr>
        </p:pic>
        <p:sp>
          <p:nvSpPr>
            <p:cNvPr id="16" name="Text | 检测什么 / 测量什么"/>
            <p:cNvSpPr txBox="1"/>
            <p:nvPr/>
          </p:nvSpPr>
          <p:spPr>
            <a:xfrm>
              <a:off x="520700" y="3544760"/>
              <a:ext cx="15621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4C6B83"/>
                  </a:solidFill>
                  <a:latin typeface="Arial"/>
                  <a:ea typeface="SimHei"/>
                </a:rPr>
                <a:t>检测什么 / 测量什么</a:t>
              </a:r>
            </a:p>
          </p:txBody>
        </p:sp>
        <p:sp>
          <p:nvSpPr>
            <p:cNvPr id="17" name="Text | 质量、节拍与约束"/>
            <p:cNvSpPr txBox="1"/>
            <p:nvPr/>
          </p:nvSpPr>
          <p:spPr>
            <a:xfrm>
              <a:off x="520700" y="3817810"/>
              <a:ext cx="15621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4C6B83"/>
                  </a:solidFill>
                  <a:latin typeface="Arial"/>
                  <a:ea typeface="SimHei"/>
                </a:rPr>
                <a:t>质量、节拍与约束</a:t>
              </a:r>
            </a:p>
          </p:txBody>
        </p:sp>
        <p:cxnSp>
          <p:nvCxnSpPr>
            <p:cNvPr id="18" name="Connector | 2"/>
            <p:cNvCxnSpPr/>
            <p:nvPr/>
          </p:nvCxnSpPr>
          <p:spPr>
            <a:xfrm>
              <a:off x="546100" y="4121150"/>
              <a:ext cx="1511300" cy="0"/>
            </a:xfrm>
            <a:prstGeom prst="line">
              <a:avLst/>
            </a:prstGeom>
            <a:ln w="6350" cap="rnd">
              <a:solidFill>
                <a:srgbClr val="C6D8E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 | 需求与验收基线"/>
            <p:cNvSpPr txBox="1"/>
            <p:nvPr/>
          </p:nvSpPr>
          <p:spPr>
            <a:xfrm>
              <a:off x="517525" y="4294950"/>
              <a:ext cx="15684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zh-CN">
                  <a:solidFill>
                    <a:srgbClr val="087F79"/>
                  </a:solidFill>
                  <a:latin typeface="Arial"/>
                  <a:ea typeface="SimHei"/>
                </a:rPr>
                <a:t>需求与验收基线</a:t>
              </a:r>
            </a:p>
          </p:txBody>
        </p:sp>
      </p:grpSp>
      <p:cxnSp>
        <p:nvCxnSpPr>
          <p:cNvPr id="20" name="Connector | 3"/>
          <p:cNvCxnSpPr/>
          <p:nvPr/>
        </p:nvCxnSpPr>
        <p:spPr>
          <a:xfrm>
            <a:off x="2222500" y="2952750"/>
            <a:ext cx="82550" cy="0"/>
          </a:xfrm>
          <a:prstGeom prst="line">
            <a:avLst/>
          </a:prstGeom>
          <a:ln w="11430" cap="rnd">
            <a:solidFill>
              <a:srgbClr val="007D9D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" name="Node | 硬件与成像"/>
          <p:cNvGrpSpPr/>
          <p:nvPr/>
        </p:nvGrpSpPr>
        <p:grpSpPr>
          <a:xfrm>
            <a:off x="2324100" y="1555750"/>
            <a:ext cx="1790700" cy="3219450"/>
            <a:chOff x="2324100" y="1555750"/>
            <a:chExt cx="1790700" cy="3219450"/>
          </a:xfrm>
        </p:grpSpPr>
        <p:sp>
          <p:nvSpPr>
            <p:cNvPr id="22" name="Panel | 3"/>
            <p:cNvSpPr/>
            <p:nvPr/>
          </p:nvSpPr>
          <p:spPr>
            <a:xfrm>
              <a:off x="2324100" y="1555750"/>
              <a:ext cx="1790700" cy="3219450"/>
            </a:xfrm>
            <a:prstGeom prst="roundRect">
              <a:avLst>
                <a:gd name="adj" fmla="val 6382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 | 02"/>
            <p:cNvSpPr txBox="1"/>
            <p:nvPr/>
          </p:nvSpPr>
          <p:spPr>
            <a:xfrm>
              <a:off x="2470150" y="1683258"/>
              <a:ext cx="635000" cy="22072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3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lang="en-US">
                  <a:solidFill>
                    <a:srgbClr val="007D9D"/>
                  </a:solidFill>
                  <a:latin typeface="Arial"/>
                  <a:ea typeface="SimHei"/>
                </a:rPr>
                <a:t>02</a:t>
              </a:r>
            </a:p>
          </p:txBody>
        </p:sp>
        <p:sp>
          <p:nvSpPr>
            <p:cNvPr id="24" name="Text | 硬件与成像"/>
            <p:cNvSpPr txBox="1"/>
            <p:nvPr/>
          </p:nvSpPr>
          <p:spPr>
            <a:xfrm>
              <a:off x="2444750" y="1943544"/>
              <a:ext cx="154940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082D48"/>
                  </a:solidFill>
                  <a:latin typeface="Arial"/>
                  <a:ea typeface="SimHei"/>
                </a:rPr>
                <a:t>硬件与成像</a:t>
              </a:r>
            </a:p>
          </p:txBody>
        </p:sp>
        <p:pic>
          <p:nvPicPr>
            <p:cNvPr id="25" name="Picture | Independent image" descr="085782651a052b950f6c4aa546074ea7e352e9df9e9ba1e1d1a63e6cbbeeaac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78677" y="2241550"/>
              <a:ext cx="1281545" cy="1174750"/>
            </a:xfrm>
            <a:prstGeom prst="rect">
              <a:avLst/>
            </a:prstGeom>
          </p:spPr>
        </p:pic>
        <p:sp>
          <p:nvSpPr>
            <p:cNvPr id="26" name="Text | 相机、镜头、光源"/>
            <p:cNvSpPr txBox="1"/>
            <p:nvPr/>
          </p:nvSpPr>
          <p:spPr>
            <a:xfrm>
              <a:off x="2438400" y="3544760"/>
              <a:ext cx="15621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4C6B83"/>
                  </a:solidFill>
                  <a:latin typeface="Arial"/>
                  <a:ea typeface="SimHei"/>
                </a:rPr>
                <a:t>相机、镜头、光源</a:t>
              </a:r>
            </a:p>
          </p:txBody>
        </p:sp>
        <p:sp>
          <p:nvSpPr>
            <p:cNvPr id="27" name="Text | 运动、测高与标定"/>
            <p:cNvSpPr txBox="1"/>
            <p:nvPr/>
          </p:nvSpPr>
          <p:spPr>
            <a:xfrm>
              <a:off x="2438400" y="3817810"/>
              <a:ext cx="15621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4C6B83"/>
                  </a:solidFill>
                  <a:latin typeface="Arial"/>
                  <a:ea typeface="SimHei"/>
                </a:rPr>
                <a:t>运动、测高与标定</a:t>
              </a:r>
            </a:p>
          </p:txBody>
        </p:sp>
        <p:cxnSp>
          <p:nvCxnSpPr>
            <p:cNvPr id="28" name="Connector | 4"/>
            <p:cNvCxnSpPr/>
            <p:nvPr/>
          </p:nvCxnSpPr>
          <p:spPr>
            <a:xfrm>
              <a:off x="2463800" y="4121150"/>
              <a:ext cx="1511300" cy="0"/>
            </a:xfrm>
            <a:prstGeom prst="line">
              <a:avLst/>
            </a:prstGeom>
            <a:ln w="6350" cap="rnd">
              <a:solidFill>
                <a:srgbClr val="C6D8E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 | 硬件方案与样本"/>
            <p:cNvSpPr txBox="1"/>
            <p:nvPr/>
          </p:nvSpPr>
          <p:spPr>
            <a:xfrm>
              <a:off x="2435225" y="4294950"/>
              <a:ext cx="15684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zh-CN">
                  <a:solidFill>
                    <a:srgbClr val="087F79"/>
                  </a:solidFill>
                  <a:latin typeface="Arial"/>
                  <a:ea typeface="SimHei"/>
                </a:rPr>
                <a:t>硬件方案与样本</a:t>
              </a:r>
            </a:p>
          </p:txBody>
        </p:sp>
      </p:grpSp>
      <p:cxnSp>
        <p:nvCxnSpPr>
          <p:cNvPr id="30" name="Connector | 5"/>
          <p:cNvCxnSpPr/>
          <p:nvPr/>
        </p:nvCxnSpPr>
        <p:spPr>
          <a:xfrm>
            <a:off x="4140200" y="2952750"/>
            <a:ext cx="82550" cy="0"/>
          </a:xfrm>
          <a:prstGeom prst="line">
            <a:avLst/>
          </a:prstGeom>
          <a:ln w="11430" cap="rnd">
            <a:solidFill>
              <a:srgbClr val="007D9D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1" name="Node | 检测流程"/>
          <p:cNvGrpSpPr/>
          <p:nvPr/>
        </p:nvGrpSpPr>
        <p:grpSpPr>
          <a:xfrm>
            <a:off x="4241800" y="1555750"/>
            <a:ext cx="1790700" cy="3219450"/>
            <a:chOff x="4241800" y="1555750"/>
            <a:chExt cx="1790700" cy="3219450"/>
          </a:xfrm>
        </p:grpSpPr>
        <p:sp>
          <p:nvSpPr>
            <p:cNvPr id="32" name="Panel | 4"/>
            <p:cNvSpPr/>
            <p:nvPr/>
          </p:nvSpPr>
          <p:spPr>
            <a:xfrm>
              <a:off x="4241800" y="1555750"/>
              <a:ext cx="1790700" cy="3219450"/>
            </a:xfrm>
            <a:prstGeom prst="roundRect">
              <a:avLst>
                <a:gd name="adj" fmla="val 6382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 | 03"/>
            <p:cNvSpPr txBox="1"/>
            <p:nvPr/>
          </p:nvSpPr>
          <p:spPr>
            <a:xfrm>
              <a:off x="4387850" y="1683258"/>
              <a:ext cx="635000" cy="22072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3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lang="en-US">
                  <a:solidFill>
                    <a:srgbClr val="007D9D"/>
                  </a:solidFill>
                  <a:latin typeface="Arial"/>
                  <a:ea typeface="SimHei"/>
                </a:rPr>
                <a:t>03</a:t>
              </a:r>
            </a:p>
          </p:txBody>
        </p:sp>
        <p:sp>
          <p:nvSpPr>
            <p:cNvPr id="34" name="Text | 检测流程"/>
            <p:cNvSpPr txBox="1"/>
            <p:nvPr/>
          </p:nvSpPr>
          <p:spPr>
            <a:xfrm>
              <a:off x="4362450" y="1943544"/>
              <a:ext cx="154940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082D48"/>
                  </a:solidFill>
                  <a:latin typeface="Arial"/>
                  <a:ea typeface="SimHei"/>
                </a:rPr>
                <a:t>检测流程</a:t>
              </a:r>
            </a:p>
          </p:txBody>
        </p:sp>
        <p:pic>
          <p:nvPicPr>
            <p:cNvPr id="35" name="Picture | Independent image" descr="d235d7460685fbce7c25a12631d1439d4d6219b6901e988eaac07fae35a8f6f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96377" y="2241550"/>
              <a:ext cx="1281545" cy="1174750"/>
            </a:xfrm>
            <a:prstGeom prst="rect">
              <a:avLst/>
            </a:prstGeom>
          </p:spPr>
        </p:pic>
        <p:sp>
          <p:nvSpPr>
            <p:cNvPr id="36" name="Text | 定位、采集与时序"/>
            <p:cNvSpPr txBox="1"/>
            <p:nvPr/>
          </p:nvSpPr>
          <p:spPr>
            <a:xfrm>
              <a:off x="4356100" y="3544760"/>
              <a:ext cx="15621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4C6B83"/>
                  </a:solidFill>
                  <a:latin typeface="Arial"/>
                  <a:ea typeface="SimHei"/>
                </a:rPr>
                <a:t>定位、采集与时序</a:t>
              </a:r>
            </a:p>
          </p:txBody>
        </p:sp>
        <p:sp>
          <p:nvSpPr>
            <p:cNvPr id="37" name="Text | 异常路径与结果组织"/>
            <p:cNvSpPr txBox="1"/>
            <p:nvPr/>
          </p:nvSpPr>
          <p:spPr>
            <a:xfrm>
              <a:off x="4356100" y="3817810"/>
              <a:ext cx="15621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4C6B83"/>
                  </a:solidFill>
                  <a:latin typeface="Arial"/>
                  <a:ea typeface="SimHei"/>
                </a:rPr>
                <a:t>异常路径与结果组织</a:t>
              </a:r>
            </a:p>
          </p:txBody>
        </p:sp>
        <p:cxnSp>
          <p:nvCxnSpPr>
            <p:cNvPr id="38" name="Connector | 6"/>
            <p:cNvCxnSpPr/>
            <p:nvPr/>
          </p:nvCxnSpPr>
          <p:spPr>
            <a:xfrm>
              <a:off x="4381500" y="4121150"/>
              <a:ext cx="1511300" cy="0"/>
            </a:xfrm>
            <a:prstGeom prst="line">
              <a:avLst/>
            </a:prstGeom>
            <a:ln w="6350" cap="rnd">
              <a:solidFill>
                <a:srgbClr val="C6D8E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 | 流程与设备配置"/>
            <p:cNvSpPr txBox="1"/>
            <p:nvPr/>
          </p:nvSpPr>
          <p:spPr>
            <a:xfrm>
              <a:off x="4352925" y="4294950"/>
              <a:ext cx="15684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zh-CN">
                  <a:solidFill>
                    <a:srgbClr val="087F79"/>
                  </a:solidFill>
                  <a:latin typeface="Arial"/>
                  <a:ea typeface="SimHei"/>
                </a:rPr>
                <a:t>流程与设备配置</a:t>
              </a:r>
            </a:p>
          </p:txBody>
        </p:sp>
      </p:grpSp>
      <p:cxnSp>
        <p:nvCxnSpPr>
          <p:cNvPr id="40" name="Connector | 7"/>
          <p:cNvCxnSpPr/>
          <p:nvPr/>
        </p:nvCxnSpPr>
        <p:spPr>
          <a:xfrm>
            <a:off x="6057900" y="2952750"/>
            <a:ext cx="82550" cy="0"/>
          </a:xfrm>
          <a:prstGeom prst="line">
            <a:avLst/>
          </a:prstGeom>
          <a:ln w="11430" cap="rnd">
            <a:solidFill>
              <a:srgbClr val="007D9D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1" name="Node | 算法开发"/>
          <p:cNvGrpSpPr/>
          <p:nvPr/>
        </p:nvGrpSpPr>
        <p:grpSpPr>
          <a:xfrm>
            <a:off x="6159500" y="1555750"/>
            <a:ext cx="1790700" cy="3219450"/>
            <a:chOff x="6159500" y="1555750"/>
            <a:chExt cx="1790700" cy="3219450"/>
          </a:xfrm>
        </p:grpSpPr>
        <p:sp>
          <p:nvSpPr>
            <p:cNvPr id="42" name="Panel | 5"/>
            <p:cNvSpPr/>
            <p:nvPr/>
          </p:nvSpPr>
          <p:spPr>
            <a:xfrm>
              <a:off x="6159500" y="1555750"/>
              <a:ext cx="1790700" cy="3219450"/>
            </a:xfrm>
            <a:prstGeom prst="roundRect">
              <a:avLst>
                <a:gd name="adj" fmla="val 6382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 | 04"/>
            <p:cNvSpPr txBox="1"/>
            <p:nvPr/>
          </p:nvSpPr>
          <p:spPr>
            <a:xfrm>
              <a:off x="6305550" y="1683258"/>
              <a:ext cx="635000" cy="22072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3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lang="en-US">
                  <a:solidFill>
                    <a:srgbClr val="007D9D"/>
                  </a:solidFill>
                  <a:latin typeface="Arial"/>
                  <a:ea typeface="SimHei"/>
                </a:rPr>
                <a:t>04</a:t>
              </a:r>
            </a:p>
          </p:txBody>
        </p:sp>
        <p:sp>
          <p:nvSpPr>
            <p:cNvPr id="44" name="Text | 算法开发"/>
            <p:cNvSpPr txBox="1"/>
            <p:nvPr/>
          </p:nvSpPr>
          <p:spPr>
            <a:xfrm>
              <a:off x="6280150" y="1943544"/>
              <a:ext cx="154940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082D48"/>
                  </a:solidFill>
                  <a:latin typeface="Arial"/>
                  <a:ea typeface="SimHei"/>
                </a:rPr>
                <a:t>算法开发</a:t>
              </a:r>
            </a:p>
          </p:txBody>
        </p:sp>
        <p:pic>
          <p:nvPicPr>
            <p:cNvPr id="45" name="Picture | Independent image" descr="0e1cacdd2dd64d49c68307ca39c10d929dcfdd478b4480a29a0805d6b17ec43b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30950" y="2491105"/>
              <a:ext cx="1447800" cy="675640"/>
            </a:xfrm>
            <a:prstGeom prst="rect">
              <a:avLst/>
            </a:prstGeom>
          </p:spPr>
        </p:pic>
        <p:sp>
          <p:nvSpPr>
            <p:cNvPr id="46" name="Text | 传统视觉 / 几何测量"/>
            <p:cNvSpPr txBox="1"/>
            <p:nvPr/>
          </p:nvSpPr>
          <p:spPr>
            <a:xfrm>
              <a:off x="6273800" y="3544760"/>
              <a:ext cx="15621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4C6B83"/>
                  </a:solidFill>
                  <a:latin typeface="Arial"/>
                  <a:ea typeface="SimHei"/>
                </a:rPr>
                <a:t>传统视觉 / 几何测量</a:t>
              </a:r>
            </a:p>
          </p:txBody>
        </p:sp>
        <p:sp>
          <p:nvSpPr>
            <p:cNvPr id="47" name="Text | AI 训练与验证"/>
            <p:cNvSpPr txBox="1"/>
            <p:nvPr/>
          </p:nvSpPr>
          <p:spPr>
            <a:xfrm>
              <a:off x="6273800" y="3817810"/>
              <a:ext cx="15621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4C6B83"/>
                  </a:solidFill>
                  <a:latin typeface="Arial"/>
                  <a:ea typeface="SimHei"/>
                </a:rPr>
                <a:t>AI 训练与验证</a:t>
              </a:r>
            </a:p>
          </p:txBody>
        </p:sp>
        <p:cxnSp>
          <p:nvCxnSpPr>
            <p:cNvPr id="48" name="Connector | 8"/>
            <p:cNvCxnSpPr/>
            <p:nvPr/>
          </p:nvCxnSpPr>
          <p:spPr>
            <a:xfrm>
              <a:off x="6299200" y="4121150"/>
              <a:ext cx="1511300" cy="0"/>
            </a:xfrm>
            <a:prstGeom prst="line">
              <a:avLst/>
            </a:prstGeom>
            <a:ln w="6350" cap="rnd">
              <a:solidFill>
                <a:srgbClr val="C6D8E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 | 算法参数 / 模型包"/>
            <p:cNvSpPr txBox="1"/>
            <p:nvPr/>
          </p:nvSpPr>
          <p:spPr>
            <a:xfrm>
              <a:off x="6270625" y="4294950"/>
              <a:ext cx="15684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zh-CN">
                  <a:solidFill>
                    <a:srgbClr val="087F79"/>
                  </a:solidFill>
                  <a:latin typeface="Arial"/>
                  <a:ea typeface="SimHei"/>
                </a:rPr>
                <a:t>算法参数 / 模型包</a:t>
              </a:r>
            </a:p>
          </p:txBody>
        </p:sp>
      </p:grpSp>
      <p:cxnSp>
        <p:nvCxnSpPr>
          <p:cNvPr id="50" name="Connector | 9"/>
          <p:cNvCxnSpPr/>
          <p:nvPr/>
        </p:nvCxnSpPr>
        <p:spPr>
          <a:xfrm>
            <a:off x="7975600" y="2952750"/>
            <a:ext cx="82550" cy="0"/>
          </a:xfrm>
          <a:prstGeom prst="line">
            <a:avLst/>
          </a:prstGeom>
          <a:ln w="11430" cap="rnd">
            <a:solidFill>
              <a:srgbClr val="007D9D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1" name="Node | 联合验证"/>
          <p:cNvGrpSpPr/>
          <p:nvPr/>
        </p:nvGrpSpPr>
        <p:grpSpPr>
          <a:xfrm>
            <a:off x="8077200" y="1555750"/>
            <a:ext cx="1790700" cy="3219450"/>
            <a:chOff x="8077200" y="1555750"/>
            <a:chExt cx="1790700" cy="3219450"/>
          </a:xfrm>
        </p:grpSpPr>
        <p:sp>
          <p:nvSpPr>
            <p:cNvPr id="52" name="Panel | 6"/>
            <p:cNvSpPr/>
            <p:nvPr/>
          </p:nvSpPr>
          <p:spPr>
            <a:xfrm>
              <a:off x="8077200" y="1555750"/>
              <a:ext cx="1790700" cy="3219450"/>
            </a:xfrm>
            <a:prstGeom prst="roundRect">
              <a:avLst>
                <a:gd name="adj" fmla="val 6382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Text | 05"/>
            <p:cNvSpPr txBox="1"/>
            <p:nvPr/>
          </p:nvSpPr>
          <p:spPr>
            <a:xfrm>
              <a:off x="8223250" y="1683258"/>
              <a:ext cx="635000" cy="22072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3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lang="en-US">
                  <a:solidFill>
                    <a:srgbClr val="007D9D"/>
                  </a:solidFill>
                  <a:latin typeface="Arial"/>
                  <a:ea typeface="SimHei"/>
                </a:rPr>
                <a:t>05</a:t>
              </a:r>
            </a:p>
          </p:txBody>
        </p:sp>
        <p:sp>
          <p:nvSpPr>
            <p:cNvPr id="54" name="Text | 联合验证"/>
            <p:cNvSpPr txBox="1"/>
            <p:nvPr/>
          </p:nvSpPr>
          <p:spPr>
            <a:xfrm>
              <a:off x="8197850" y="1943544"/>
              <a:ext cx="154940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082D48"/>
                  </a:solidFill>
                  <a:latin typeface="Arial"/>
                  <a:ea typeface="SimHei"/>
                </a:rPr>
                <a:t>联合验证</a:t>
              </a:r>
            </a:p>
          </p:txBody>
        </p:sp>
        <p:pic>
          <p:nvPicPr>
            <p:cNvPr id="55" name="Picture | Independent image" descr="69b9b6f2f57fe9517a0b04037aba969f2ed0c2d42b08a20aa15893bd43b01753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331777" y="2241550"/>
              <a:ext cx="1281545" cy="1174750"/>
            </a:xfrm>
            <a:prstGeom prst="rect">
              <a:avLst/>
            </a:prstGeom>
          </p:spPr>
        </p:pic>
        <p:sp>
          <p:nvSpPr>
            <p:cNvPr id="56" name="Text | 现场样本与参考值"/>
            <p:cNvSpPr txBox="1"/>
            <p:nvPr/>
          </p:nvSpPr>
          <p:spPr>
            <a:xfrm>
              <a:off x="8191500" y="3544760"/>
              <a:ext cx="15621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4C6B83"/>
                  </a:solidFill>
                  <a:latin typeface="Arial"/>
                  <a:ea typeface="SimHei"/>
                </a:rPr>
                <a:t>现场样本与参考值</a:t>
              </a:r>
            </a:p>
          </p:txBody>
        </p:sp>
        <p:sp>
          <p:nvSpPr>
            <p:cNvPr id="57" name="Text | 效果、测量与节拍"/>
            <p:cNvSpPr txBox="1"/>
            <p:nvPr/>
          </p:nvSpPr>
          <p:spPr>
            <a:xfrm>
              <a:off x="8191500" y="3817810"/>
              <a:ext cx="15621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4C6B83"/>
                  </a:solidFill>
                  <a:latin typeface="Arial"/>
                  <a:ea typeface="SimHei"/>
                </a:rPr>
                <a:t>效果、测量与节拍</a:t>
              </a:r>
            </a:p>
          </p:txBody>
        </p:sp>
        <p:cxnSp>
          <p:nvCxnSpPr>
            <p:cNvPr id="58" name="Connector | 10"/>
            <p:cNvCxnSpPr/>
            <p:nvPr/>
          </p:nvCxnSpPr>
          <p:spPr>
            <a:xfrm>
              <a:off x="8216900" y="4121150"/>
              <a:ext cx="1511300" cy="0"/>
            </a:xfrm>
            <a:prstGeom prst="line">
              <a:avLst/>
            </a:prstGeom>
            <a:ln w="6350" cap="rnd">
              <a:solidFill>
                <a:srgbClr val="C6D8E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 | 验证记录与结论"/>
            <p:cNvSpPr txBox="1"/>
            <p:nvPr/>
          </p:nvSpPr>
          <p:spPr>
            <a:xfrm>
              <a:off x="8188325" y="4294950"/>
              <a:ext cx="15684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zh-CN">
                  <a:solidFill>
                    <a:srgbClr val="087F79"/>
                  </a:solidFill>
                  <a:latin typeface="Arial"/>
                  <a:ea typeface="SimHei"/>
                </a:rPr>
                <a:t>验证记录与结论</a:t>
              </a:r>
            </a:p>
          </p:txBody>
        </p:sp>
      </p:grpSp>
      <p:cxnSp>
        <p:nvCxnSpPr>
          <p:cNvPr id="60" name="Connector | 11"/>
          <p:cNvCxnSpPr/>
          <p:nvPr/>
        </p:nvCxnSpPr>
        <p:spPr>
          <a:xfrm>
            <a:off x="9893300" y="2952750"/>
            <a:ext cx="82550" cy="0"/>
          </a:xfrm>
          <a:prstGeom prst="line">
            <a:avLst/>
          </a:prstGeom>
          <a:ln w="11430" cap="rnd">
            <a:solidFill>
              <a:srgbClr val="007D9D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" name="Node | 标准交付"/>
          <p:cNvGrpSpPr/>
          <p:nvPr/>
        </p:nvGrpSpPr>
        <p:grpSpPr>
          <a:xfrm>
            <a:off x="9994900" y="1555750"/>
            <a:ext cx="1790700" cy="3219450"/>
            <a:chOff x="9994900" y="1555750"/>
            <a:chExt cx="1790700" cy="3219450"/>
          </a:xfrm>
        </p:grpSpPr>
        <p:sp>
          <p:nvSpPr>
            <p:cNvPr id="62" name="Panel | 7"/>
            <p:cNvSpPr/>
            <p:nvPr/>
          </p:nvSpPr>
          <p:spPr>
            <a:xfrm>
              <a:off x="9994900" y="1555750"/>
              <a:ext cx="1790700" cy="3219450"/>
            </a:xfrm>
            <a:prstGeom prst="roundRect">
              <a:avLst>
                <a:gd name="adj" fmla="val 6382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Text | 06"/>
            <p:cNvSpPr txBox="1"/>
            <p:nvPr/>
          </p:nvSpPr>
          <p:spPr>
            <a:xfrm>
              <a:off x="10140950" y="1683258"/>
              <a:ext cx="635000" cy="22072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3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lang="en-US">
                  <a:solidFill>
                    <a:srgbClr val="007D9D"/>
                  </a:solidFill>
                  <a:latin typeface="Arial"/>
                  <a:ea typeface="SimHei"/>
                </a:rPr>
                <a:t>06</a:t>
              </a:r>
            </a:p>
          </p:txBody>
        </p:sp>
        <p:sp>
          <p:nvSpPr>
            <p:cNvPr id="64" name="Text | 标准交付"/>
            <p:cNvSpPr txBox="1"/>
            <p:nvPr/>
          </p:nvSpPr>
          <p:spPr>
            <a:xfrm>
              <a:off x="10115550" y="1943544"/>
              <a:ext cx="154940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082D48"/>
                  </a:solidFill>
                  <a:latin typeface="Arial"/>
                  <a:ea typeface="SimHei"/>
                </a:rPr>
                <a:t>标准交付</a:t>
              </a:r>
            </a:p>
          </p:txBody>
        </p:sp>
        <p:pic>
          <p:nvPicPr>
            <p:cNvPr id="65" name="Picture | Independent image" descr="12bb1e3e4f2e170eca1f6489649f4e45a3b3250e5c5303eec76095d714b0e260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249477" y="2241550"/>
              <a:ext cx="1281545" cy="1174750"/>
            </a:xfrm>
            <a:prstGeom prst="rect">
              <a:avLst/>
            </a:prstGeom>
          </p:spPr>
        </p:pic>
        <p:sp>
          <p:nvSpPr>
            <p:cNvPr id="66" name="Text | 配置、模型与版本"/>
            <p:cNvSpPr txBox="1"/>
            <p:nvPr/>
          </p:nvSpPr>
          <p:spPr>
            <a:xfrm>
              <a:off x="10109200" y="3544760"/>
              <a:ext cx="15621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4C6B83"/>
                  </a:solidFill>
                  <a:latin typeface="Arial"/>
                  <a:ea typeface="SimHei"/>
                </a:rPr>
                <a:t>配置、模型与版本</a:t>
              </a:r>
            </a:p>
          </p:txBody>
        </p:sp>
        <p:sp>
          <p:nvSpPr>
            <p:cNvPr id="67" name="Text | 结果归档与迭代"/>
            <p:cNvSpPr txBox="1"/>
            <p:nvPr/>
          </p:nvSpPr>
          <p:spPr>
            <a:xfrm>
              <a:off x="10109200" y="3817810"/>
              <a:ext cx="15621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4C6B83"/>
                  </a:solidFill>
                  <a:latin typeface="Arial"/>
                  <a:ea typeface="SimHei"/>
                </a:rPr>
                <a:t>结果归档与迭代</a:t>
              </a:r>
            </a:p>
          </p:txBody>
        </p:sp>
        <p:cxnSp>
          <p:nvCxnSpPr>
            <p:cNvPr id="68" name="Connector | 12"/>
            <p:cNvCxnSpPr/>
            <p:nvPr/>
          </p:nvCxnSpPr>
          <p:spPr>
            <a:xfrm>
              <a:off x="10134600" y="4121150"/>
              <a:ext cx="1511300" cy="0"/>
            </a:xfrm>
            <a:prstGeom prst="line">
              <a:avLst/>
            </a:prstGeom>
            <a:ln w="6350" cap="rnd">
              <a:solidFill>
                <a:srgbClr val="C6D8E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 | 可复用工程资产"/>
            <p:cNvSpPr txBox="1"/>
            <p:nvPr/>
          </p:nvSpPr>
          <p:spPr>
            <a:xfrm>
              <a:off x="10106025" y="4294950"/>
              <a:ext cx="15684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zh-CN">
                  <a:solidFill>
                    <a:srgbClr val="087F79"/>
                  </a:solidFill>
                  <a:latin typeface="Arial"/>
                  <a:ea typeface="SimHei"/>
                </a:rPr>
                <a:t>可复用工程资产</a:t>
              </a:r>
            </a:p>
          </p:txBody>
        </p:sp>
      </p:grpSp>
      <p:sp>
        <p:nvSpPr>
          <p:cNvPr id="70" name="Panel | 8"/>
          <p:cNvSpPr/>
          <p:nvPr/>
        </p:nvSpPr>
        <p:spPr>
          <a:xfrm>
            <a:off x="406400" y="4991100"/>
            <a:ext cx="11379200" cy="400050"/>
          </a:xfrm>
          <a:prstGeom prst="roundRect">
            <a:avLst>
              <a:gd name="adj" fmla="val 20634"/>
            </a:avLst>
          </a:prstGeom>
          <a:solidFill>
            <a:srgbClr val="E9F1FC"/>
          </a:solidFill>
          <a:ln w="6350" cap="rnd">
            <a:solidFill>
              <a:srgbClr val="C6D8EB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 | SwiftFlow"/>
          <p:cNvSpPr txBox="1"/>
          <p:nvPr/>
        </p:nvSpPr>
        <p:spPr>
          <a:xfrm>
            <a:off x="584200" y="5085334"/>
            <a:ext cx="1714500" cy="30099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84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007D9D"/>
                </a:solidFill>
                <a:latin typeface="Arial"/>
                <a:ea typeface="SimHei"/>
              </a:rPr>
              <a:t>SwiftFlow</a:t>
            </a:r>
          </a:p>
        </p:txBody>
      </p:sp>
      <p:sp>
        <p:nvSpPr>
          <p:cNvPr id="72" name="Text | 承载设备接入、调试标定、流程执行与结果输出"/>
          <p:cNvSpPr txBox="1"/>
          <p:nvPr/>
        </p:nvSpPr>
        <p:spPr>
          <a:xfrm>
            <a:off x="2489200" y="5109528"/>
            <a:ext cx="9017000" cy="26085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599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082D48"/>
                </a:solidFill>
                <a:latin typeface="Arial"/>
                <a:ea typeface="SimHei"/>
              </a:rPr>
              <a:t>承载设备接入、调试标定、流程执行与结果输出</a:t>
            </a:r>
          </a:p>
        </p:txBody>
      </p:sp>
      <p:sp>
        <p:nvSpPr>
          <p:cNvPr id="73" name="Panel | 9"/>
          <p:cNvSpPr/>
          <p:nvPr/>
        </p:nvSpPr>
        <p:spPr>
          <a:xfrm>
            <a:off x="406400" y="5499100"/>
            <a:ext cx="11379200" cy="400050"/>
          </a:xfrm>
          <a:prstGeom prst="roundRect">
            <a:avLst>
              <a:gd name="adj" fmla="val 20634"/>
            </a:avLst>
          </a:prstGeom>
          <a:solidFill>
            <a:srgbClr val="E9F1FC"/>
          </a:solidFill>
          <a:ln w="6350" cap="rnd">
            <a:solidFill>
              <a:srgbClr val="C6D8EB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 | HawkeyePlus"/>
          <p:cNvSpPr txBox="1"/>
          <p:nvPr/>
        </p:nvSpPr>
        <p:spPr>
          <a:xfrm>
            <a:off x="584200" y="5593334"/>
            <a:ext cx="1714500" cy="30099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84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087F79"/>
                </a:solidFill>
                <a:latin typeface="Arial"/>
                <a:ea typeface="SimHei"/>
              </a:rPr>
              <a:t>HawkeyePlus</a:t>
            </a:r>
          </a:p>
        </p:txBody>
      </p:sp>
      <p:sp>
        <p:nvSpPr>
          <p:cNvPr id="75" name="Text | 承载训练数据、模型研发、评估验证与版本管理"/>
          <p:cNvSpPr txBox="1"/>
          <p:nvPr/>
        </p:nvSpPr>
        <p:spPr>
          <a:xfrm>
            <a:off x="2489200" y="5617528"/>
            <a:ext cx="9017000" cy="26085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599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082D48"/>
                </a:solidFill>
                <a:latin typeface="Arial"/>
                <a:ea typeface="SimHei"/>
              </a:rPr>
              <a:t>承载训练数据、模型研发、评估验证与版本管理</a:t>
            </a:r>
          </a:p>
        </p:txBody>
      </p:sp>
      <p:sp>
        <p:nvSpPr>
          <p:cNvPr id="76" name="Text | 共同交付：硬件基线 + 流程基线 + 算法基线 + 验收证据"/>
          <p:cNvSpPr txBox="1"/>
          <p:nvPr/>
        </p:nvSpPr>
        <p:spPr>
          <a:xfrm>
            <a:off x="508000" y="6145466"/>
            <a:ext cx="11176000" cy="270891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zh-CN">
                <a:solidFill>
                  <a:srgbClr val="087F79"/>
                </a:solidFill>
                <a:latin typeface="Arial"/>
                <a:ea typeface="SimHei"/>
              </a:rPr>
              <a:t>共同交付：硬件基线 + 流程基线 + 算法基线 + 验收证据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007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 | 章节导览 / 第 02 章"/>
          <p:cNvSpPr txBox="1"/>
          <p:nvPr/>
        </p:nvSpPr>
        <p:spPr>
          <a:xfrm>
            <a:off x="546100" y="363410"/>
            <a:ext cx="9525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4C6B83"/>
                </a:solidFill>
                <a:latin typeface="Arial"/>
                <a:ea typeface="SimHei"/>
              </a:rPr>
              <a:t>章节导览 / 第 02 章</a:t>
            </a:r>
          </a:p>
        </p:txBody>
      </p:sp>
      <p:pic>
        <p:nvPicPr>
          <p:cNvPr id="4" name="Picture | Independent image" descr="139ef02520a55c1aaee95c1d6e7f5f730beac004ebb72c9c012b0f76513ab8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cxnSp>
        <p:nvCxnSpPr>
          <p:cNvPr id="5" name="Connector | 1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C6D8E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 | SwiftFlow + HawkeyePlus  |  Industrial Vision Engineering"/>
          <p:cNvSpPr txBox="1"/>
          <p:nvPr/>
        </p:nvSpPr>
        <p:spPr>
          <a:xfrm>
            <a:off x="412750" y="6607238"/>
            <a:ext cx="825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SwiftFlow + HawkeyePlus  |  Industrial Vision Engineering</a:t>
            </a:r>
          </a:p>
        </p:txBody>
      </p:sp>
      <p:sp>
        <p:nvSpPr>
          <p:cNvPr id="7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4C6B83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8" name="Text | 07 / 20"/>
          <p:cNvSpPr txBox="1"/>
          <p:nvPr/>
        </p:nvSpPr>
        <p:spPr>
          <a:xfrm>
            <a:off x="11137900" y="6607238"/>
            <a:ext cx="63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07 / 20</a:t>
            </a:r>
          </a:p>
        </p:txBody>
      </p:sp>
      <p:sp>
        <p:nvSpPr>
          <p:cNvPr id="9" name="Text | 02"/>
          <p:cNvSpPr txBox="1"/>
          <p:nvPr/>
        </p:nvSpPr>
        <p:spPr>
          <a:xfrm>
            <a:off x="495300" y="1704848"/>
            <a:ext cx="1714500" cy="1745742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0701"/>
              </a:lnSpc>
              <a:spcBef>
                <a:spcPts val="0"/>
              </a:spcBef>
              <a:spcAft>
                <a:spcPts val="0"/>
              </a:spcAft>
            </a:pPr>
            <a:r>
              <a:rPr sz="8700" b="1" lang="en-US">
                <a:solidFill>
                  <a:srgbClr val="007D9D"/>
                </a:solidFill>
                <a:latin typeface="Arial"/>
                <a:ea typeface="SimHei"/>
              </a:rPr>
              <a:t>02</a:t>
            </a:r>
          </a:p>
        </p:txBody>
      </p:sp>
      <p:sp>
        <p:nvSpPr>
          <p:cNvPr id="10" name="Text | SwiftFlow"/>
          <p:cNvSpPr txBox="1"/>
          <p:nvPr/>
        </p:nvSpPr>
        <p:spPr>
          <a:xfrm>
            <a:off x="2203450" y="1857883"/>
            <a:ext cx="5873750" cy="591947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628"/>
              </a:lnSpc>
              <a:spcBef>
                <a:spcPts val="0"/>
              </a:spcBef>
              <a:spcAft>
                <a:spcPts val="0"/>
              </a:spcAft>
            </a:pPr>
            <a:r>
              <a:rPr sz="2950" b="1" lang="en-US">
                <a:solidFill>
                  <a:srgbClr val="082D48"/>
                </a:solidFill>
                <a:latin typeface="Arial"/>
                <a:ea typeface="SimHei"/>
              </a:rPr>
              <a:t>SwiftFlow</a:t>
            </a:r>
          </a:p>
        </p:txBody>
      </p:sp>
      <p:sp>
        <p:nvSpPr>
          <p:cNvPr id="11" name="Text | 设备、流程与算法执行"/>
          <p:cNvSpPr txBox="1"/>
          <p:nvPr/>
        </p:nvSpPr>
        <p:spPr>
          <a:xfrm>
            <a:off x="2222500" y="2500503"/>
            <a:ext cx="5080000" cy="341122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4C6B83"/>
                </a:solidFill>
                <a:latin typeface="Arial"/>
                <a:ea typeface="SimHei"/>
              </a:rPr>
              <a:t>设备、流程与算法执行</a:t>
            </a:r>
          </a:p>
        </p:txBody>
      </p:sp>
      <p:cxnSp>
        <p:nvCxnSpPr>
          <p:cNvPr id="12" name="Connector | 2"/>
          <p:cNvCxnSpPr/>
          <p:nvPr/>
        </p:nvCxnSpPr>
        <p:spPr>
          <a:xfrm>
            <a:off x="520700" y="3086100"/>
            <a:ext cx="6375400" cy="0"/>
          </a:xfrm>
          <a:prstGeom prst="line">
            <a:avLst/>
          </a:prstGeom>
          <a:ln w="11430" cap="rnd">
            <a:solidFill>
              <a:srgbClr val="C6D8E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| 如何把设备与算法组织成可执行流程？"/>
          <p:cNvSpPr txBox="1"/>
          <p:nvPr/>
        </p:nvSpPr>
        <p:spPr>
          <a:xfrm>
            <a:off x="520700" y="3355022"/>
            <a:ext cx="6604000" cy="311023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906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zh-CN">
                <a:solidFill>
                  <a:srgbClr val="082D48"/>
                </a:solidFill>
                <a:latin typeface="Arial"/>
                <a:ea typeface="SimHei"/>
              </a:rPr>
              <a:t>如何把设备与算法组织成可执行流程？</a:t>
            </a:r>
          </a:p>
        </p:txBody>
      </p:sp>
      <p:pic>
        <p:nvPicPr>
          <p:cNvPr id="14" name="Picture | Independent image" descr="5f1bcf78ecb92f4492224ef45a833bd24f87b72940a435af1d4530231d53bab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2663" y="1733550"/>
            <a:ext cx="3396424" cy="2673350"/>
          </a:xfrm>
          <a:prstGeom prst="rect">
            <a:avLst/>
          </a:prstGeom>
        </p:spPr>
      </p:pic>
      <p:grpSp>
        <p:nvGrpSpPr>
          <p:cNvPr id="15" name="Node | 设备接入"/>
          <p:cNvGrpSpPr/>
          <p:nvPr/>
        </p:nvGrpSpPr>
        <p:grpSpPr>
          <a:xfrm>
            <a:off x="406400" y="4978400"/>
            <a:ext cx="3670300" cy="984250"/>
            <a:chOff x="406400" y="4978400"/>
            <a:chExt cx="3670300" cy="984250"/>
          </a:xfrm>
        </p:grpSpPr>
        <p:sp>
          <p:nvSpPr>
            <p:cNvPr id="16" name="Panel | 2"/>
            <p:cNvSpPr/>
            <p:nvPr/>
          </p:nvSpPr>
          <p:spPr>
            <a:xfrm>
              <a:off x="406400" y="4978400"/>
              <a:ext cx="3670300" cy="984250"/>
            </a:xfrm>
            <a:prstGeom prst="roundRect">
              <a:avLst>
                <a:gd name="adj" fmla="val 11612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 | 02.1"/>
            <p:cNvSpPr txBox="1"/>
            <p:nvPr/>
          </p:nvSpPr>
          <p:spPr>
            <a:xfrm>
              <a:off x="577850" y="5157914"/>
              <a:ext cx="6985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en-US">
                  <a:solidFill>
                    <a:srgbClr val="007D9D"/>
                  </a:solidFill>
                  <a:latin typeface="Arial"/>
                  <a:ea typeface="SimHei"/>
                </a:rPr>
                <a:t>02.1</a:t>
              </a:r>
            </a:p>
          </p:txBody>
        </p:sp>
        <p:sp>
          <p:nvSpPr>
            <p:cNvPr id="18" name="Text | 设备接入"/>
            <p:cNvSpPr txBox="1"/>
            <p:nvPr/>
          </p:nvSpPr>
          <p:spPr>
            <a:xfrm>
              <a:off x="577850" y="5502275"/>
              <a:ext cx="332105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zh-CN">
                  <a:solidFill>
                    <a:srgbClr val="082D48"/>
                  </a:solidFill>
                  <a:latin typeface="Arial"/>
                  <a:ea typeface="SimHei"/>
                </a:rPr>
                <a:t>设备接入</a:t>
              </a:r>
            </a:p>
          </p:txBody>
        </p:sp>
      </p:grpSp>
      <p:grpSp>
        <p:nvGrpSpPr>
          <p:cNvPr id="19" name="Node | 流程设计"/>
          <p:cNvGrpSpPr/>
          <p:nvPr/>
        </p:nvGrpSpPr>
        <p:grpSpPr>
          <a:xfrm>
            <a:off x="4260850" y="4978400"/>
            <a:ext cx="3670300" cy="984250"/>
            <a:chOff x="4260850" y="4978400"/>
            <a:chExt cx="3670300" cy="984250"/>
          </a:xfrm>
        </p:grpSpPr>
        <p:sp>
          <p:nvSpPr>
            <p:cNvPr id="20" name="Panel | 3"/>
            <p:cNvSpPr/>
            <p:nvPr/>
          </p:nvSpPr>
          <p:spPr>
            <a:xfrm>
              <a:off x="4260850" y="4978400"/>
              <a:ext cx="3670300" cy="984250"/>
            </a:xfrm>
            <a:prstGeom prst="roundRect">
              <a:avLst>
                <a:gd name="adj" fmla="val 11612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 | 02.2"/>
            <p:cNvSpPr txBox="1"/>
            <p:nvPr/>
          </p:nvSpPr>
          <p:spPr>
            <a:xfrm>
              <a:off x="4432300" y="5157914"/>
              <a:ext cx="6985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en-US">
                  <a:solidFill>
                    <a:srgbClr val="007D9D"/>
                  </a:solidFill>
                  <a:latin typeface="Arial"/>
                  <a:ea typeface="SimHei"/>
                </a:rPr>
                <a:t>02.2</a:t>
              </a:r>
            </a:p>
          </p:txBody>
        </p:sp>
        <p:sp>
          <p:nvSpPr>
            <p:cNvPr id="22" name="Text | 流程设计"/>
            <p:cNvSpPr txBox="1"/>
            <p:nvPr/>
          </p:nvSpPr>
          <p:spPr>
            <a:xfrm>
              <a:off x="4432300" y="5502275"/>
              <a:ext cx="332105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zh-CN">
                  <a:solidFill>
                    <a:srgbClr val="082D48"/>
                  </a:solidFill>
                  <a:latin typeface="Arial"/>
                  <a:ea typeface="SimHei"/>
                </a:rPr>
                <a:t>流程设计</a:t>
              </a:r>
            </a:p>
          </p:txBody>
        </p:sp>
      </p:grpSp>
      <p:grpSp>
        <p:nvGrpSpPr>
          <p:cNvPr id="23" name="Node | 检测与测量"/>
          <p:cNvGrpSpPr/>
          <p:nvPr/>
        </p:nvGrpSpPr>
        <p:grpSpPr>
          <a:xfrm>
            <a:off x="8115300" y="4978400"/>
            <a:ext cx="3670300" cy="984250"/>
            <a:chOff x="8115300" y="4978400"/>
            <a:chExt cx="3670300" cy="984250"/>
          </a:xfrm>
        </p:grpSpPr>
        <p:sp>
          <p:nvSpPr>
            <p:cNvPr id="24" name="Panel | 4"/>
            <p:cNvSpPr/>
            <p:nvPr/>
          </p:nvSpPr>
          <p:spPr>
            <a:xfrm>
              <a:off x="8115300" y="4978400"/>
              <a:ext cx="3670300" cy="984250"/>
            </a:xfrm>
            <a:prstGeom prst="roundRect">
              <a:avLst>
                <a:gd name="adj" fmla="val 11612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 | 02.3"/>
            <p:cNvSpPr txBox="1"/>
            <p:nvPr/>
          </p:nvSpPr>
          <p:spPr>
            <a:xfrm>
              <a:off x="8286750" y="5157914"/>
              <a:ext cx="6985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en-US">
                  <a:solidFill>
                    <a:srgbClr val="007D9D"/>
                  </a:solidFill>
                  <a:latin typeface="Arial"/>
                  <a:ea typeface="SimHei"/>
                </a:rPr>
                <a:t>02.3</a:t>
              </a:r>
            </a:p>
          </p:txBody>
        </p:sp>
        <p:sp>
          <p:nvSpPr>
            <p:cNvPr id="26" name="Text | 检测与测量"/>
            <p:cNvSpPr txBox="1"/>
            <p:nvPr/>
          </p:nvSpPr>
          <p:spPr>
            <a:xfrm>
              <a:off x="8286750" y="5502275"/>
              <a:ext cx="332105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zh-CN">
                  <a:solidFill>
                    <a:srgbClr val="082D48"/>
                  </a:solidFill>
                  <a:latin typeface="Arial"/>
                  <a:ea typeface="SimHei"/>
                </a:rPr>
                <a:t>检测与测量</a:t>
              </a:r>
            </a:p>
          </p:txBody>
        </p:sp>
      </p:grpSp>
      <p:sp>
        <p:nvSpPr>
          <p:cNvPr id="27" name="Text | SwiftFlow + HawkeyePlus｜一套标准方法，两个互补平台"/>
          <p:cNvSpPr txBox="1"/>
          <p:nvPr/>
        </p:nvSpPr>
        <p:spPr>
          <a:xfrm>
            <a:off x="520700" y="6169088"/>
            <a:ext cx="10731500" cy="25082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537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zh-CN">
                <a:solidFill>
                  <a:srgbClr val="4C6B83"/>
                </a:solidFill>
                <a:latin typeface="Arial"/>
                <a:ea typeface="SimHei"/>
              </a:rPr>
              <a:t>SwiftFlow + HawkeyePlus｜一套标准方法，两个互补平台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007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 | 第 02 章 / SwiftFlow"/>
          <p:cNvSpPr txBox="1"/>
          <p:nvPr/>
        </p:nvSpPr>
        <p:spPr>
          <a:xfrm>
            <a:off x="546100" y="363410"/>
            <a:ext cx="9525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4C6B83"/>
                </a:solidFill>
                <a:latin typeface="Arial"/>
                <a:ea typeface="SimHei"/>
              </a:rPr>
              <a:t>第 02 章 / SwiftFlow</a:t>
            </a:r>
          </a:p>
        </p:txBody>
      </p:sp>
      <p:pic>
        <p:nvPicPr>
          <p:cNvPr id="4" name="Picture | Independent image" descr="139ef02520a55c1aaee95c1d6e7f5f730beac004ebb72c9c012b0f76513ab8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sp>
        <p:nvSpPr>
          <p:cNvPr id="5" name="Text | SwiftFlow｜设备与流程执行平台"/>
          <p:cNvSpPr txBox="1"/>
          <p:nvPr/>
        </p:nvSpPr>
        <p:spPr>
          <a:xfrm>
            <a:off x="406400" y="616014"/>
            <a:ext cx="11303000" cy="571881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5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zh-CN">
                <a:solidFill>
                  <a:srgbClr val="082D48"/>
                </a:solidFill>
                <a:latin typeface="Arial"/>
                <a:ea typeface="SimHei"/>
              </a:rPr>
              <a:t>SwiftFlow｜设备与流程执行平台</a:t>
            </a:r>
          </a:p>
        </p:txBody>
      </p:sp>
      <p:sp>
        <p:nvSpPr>
          <p:cNvPr id="6" name="Text | 用可配置的流程，把设备、传统视觉、模型推理和结果组织成执行链"/>
          <p:cNvSpPr txBox="1"/>
          <p:nvPr/>
        </p:nvSpPr>
        <p:spPr>
          <a:xfrm>
            <a:off x="425450" y="1072706"/>
            <a:ext cx="112395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4C6B83"/>
                </a:solidFill>
                <a:latin typeface="Arial"/>
                <a:ea typeface="SimHei"/>
              </a:rPr>
              <a:t>用可配置的流程，把设备、传统视觉、模型推理和结果组织成执行链</a:t>
            </a:r>
          </a:p>
        </p:txBody>
      </p:sp>
      <p:cxnSp>
        <p:nvCxnSpPr>
          <p:cNvPr id="7" name="Connector | 1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C6D8E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| SwiftFlow + HawkeyePlus  |  Industrial Vision Engineering"/>
          <p:cNvSpPr txBox="1"/>
          <p:nvPr/>
        </p:nvSpPr>
        <p:spPr>
          <a:xfrm>
            <a:off x="412750" y="6607238"/>
            <a:ext cx="825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SwiftFlow + HawkeyePlus  |  Industrial Vision Engineering</a:t>
            </a:r>
          </a:p>
        </p:txBody>
      </p:sp>
      <p:sp>
        <p:nvSpPr>
          <p:cNvPr id="9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4C6B83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10" name="Text | 08 / 20"/>
          <p:cNvSpPr txBox="1"/>
          <p:nvPr/>
        </p:nvSpPr>
        <p:spPr>
          <a:xfrm>
            <a:off x="11137900" y="6607238"/>
            <a:ext cx="63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08 / 20</a:t>
            </a:r>
          </a:p>
        </p:txBody>
      </p:sp>
      <p:grpSp>
        <p:nvGrpSpPr>
          <p:cNvPr id="11" name="Node | 流程设计"/>
          <p:cNvGrpSpPr/>
          <p:nvPr/>
        </p:nvGrpSpPr>
        <p:grpSpPr>
          <a:xfrm>
            <a:off x="406400" y="1530350"/>
            <a:ext cx="2997200" cy="2717800"/>
            <a:chOff x="406400" y="1530350"/>
            <a:chExt cx="2997200" cy="2717800"/>
          </a:xfrm>
        </p:grpSpPr>
        <p:sp>
          <p:nvSpPr>
            <p:cNvPr id="12" name="Panel | 2"/>
            <p:cNvSpPr/>
            <p:nvPr/>
          </p:nvSpPr>
          <p:spPr>
            <a:xfrm>
              <a:off x="406400" y="1530350"/>
              <a:ext cx="2997200" cy="2717800"/>
            </a:xfrm>
            <a:prstGeom prst="roundRect">
              <a:avLst>
                <a:gd name="adj" fmla="val 5140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 | 流程设计"/>
            <p:cNvSpPr txBox="1"/>
            <p:nvPr/>
          </p:nvSpPr>
          <p:spPr>
            <a:xfrm>
              <a:off x="549275" y="1662303"/>
              <a:ext cx="2711450" cy="34112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20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zh-CN">
                  <a:solidFill>
                    <a:srgbClr val="082D48"/>
                  </a:solidFill>
                  <a:latin typeface="Arial"/>
                  <a:ea typeface="SimHei"/>
                </a:rPr>
                <a:t>流程设计</a:t>
              </a:r>
            </a:p>
          </p:txBody>
        </p:sp>
        <p:pic>
          <p:nvPicPr>
            <p:cNvPr id="14" name="Picture | Independent image" descr="d235d7460685fbce7c25a12631d1439d4d6219b6901e988eaac07fae35a8f6f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5236" y="1943100"/>
              <a:ext cx="1759527" cy="1612900"/>
            </a:xfrm>
            <a:prstGeom prst="rect">
              <a:avLst/>
            </a:prstGeom>
          </p:spPr>
        </p:pic>
        <p:sp>
          <p:nvSpPr>
            <p:cNvPr id="15" name="Text | 可视化编排"/>
            <p:cNvSpPr txBox="1"/>
            <p:nvPr/>
          </p:nvSpPr>
          <p:spPr>
            <a:xfrm>
              <a:off x="546100" y="3673538"/>
              <a:ext cx="2717800" cy="25082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3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 b="0" lang="zh-CN">
                  <a:solidFill>
                    <a:srgbClr val="007D9D"/>
                  </a:solidFill>
                  <a:latin typeface="Arial"/>
                  <a:ea typeface="SimHei"/>
                </a:rPr>
                <a:t>可视化编排</a:t>
              </a:r>
            </a:p>
          </p:txBody>
        </p:sp>
        <p:sp>
          <p:nvSpPr>
            <p:cNvPr id="16" name="Text | 工艺与子流程复用"/>
            <p:cNvSpPr txBox="1"/>
            <p:nvPr/>
          </p:nvSpPr>
          <p:spPr>
            <a:xfrm>
              <a:off x="546100" y="3952938"/>
              <a:ext cx="2717800" cy="25082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3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 b="0" lang="zh-CN">
                  <a:solidFill>
                    <a:srgbClr val="4C6B83"/>
                  </a:solidFill>
                  <a:latin typeface="Arial"/>
                  <a:ea typeface="SimHei"/>
                </a:rPr>
                <a:t>工艺与子流程复用</a:t>
              </a:r>
            </a:p>
          </p:txBody>
        </p:sp>
      </p:grpSp>
      <p:grpSp>
        <p:nvGrpSpPr>
          <p:cNvPr id="17" name="Node | 统一执行引擎"/>
          <p:cNvGrpSpPr/>
          <p:nvPr/>
        </p:nvGrpSpPr>
        <p:grpSpPr>
          <a:xfrm>
            <a:off x="3689350" y="1530350"/>
            <a:ext cx="4552950" cy="2717800"/>
            <a:chOff x="3689350" y="1530350"/>
            <a:chExt cx="4552950" cy="2717800"/>
          </a:xfrm>
        </p:grpSpPr>
        <p:sp>
          <p:nvSpPr>
            <p:cNvPr id="18" name="Panel | 3"/>
            <p:cNvSpPr/>
            <p:nvPr/>
          </p:nvSpPr>
          <p:spPr>
            <a:xfrm>
              <a:off x="3689350" y="1530350"/>
              <a:ext cx="4552950" cy="2717800"/>
            </a:xfrm>
            <a:prstGeom prst="roundRect">
              <a:avLst>
                <a:gd name="adj" fmla="val 5140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 | 统一执行引擎"/>
            <p:cNvSpPr txBox="1"/>
            <p:nvPr/>
          </p:nvSpPr>
          <p:spPr>
            <a:xfrm>
              <a:off x="3832225" y="1662303"/>
              <a:ext cx="4267200" cy="34112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20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zh-CN">
                  <a:solidFill>
                    <a:srgbClr val="082D48"/>
                  </a:solidFill>
                  <a:latin typeface="Arial"/>
                  <a:ea typeface="SimHei"/>
                </a:rPr>
                <a:t>统一执行引擎</a:t>
              </a:r>
            </a:p>
          </p:txBody>
        </p:sp>
        <p:pic>
          <p:nvPicPr>
            <p:cNvPr id="20" name="Picture | Independent image" descr="f9afb2ab4c65fe2a0f728b34a5f5fca5b0a370c8cc2e60cb63d4afb053755afa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99552" y="1943100"/>
              <a:ext cx="2932545" cy="1612900"/>
            </a:xfrm>
            <a:prstGeom prst="rect">
              <a:avLst/>
            </a:prstGeom>
          </p:spPr>
        </p:pic>
        <p:sp>
          <p:nvSpPr>
            <p:cNvPr id="21" name="Text | 串并行协同 · 共享数据"/>
            <p:cNvSpPr txBox="1"/>
            <p:nvPr/>
          </p:nvSpPr>
          <p:spPr>
            <a:xfrm>
              <a:off x="3829050" y="3673538"/>
              <a:ext cx="4273550" cy="25082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3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 b="0" lang="zh-CN">
                  <a:solidFill>
                    <a:srgbClr val="007D9D"/>
                  </a:solidFill>
                  <a:latin typeface="Arial"/>
                  <a:ea typeface="SimHei"/>
                </a:rPr>
                <a:t>串并行协同 · 共享数据</a:t>
              </a:r>
            </a:p>
          </p:txBody>
        </p:sp>
        <p:sp>
          <p:nvSpPr>
            <p:cNvPr id="22" name="Text | 运行控制 · 异常处理"/>
            <p:cNvSpPr txBox="1"/>
            <p:nvPr/>
          </p:nvSpPr>
          <p:spPr>
            <a:xfrm>
              <a:off x="3829050" y="3952938"/>
              <a:ext cx="4273550" cy="25082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3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 b="0" lang="zh-CN">
                  <a:solidFill>
                    <a:srgbClr val="4C6B83"/>
                  </a:solidFill>
                  <a:latin typeface="Arial"/>
                  <a:ea typeface="SimHei"/>
                </a:rPr>
                <a:t>运行控制 · 异常处理</a:t>
              </a:r>
            </a:p>
          </p:txBody>
        </p:sp>
      </p:grpSp>
      <p:grpSp>
        <p:nvGrpSpPr>
          <p:cNvPr id="23" name="Node | 算法与结果"/>
          <p:cNvGrpSpPr/>
          <p:nvPr/>
        </p:nvGrpSpPr>
        <p:grpSpPr>
          <a:xfrm>
            <a:off x="8528050" y="1530350"/>
            <a:ext cx="3257550" cy="2717800"/>
            <a:chOff x="8528050" y="1530350"/>
            <a:chExt cx="3257550" cy="2717800"/>
          </a:xfrm>
        </p:grpSpPr>
        <p:sp>
          <p:nvSpPr>
            <p:cNvPr id="24" name="Panel | 4"/>
            <p:cNvSpPr/>
            <p:nvPr/>
          </p:nvSpPr>
          <p:spPr>
            <a:xfrm>
              <a:off x="8528050" y="1530350"/>
              <a:ext cx="3257550" cy="2717800"/>
            </a:xfrm>
            <a:prstGeom prst="roundRect">
              <a:avLst>
                <a:gd name="adj" fmla="val 5140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 | 算法与结果"/>
            <p:cNvSpPr txBox="1"/>
            <p:nvPr/>
          </p:nvSpPr>
          <p:spPr>
            <a:xfrm>
              <a:off x="8670925" y="1662303"/>
              <a:ext cx="2971800" cy="34112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20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zh-CN">
                  <a:solidFill>
                    <a:srgbClr val="082D48"/>
                  </a:solidFill>
                  <a:latin typeface="Arial"/>
                  <a:ea typeface="SimHei"/>
                </a:rPr>
                <a:t>算法与结果</a:t>
              </a:r>
            </a:p>
          </p:txBody>
        </p:sp>
        <p:pic>
          <p:nvPicPr>
            <p:cNvPr id="26" name="Picture | Independent image" descr="5f1abe2f284b05e9bbfcd3a5890226dc2b010d4957d9a714fc6c4a2349b30e00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77061" y="1943100"/>
              <a:ext cx="1759527" cy="1612900"/>
            </a:xfrm>
            <a:prstGeom prst="rect">
              <a:avLst/>
            </a:prstGeom>
          </p:spPr>
        </p:pic>
        <p:sp>
          <p:nvSpPr>
            <p:cNvPr id="27" name="Text | 传统视觉 + 模型推理"/>
            <p:cNvSpPr txBox="1"/>
            <p:nvPr/>
          </p:nvSpPr>
          <p:spPr>
            <a:xfrm>
              <a:off x="8667750" y="3673538"/>
              <a:ext cx="2978150" cy="25082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3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 b="0" lang="zh-CN">
                  <a:solidFill>
                    <a:srgbClr val="007D9D"/>
                  </a:solidFill>
                  <a:latin typeface="Arial"/>
                  <a:ea typeface="SimHei"/>
                </a:rPr>
                <a:t>传统视觉 + 模型推理</a:t>
              </a:r>
            </a:p>
          </p:txBody>
        </p:sp>
        <p:sp>
          <p:nvSpPr>
            <p:cNvPr id="28" name="Text | 测量计算 + 结果归档"/>
            <p:cNvSpPr txBox="1"/>
            <p:nvPr/>
          </p:nvSpPr>
          <p:spPr>
            <a:xfrm>
              <a:off x="8667750" y="3952938"/>
              <a:ext cx="2978150" cy="25082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3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 b="0" lang="zh-CN">
                  <a:solidFill>
                    <a:srgbClr val="4C6B83"/>
                  </a:solidFill>
                  <a:latin typeface="Arial"/>
                  <a:ea typeface="SimHei"/>
                </a:rPr>
                <a:t>测量计算 + 结果归档</a:t>
              </a:r>
            </a:p>
          </p:txBody>
        </p:sp>
      </p:grpSp>
      <p:cxnSp>
        <p:nvCxnSpPr>
          <p:cNvPr id="29" name="Connector | 2"/>
          <p:cNvCxnSpPr/>
          <p:nvPr/>
        </p:nvCxnSpPr>
        <p:spPr>
          <a:xfrm>
            <a:off x="3435350" y="2889250"/>
            <a:ext cx="209550" cy="0"/>
          </a:xfrm>
          <a:prstGeom prst="line">
            <a:avLst/>
          </a:prstGeom>
          <a:ln w="15875" cap="rnd">
            <a:solidFill>
              <a:srgbClr val="007D9D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| 3"/>
          <p:cNvCxnSpPr/>
          <p:nvPr/>
        </p:nvCxnSpPr>
        <p:spPr>
          <a:xfrm>
            <a:off x="8286750" y="2889250"/>
            <a:ext cx="196850" cy="0"/>
          </a:xfrm>
          <a:prstGeom prst="line">
            <a:avLst/>
          </a:prstGeom>
          <a:ln w="15875" cap="rnd">
            <a:solidFill>
              <a:srgbClr val="007D9D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Panel | 5"/>
          <p:cNvSpPr/>
          <p:nvPr/>
        </p:nvSpPr>
        <p:spPr>
          <a:xfrm>
            <a:off x="406400" y="4476750"/>
            <a:ext cx="11379200" cy="336550"/>
          </a:xfrm>
          <a:prstGeom prst="roundRect">
            <a:avLst>
              <a:gd name="adj" fmla="val 24528"/>
            </a:avLst>
          </a:prstGeom>
          <a:solidFill>
            <a:srgbClr val="E9F1FC"/>
          </a:solidFill>
          <a:ln w="6350" cap="rnd">
            <a:solidFill>
              <a:srgbClr val="C6D8EB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 | 统一设备接入"/>
          <p:cNvSpPr txBox="1"/>
          <p:nvPr/>
        </p:nvSpPr>
        <p:spPr>
          <a:xfrm>
            <a:off x="596900" y="4547934"/>
            <a:ext cx="6350000" cy="30099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84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007D9D"/>
                </a:solidFill>
                <a:latin typeface="Arial"/>
                <a:ea typeface="SimHei"/>
              </a:rPr>
              <a:t>统一设备接入</a:t>
            </a:r>
          </a:p>
        </p:txBody>
      </p:sp>
      <p:sp>
        <p:nvSpPr>
          <p:cNvPr id="33" name="Text | 标准接口 · 多实例 · 厂商适配"/>
          <p:cNvSpPr txBox="1"/>
          <p:nvPr/>
        </p:nvSpPr>
        <p:spPr>
          <a:xfrm>
            <a:off x="5492750" y="4568888"/>
            <a:ext cx="6096000" cy="25082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1537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zh-CN">
                <a:solidFill>
                  <a:srgbClr val="4C6B83"/>
                </a:solidFill>
                <a:latin typeface="Arial"/>
                <a:ea typeface="SimHei"/>
              </a:rPr>
              <a:t>标准接口 · 多实例 · 厂商适配</a:t>
            </a:r>
          </a:p>
        </p:txBody>
      </p:sp>
      <p:grpSp>
        <p:nvGrpSpPr>
          <p:cNvPr id="34" name="Node | 工业相机"/>
          <p:cNvGrpSpPr/>
          <p:nvPr/>
        </p:nvGrpSpPr>
        <p:grpSpPr>
          <a:xfrm>
            <a:off x="428625" y="4914900"/>
            <a:ext cx="1797050" cy="1193863"/>
            <a:chOff x="428625" y="4914900"/>
            <a:chExt cx="1797050" cy="1193863"/>
          </a:xfrm>
        </p:grpSpPr>
        <p:pic>
          <p:nvPicPr>
            <p:cNvPr id="35" name="Picture | Independent image" descr="9cc0fc8d5a7859674fd87b278414f843c5a6b3c2dd608964d1c80c415c5dd525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22614" y="4914900"/>
              <a:ext cx="983673" cy="901700"/>
            </a:xfrm>
            <a:prstGeom prst="rect">
              <a:avLst/>
            </a:prstGeom>
          </p:spPr>
        </p:pic>
        <p:sp>
          <p:nvSpPr>
            <p:cNvPr id="36" name="Text | 工业相机"/>
            <p:cNvSpPr txBox="1"/>
            <p:nvPr/>
          </p:nvSpPr>
          <p:spPr>
            <a:xfrm>
              <a:off x="428625" y="5857938"/>
              <a:ext cx="1797050" cy="25082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3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 b="0" lang="zh-CN">
                  <a:solidFill>
                    <a:srgbClr val="082D48"/>
                  </a:solidFill>
                  <a:latin typeface="Arial"/>
                  <a:ea typeface="SimHei"/>
                </a:rPr>
                <a:t>工业相机</a:t>
              </a:r>
            </a:p>
          </p:txBody>
        </p:sp>
      </p:grpSp>
      <p:grpSp>
        <p:nvGrpSpPr>
          <p:cNvPr id="37" name="Node | 精密运动"/>
          <p:cNvGrpSpPr/>
          <p:nvPr/>
        </p:nvGrpSpPr>
        <p:grpSpPr>
          <a:xfrm>
            <a:off x="2333625" y="4914900"/>
            <a:ext cx="1797050" cy="1193863"/>
            <a:chOff x="2333625" y="4914900"/>
            <a:chExt cx="1797050" cy="1193863"/>
          </a:xfrm>
        </p:grpSpPr>
        <p:pic>
          <p:nvPicPr>
            <p:cNvPr id="38" name="Picture | Independent image" descr="2d7267b44c03d69f26050675579b552a0c4dfbed25c0ab746889cb28811fab33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727614" y="4914900"/>
              <a:ext cx="983673" cy="901700"/>
            </a:xfrm>
            <a:prstGeom prst="rect">
              <a:avLst/>
            </a:prstGeom>
          </p:spPr>
        </p:pic>
        <p:sp>
          <p:nvSpPr>
            <p:cNvPr id="39" name="Text | 精密运动"/>
            <p:cNvSpPr txBox="1"/>
            <p:nvPr/>
          </p:nvSpPr>
          <p:spPr>
            <a:xfrm>
              <a:off x="2333625" y="5857938"/>
              <a:ext cx="1797050" cy="25082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3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 b="0" lang="zh-CN">
                  <a:solidFill>
                    <a:srgbClr val="082D48"/>
                  </a:solidFill>
                  <a:latin typeface="Arial"/>
                  <a:ea typeface="SimHei"/>
                </a:rPr>
                <a:t>精密运动</a:t>
              </a:r>
            </a:p>
          </p:txBody>
        </p:sp>
      </p:grpSp>
      <p:grpSp>
        <p:nvGrpSpPr>
          <p:cNvPr id="40" name="Node | 受控照明"/>
          <p:cNvGrpSpPr/>
          <p:nvPr/>
        </p:nvGrpSpPr>
        <p:grpSpPr>
          <a:xfrm>
            <a:off x="4238625" y="4914900"/>
            <a:ext cx="1797050" cy="1193863"/>
            <a:chOff x="4238625" y="4914900"/>
            <a:chExt cx="1797050" cy="1193863"/>
          </a:xfrm>
        </p:grpSpPr>
        <p:pic>
          <p:nvPicPr>
            <p:cNvPr id="41" name="Picture | Independent image" descr="dc4f8d2abdb4c318b0e1128562410d48f91e81dcad48624080371df8bc1af42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632614" y="4914900"/>
              <a:ext cx="983673" cy="901700"/>
            </a:xfrm>
            <a:prstGeom prst="rect">
              <a:avLst/>
            </a:prstGeom>
          </p:spPr>
        </p:pic>
        <p:sp>
          <p:nvSpPr>
            <p:cNvPr id="42" name="Text | 受控照明"/>
            <p:cNvSpPr txBox="1"/>
            <p:nvPr/>
          </p:nvSpPr>
          <p:spPr>
            <a:xfrm>
              <a:off x="4238625" y="5857938"/>
              <a:ext cx="1797050" cy="25082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3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 b="0" lang="zh-CN">
                  <a:solidFill>
                    <a:srgbClr val="082D48"/>
                  </a:solidFill>
                  <a:latin typeface="Arial"/>
                  <a:ea typeface="SimHei"/>
                </a:rPr>
                <a:t>受控照明</a:t>
              </a:r>
            </a:p>
          </p:txBody>
        </p:sp>
      </p:grpSp>
      <p:grpSp>
        <p:nvGrpSpPr>
          <p:cNvPr id="43" name="Node | 激光测高"/>
          <p:cNvGrpSpPr/>
          <p:nvPr/>
        </p:nvGrpSpPr>
        <p:grpSpPr>
          <a:xfrm>
            <a:off x="6143625" y="4914900"/>
            <a:ext cx="1797050" cy="1193863"/>
            <a:chOff x="6143625" y="4914900"/>
            <a:chExt cx="1797050" cy="1193863"/>
          </a:xfrm>
        </p:grpSpPr>
        <p:pic>
          <p:nvPicPr>
            <p:cNvPr id="44" name="Picture | Independent image" descr="938386b544cc3dcea0cd3895eb322acc6b99443d97c62c56d09096f190c4de0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537614" y="4914900"/>
              <a:ext cx="983673" cy="901700"/>
            </a:xfrm>
            <a:prstGeom prst="rect">
              <a:avLst/>
            </a:prstGeom>
          </p:spPr>
        </p:pic>
        <p:sp>
          <p:nvSpPr>
            <p:cNvPr id="45" name="Text | 激光测高"/>
            <p:cNvSpPr txBox="1"/>
            <p:nvPr/>
          </p:nvSpPr>
          <p:spPr>
            <a:xfrm>
              <a:off x="6143625" y="5857938"/>
              <a:ext cx="1797050" cy="25082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3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 b="0" lang="zh-CN">
                  <a:solidFill>
                    <a:srgbClr val="082D48"/>
                  </a:solidFill>
                  <a:latin typeface="Arial"/>
                  <a:ea typeface="SimHei"/>
                </a:rPr>
                <a:t>激光测高</a:t>
              </a:r>
            </a:p>
          </p:txBody>
        </p:sp>
      </p:grpSp>
      <p:grpSp>
        <p:nvGrpSpPr>
          <p:cNvPr id="46" name="Node | 光学 / 测量"/>
          <p:cNvGrpSpPr/>
          <p:nvPr/>
        </p:nvGrpSpPr>
        <p:grpSpPr>
          <a:xfrm>
            <a:off x="8048625" y="4914900"/>
            <a:ext cx="1797050" cy="1193863"/>
            <a:chOff x="8048625" y="4914900"/>
            <a:chExt cx="1797050" cy="1193863"/>
          </a:xfrm>
        </p:grpSpPr>
        <p:pic>
          <p:nvPicPr>
            <p:cNvPr id="47" name="Picture | Independent image" descr="085782651a052b950f6c4aa546074ea7e352e9df9e9ba1e1d1a63e6cbbeeaac3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442614" y="4914900"/>
              <a:ext cx="983673" cy="901700"/>
            </a:xfrm>
            <a:prstGeom prst="rect">
              <a:avLst/>
            </a:prstGeom>
          </p:spPr>
        </p:pic>
        <p:sp>
          <p:nvSpPr>
            <p:cNvPr id="48" name="Text | 光学 / 测量"/>
            <p:cNvSpPr txBox="1"/>
            <p:nvPr/>
          </p:nvSpPr>
          <p:spPr>
            <a:xfrm>
              <a:off x="8048625" y="5857938"/>
              <a:ext cx="1797050" cy="25082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3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 b="0" lang="zh-CN">
                  <a:solidFill>
                    <a:srgbClr val="082D48"/>
                  </a:solidFill>
                  <a:latin typeface="Arial"/>
                  <a:ea typeface="SimHei"/>
                </a:rPr>
                <a:t>光学 / 测量</a:t>
              </a:r>
            </a:p>
          </p:txBody>
        </p:sp>
      </p:grpSp>
      <p:grpSp>
        <p:nvGrpSpPr>
          <p:cNvPr id="49" name="Node | IO / 产线通信"/>
          <p:cNvGrpSpPr/>
          <p:nvPr/>
        </p:nvGrpSpPr>
        <p:grpSpPr>
          <a:xfrm>
            <a:off x="9953625" y="4914900"/>
            <a:ext cx="1797050" cy="1193863"/>
            <a:chOff x="9953625" y="4914900"/>
            <a:chExt cx="1797050" cy="1193863"/>
          </a:xfrm>
        </p:grpSpPr>
        <p:pic>
          <p:nvPicPr>
            <p:cNvPr id="50" name="Picture | Independent image" descr="80f34d78af3f1e0767614a7278122b104b731691a447159848b8edb2439533de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347614" y="4914900"/>
              <a:ext cx="983673" cy="901700"/>
            </a:xfrm>
            <a:prstGeom prst="rect">
              <a:avLst/>
            </a:prstGeom>
          </p:spPr>
        </p:pic>
        <p:sp>
          <p:nvSpPr>
            <p:cNvPr id="51" name="Text | IO / 产线通信"/>
            <p:cNvSpPr txBox="1"/>
            <p:nvPr/>
          </p:nvSpPr>
          <p:spPr>
            <a:xfrm>
              <a:off x="9953625" y="5857938"/>
              <a:ext cx="1797050" cy="25082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3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 b="0" lang="zh-CN">
                  <a:solidFill>
                    <a:srgbClr val="082D48"/>
                  </a:solidFill>
                  <a:latin typeface="Arial"/>
                  <a:ea typeface="SimHei"/>
                </a:rPr>
                <a:t>IO / 产线通信</a:t>
              </a:r>
            </a:p>
          </p:txBody>
        </p:sp>
      </p:grpSp>
      <p:sp>
        <p:nvSpPr>
          <p:cNvPr id="52" name="Text | 全链路支撑：日志告警 · 运行计时 · 结果追溯 · 存储管理 · 仿真调试"/>
          <p:cNvSpPr txBox="1"/>
          <p:nvPr/>
        </p:nvSpPr>
        <p:spPr>
          <a:xfrm>
            <a:off x="476250" y="6188138"/>
            <a:ext cx="11239500" cy="25082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>
              <a:lnSpc>
                <a:spcPts val="1537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zh-CN">
                <a:solidFill>
                  <a:srgbClr val="087F79"/>
                </a:solidFill>
                <a:latin typeface="Arial"/>
                <a:ea typeface="SimHei"/>
              </a:rPr>
              <a:t>全链路支撑：日志告警 · 运行计时 · 结果追溯 · 存储管理 · 仿真调试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007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 | 第 02 章 / SwiftFlow"/>
          <p:cNvSpPr txBox="1"/>
          <p:nvPr/>
        </p:nvSpPr>
        <p:spPr>
          <a:xfrm>
            <a:off x="546100" y="363410"/>
            <a:ext cx="9525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4C6B83"/>
                </a:solidFill>
                <a:latin typeface="Arial"/>
                <a:ea typeface="SimHei"/>
              </a:rPr>
              <a:t>第 02 章 / SwiftFlow</a:t>
            </a:r>
          </a:p>
        </p:txBody>
      </p:sp>
      <p:pic>
        <p:nvPicPr>
          <p:cNvPr id="4" name="Picture | Independent image" descr="139ef02520a55c1aaee95c1d6e7f5f730beac004ebb72c9c012b0f76513ab8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sp>
        <p:nvSpPr>
          <p:cNvPr id="5" name="Text | 从硬件方案到可执行检测流程"/>
          <p:cNvSpPr txBox="1"/>
          <p:nvPr/>
        </p:nvSpPr>
        <p:spPr>
          <a:xfrm>
            <a:off x="406400" y="616014"/>
            <a:ext cx="11303000" cy="571881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5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zh-CN">
                <a:solidFill>
                  <a:srgbClr val="082D48"/>
                </a:solidFill>
                <a:latin typeface="Arial"/>
                <a:ea typeface="SimHei"/>
              </a:rPr>
              <a:t>从硬件方案到可执行检测流程</a:t>
            </a:r>
          </a:p>
        </p:txBody>
      </p:sp>
      <p:sp>
        <p:nvSpPr>
          <p:cNvPr id="6" name="Text | 将硬件选型、设备调试和工艺经验，转化为可复用的配置与流程"/>
          <p:cNvSpPr txBox="1"/>
          <p:nvPr/>
        </p:nvSpPr>
        <p:spPr>
          <a:xfrm>
            <a:off x="425450" y="1072706"/>
            <a:ext cx="112395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4C6B83"/>
                </a:solidFill>
                <a:latin typeface="Arial"/>
                <a:ea typeface="SimHei"/>
              </a:rPr>
              <a:t>将硬件选型、设备调试和工艺经验，转化为可复用的配置与流程</a:t>
            </a:r>
          </a:p>
        </p:txBody>
      </p:sp>
      <p:cxnSp>
        <p:nvCxnSpPr>
          <p:cNvPr id="7" name="Connector | 1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C6D8E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| SwiftFlow + HawkeyePlus  |  Industrial Vision Engineering"/>
          <p:cNvSpPr txBox="1"/>
          <p:nvPr/>
        </p:nvSpPr>
        <p:spPr>
          <a:xfrm>
            <a:off x="412750" y="6607238"/>
            <a:ext cx="825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SwiftFlow + HawkeyePlus  |  Industrial Vision Engineering</a:t>
            </a:r>
          </a:p>
        </p:txBody>
      </p:sp>
      <p:sp>
        <p:nvSpPr>
          <p:cNvPr id="9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4C6B83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10" name="Text | 09 / 20"/>
          <p:cNvSpPr txBox="1"/>
          <p:nvPr/>
        </p:nvSpPr>
        <p:spPr>
          <a:xfrm>
            <a:off x="11137900" y="6607238"/>
            <a:ext cx="63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09 / 20</a:t>
            </a:r>
          </a:p>
        </p:txBody>
      </p:sp>
      <p:grpSp>
        <p:nvGrpSpPr>
          <p:cNvPr id="11" name="Node | 工程设计输入"/>
          <p:cNvGrpSpPr/>
          <p:nvPr/>
        </p:nvGrpSpPr>
        <p:grpSpPr>
          <a:xfrm>
            <a:off x="406400" y="1530350"/>
            <a:ext cx="4648200" cy="3543300"/>
            <a:chOff x="406400" y="1530350"/>
            <a:chExt cx="4648200" cy="3543300"/>
          </a:xfrm>
        </p:grpSpPr>
        <p:sp>
          <p:nvSpPr>
            <p:cNvPr id="12" name="Panel | 2"/>
            <p:cNvSpPr/>
            <p:nvPr/>
          </p:nvSpPr>
          <p:spPr>
            <a:xfrm>
              <a:off x="406400" y="1530350"/>
              <a:ext cx="4648200" cy="3543300"/>
            </a:xfrm>
            <a:prstGeom prst="roundRect">
              <a:avLst>
                <a:gd name="adj" fmla="val 3942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 | 工程设计输入"/>
            <p:cNvSpPr txBox="1"/>
            <p:nvPr/>
          </p:nvSpPr>
          <p:spPr>
            <a:xfrm>
              <a:off x="609600" y="1669542"/>
              <a:ext cx="4216400" cy="35115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15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50" b="1" lang="zh-CN">
                  <a:solidFill>
                    <a:srgbClr val="082D48"/>
                  </a:solidFill>
                  <a:latin typeface="Arial"/>
                  <a:ea typeface="SimHei"/>
                </a:rPr>
                <a:t>工程设计输入</a:t>
              </a:r>
            </a:p>
          </p:txBody>
        </p:sp>
        <p:pic>
          <p:nvPicPr>
            <p:cNvPr id="14" name="Picture | Independent image" descr="5f1bcf78ecb92f4492224ef45a833bd24f87b72940a435af1d4530231d53bab7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63915" y="2000250"/>
              <a:ext cx="2726820" cy="2146300"/>
            </a:xfrm>
            <a:prstGeom prst="rect">
              <a:avLst/>
            </a:prstGeom>
          </p:spPr>
        </p:pic>
        <p:sp>
          <p:nvSpPr>
            <p:cNvPr id="15" name="Text | 相机 / 镜头 / 光源 / 运动 / 传感器"/>
            <p:cNvSpPr txBox="1"/>
            <p:nvPr/>
          </p:nvSpPr>
          <p:spPr>
            <a:xfrm>
              <a:off x="609600" y="4273106"/>
              <a:ext cx="42418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zh-CN">
                  <a:solidFill>
                    <a:srgbClr val="007D9D"/>
                  </a:solidFill>
                  <a:latin typeface="Arial"/>
                  <a:ea typeface="SimHei"/>
                </a:rPr>
                <a:t>相机 / 镜头 / 光源 / 运动 / 传感器</a:t>
              </a:r>
            </a:p>
          </p:txBody>
        </p:sp>
        <p:sp>
          <p:nvSpPr>
            <p:cNvPr id="16" name="Text | 明确视野、分辨率、节拍与标定要求"/>
            <p:cNvSpPr txBox="1"/>
            <p:nvPr/>
          </p:nvSpPr>
          <p:spPr>
            <a:xfrm>
              <a:off x="609600" y="4639628"/>
              <a:ext cx="424180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4C6B83"/>
                  </a:solidFill>
                  <a:latin typeface="Arial"/>
                  <a:ea typeface="SimHei"/>
                </a:rPr>
                <a:t>明确视野、分辨率、节拍与标定要求</a:t>
              </a:r>
            </a:p>
          </p:txBody>
        </p:sp>
      </p:grpSp>
      <p:cxnSp>
        <p:nvCxnSpPr>
          <p:cNvPr id="17" name="Connector | 2"/>
          <p:cNvCxnSpPr/>
          <p:nvPr/>
        </p:nvCxnSpPr>
        <p:spPr>
          <a:xfrm>
            <a:off x="5124450" y="3270250"/>
            <a:ext cx="228600" cy="0"/>
          </a:xfrm>
          <a:prstGeom prst="line">
            <a:avLst/>
          </a:prstGeom>
          <a:ln w="15875" cap="rnd">
            <a:solidFill>
              <a:srgbClr val="007D9D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" name="Node | 设备配置与流程实现"/>
          <p:cNvGrpSpPr/>
          <p:nvPr/>
        </p:nvGrpSpPr>
        <p:grpSpPr>
          <a:xfrm>
            <a:off x="5435600" y="1530350"/>
            <a:ext cx="6350000" cy="3543300"/>
            <a:chOff x="5435600" y="1530350"/>
            <a:chExt cx="6350000" cy="3543300"/>
          </a:xfrm>
        </p:grpSpPr>
        <p:sp>
          <p:nvSpPr>
            <p:cNvPr id="19" name="Panel | 3"/>
            <p:cNvSpPr/>
            <p:nvPr/>
          </p:nvSpPr>
          <p:spPr>
            <a:xfrm>
              <a:off x="5435600" y="1530350"/>
              <a:ext cx="6350000" cy="3543300"/>
            </a:xfrm>
            <a:prstGeom prst="roundRect">
              <a:avLst>
                <a:gd name="adj" fmla="val 3942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 | 设备配置与流程实现"/>
            <p:cNvSpPr txBox="1"/>
            <p:nvPr/>
          </p:nvSpPr>
          <p:spPr>
            <a:xfrm>
              <a:off x="5645150" y="1669542"/>
              <a:ext cx="5924550" cy="35115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15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50" b="1" lang="zh-CN">
                  <a:solidFill>
                    <a:srgbClr val="082D48"/>
                  </a:solidFill>
                  <a:latin typeface="Arial"/>
                  <a:ea typeface="SimHei"/>
                </a:rPr>
                <a:t>设备配置与流程实现</a:t>
              </a:r>
            </a:p>
          </p:txBody>
        </p:sp>
        <p:pic>
          <p:nvPicPr>
            <p:cNvPr id="21" name="Picture | Independent image" descr="d235d7460685fbce7c25a12631d1439d4d6219b6901e988eaac07fae35a8f6f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17070" y="2000250"/>
              <a:ext cx="1704109" cy="1562100"/>
            </a:xfrm>
            <a:prstGeom prst="rect">
              <a:avLst/>
            </a:prstGeom>
          </p:spPr>
        </p:pic>
        <p:sp>
          <p:nvSpPr>
            <p:cNvPr id="22" name="Text | 设备映射"/>
            <p:cNvSpPr txBox="1"/>
            <p:nvPr/>
          </p:nvSpPr>
          <p:spPr>
            <a:xfrm>
              <a:off x="8382000" y="2292794"/>
              <a:ext cx="317500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007D9D"/>
                  </a:solidFill>
                  <a:latin typeface="Arial"/>
                  <a:ea typeface="SimHei"/>
                </a:rPr>
                <a:t>设备映射</a:t>
              </a:r>
            </a:p>
          </p:txBody>
        </p:sp>
        <p:sp>
          <p:nvSpPr>
            <p:cNvPr id="23" name="Text | 调试与标定"/>
            <p:cNvSpPr txBox="1"/>
            <p:nvPr/>
          </p:nvSpPr>
          <p:spPr>
            <a:xfrm>
              <a:off x="8382000" y="2648394"/>
              <a:ext cx="317500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007D9D"/>
                  </a:solidFill>
                  <a:latin typeface="Arial"/>
                  <a:ea typeface="SimHei"/>
                </a:rPr>
                <a:t>调试与标定</a:t>
              </a:r>
            </a:p>
          </p:txBody>
        </p:sp>
        <p:sp>
          <p:nvSpPr>
            <p:cNvPr id="24" name="Text | 参数与流程复用"/>
            <p:cNvSpPr txBox="1"/>
            <p:nvPr/>
          </p:nvSpPr>
          <p:spPr>
            <a:xfrm>
              <a:off x="8382000" y="3003994"/>
              <a:ext cx="317500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007D9D"/>
                  </a:solidFill>
                  <a:latin typeface="Arial"/>
                  <a:ea typeface="SimHei"/>
                </a:rPr>
                <a:t>参数与流程复用</a:t>
              </a:r>
            </a:p>
          </p:txBody>
        </p:sp>
        <p:pic>
          <p:nvPicPr>
            <p:cNvPr id="25" name="Picture | Independent image" descr="69b9b6f2f57fe9517a0b04037aba969f2ed0c2d42b08a20aa15893bd43b01753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55434" y="3689350"/>
              <a:ext cx="858982" cy="787400"/>
            </a:xfrm>
            <a:prstGeom prst="rect">
              <a:avLst/>
            </a:prstGeom>
          </p:spPr>
        </p:pic>
        <p:sp>
          <p:nvSpPr>
            <p:cNvPr id="26" name="Text | 定位"/>
            <p:cNvSpPr txBox="1"/>
            <p:nvPr/>
          </p:nvSpPr>
          <p:spPr>
            <a:xfrm>
              <a:off x="5676900" y="4614228"/>
              <a:ext cx="139700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082D48"/>
                  </a:solidFill>
                  <a:latin typeface="Arial"/>
                  <a:ea typeface="SimHei"/>
                </a:rPr>
                <a:t>定位</a:t>
              </a:r>
            </a:p>
          </p:txBody>
        </p:sp>
        <p:cxnSp>
          <p:nvCxnSpPr>
            <p:cNvPr id="27" name="Connector | 3"/>
            <p:cNvCxnSpPr/>
            <p:nvPr/>
          </p:nvCxnSpPr>
          <p:spPr>
            <a:xfrm>
              <a:off x="6991350" y="4108450"/>
              <a:ext cx="158750" cy="0"/>
            </a:xfrm>
            <a:prstGeom prst="line">
              <a:avLst/>
            </a:prstGeom>
            <a:ln w="11430" cap="rnd">
              <a:solidFill>
                <a:srgbClr val="007D9D"/>
              </a:solidFill>
              <a:round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8" name="Picture | Independent image" descr="9cc0fc8d5a7859674fd87b278414f843c5a6b3c2dd608964d1c80c415c5dd525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460384" y="3689350"/>
              <a:ext cx="858982" cy="787400"/>
            </a:xfrm>
            <a:prstGeom prst="rect">
              <a:avLst/>
            </a:prstGeom>
          </p:spPr>
        </p:pic>
        <p:sp>
          <p:nvSpPr>
            <p:cNvPr id="29" name="Text | 采集"/>
            <p:cNvSpPr txBox="1"/>
            <p:nvPr/>
          </p:nvSpPr>
          <p:spPr>
            <a:xfrm>
              <a:off x="7181850" y="4614228"/>
              <a:ext cx="139700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082D48"/>
                  </a:solidFill>
                  <a:latin typeface="Arial"/>
                  <a:ea typeface="SimHei"/>
                </a:rPr>
                <a:t>采集</a:t>
              </a:r>
            </a:p>
          </p:txBody>
        </p:sp>
        <p:cxnSp>
          <p:nvCxnSpPr>
            <p:cNvPr id="30" name="Connector | 4"/>
            <p:cNvCxnSpPr/>
            <p:nvPr/>
          </p:nvCxnSpPr>
          <p:spPr>
            <a:xfrm>
              <a:off x="8496300" y="4108450"/>
              <a:ext cx="158750" cy="0"/>
            </a:xfrm>
            <a:prstGeom prst="line">
              <a:avLst/>
            </a:prstGeom>
            <a:ln w="11430" cap="rnd">
              <a:solidFill>
                <a:srgbClr val="007D9D"/>
              </a:solidFill>
              <a:round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1" name="Picture | Independent image" descr="5f1abe2f284b05e9bbfcd3a5890226dc2b010d4957d9a714fc6c4a2349b30e00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965334" y="3689350"/>
              <a:ext cx="858982" cy="787400"/>
            </a:xfrm>
            <a:prstGeom prst="rect">
              <a:avLst/>
            </a:prstGeom>
          </p:spPr>
        </p:pic>
        <p:sp>
          <p:nvSpPr>
            <p:cNvPr id="32" name="Text | 分析"/>
            <p:cNvSpPr txBox="1"/>
            <p:nvPr/>
          </p:nvSpPr>
          <p:spPr>
            <a:xfrm>
              <a:off x="8686800" y="4614228"/>
              <a:ext cx="139700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082D48"/>
                  </a:solidFill>
                  <a:latin typeface="Arial"/>
                  <a:ea typeface="SimHei"/>
                </a:rPr>
                <a:t>分析</a:t>
              </a:r>
            </a:p>
          </p:txBody>
        </p:sp>
        <p:cxnSp>
          <p:nvCxnSpPr>
            <p:cNvPr id="33" name="Connector | 5"/>
            <p:cNvCxnSpPr/>
            <p:nvPr/>
          </p:nvCxnSpPr>
          <p:spPr>
            <a:xfrm>
              <a:off x="10001250" y="4108450"/>
              <a:ext cx="158750" cy="0"/>
            </a:xfrm>
            <a:prstGeom prst="line">
              <a:avLst/>
            </a:prstGeom>
            <a:ln w="11430" cap="rnd">
              <a:solidFill>
                <a:srgbClr val="007D9D"/>
              </a:solidFill>
              <a:round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4" name="Picture | Independent image" descr="7c3bcb38bbd7e2e2c643083a079a2905b3d45de7da56f071c27b404acc55d820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470284" y="3689350"/>
              <a:ext cx="858982" cy="787400"/>
            </a:xfrm>
            <a:prstGeom prst="rect">
              <a:avLst/>
            </a:prstGeom>
          </p:spPr>
        </p:pic>
        <p:sp>
          <p:nvSpPr>
            <p:cNvPr id="35" name="Text | 判定与记录"/>
            <p:cNvSpPr txBox="1"/>
            <p:nvPr/>
          </p:nvSpPr>
          <p:spPr>
            <a:xfrm>
              <a:off x="10191750" y="4614228"/>
              <a:ext cx="139700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082D48"/>
                  </a:solidFill>
                  <a:latin typeface="Arial"/>
                  <a:ea typeface="SimHei"/>
                </a:rPr>
                <a:t>判定与记录</a:t>
              </a:r>
            </a:p>
          </p:txBody>
        </p:sp>
      </p:grpSp>
      <p:sp>
        <p:nvSpPr>
          <p:cNvPr id="36" name="Panel | 4"/>
          <p:cNvSpPr/>
          <p:nvPr/>
        </p:nvSpPr>
        <p:spPr>
          <a:xfrm>
            <a:off x="406400" y="5346700"/>
            <a:ext cx="11379200" cy="946150"/>
          </a:xfrm>
          <a:prstGeom prst="roundRect">
            <a:avLst>
              <a:gd name="adj" fmla="val 12080"/>
            </a:avLst>
          </a:prstGeom>
          <a:solidFill>
            <a:srgbClr val="E9F1FC"/>
          </a:solidFill>
          <a:ln w="6350" cap="rnd">
            <a:solidFill>
              <a:srgbClr val="C6D8EB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 | 交付的是可复用的工程资产"/>
          <p:cNvSpPr txBox="1"/>
          <p:nvPr/>
        </p:nvSpPr>
        <p:spPr>
          <a:xfrm>
            <a:off x="609600" y="5477764"/>
            <a:ext cx="10795000" cy="33108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zh-CN">
                <a:solidFill>
                  <a:srgbClr val="087F79"/>
                </a:solidFill>
                <a:latin typeface="Arial"/>
                <a:ea typeface="SimHei"/>
              </a:rPr>
              <a:t>交付的是可复用的工程资产</a:t>
            </a:r>
          </a:p>
        </p:txBody>
      </p:sp>
      <p:sp>
        <p:nvSpPr>
          <p:cNvPr id="38" name="Text | 设备映射与配置   ·   标定参数   ·   检测流程   ·   工艺参数   ·   结果定义"/>
          <p:cNvSpPr txBox="1"/>
          <p:nvPr/>
        </p:nvSpPr>
        <p:spPr>
          <a:xfrm>
            <a:off x="609600" y="5886006"/>
            <a:ext cx="107950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082D48"/>
                </a:solidFill>
                <a:latin typeface="Arial"/>
                <a:ea typeface="SimHei"/>
              </a:rPr>
              <a:t>设备映射与配置   ·   标定参数   ·   检测流程   ·   工艺参数   ·   结果定义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007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 | 第 02 章 / SwiftFlow"/>
          <p:cNvSpPr txBox="1"/>
          <p:nvPr/>
        </p:nvSpPr>
        <p:spPr>
          <a:xfrm>
            <a:off x="546100" y="363410"/>
            <a:ext cx="9525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4C6B83"/>
                </a:solidFill>
                <a:latin typeface="Arial"/>
                <a:ea typeface="SimHei"/>
              </a:rPr>
              <a:t>第 02 章 / SwiftFlow</a:t>
            </a:r>
          </a:p>
        </p:txBody>
      </p:sp>
      <p:pic>
        <p:nvPicPr>
          <p:cNvPr id="4" name="Picture | Independent image" descr="139ef02520a55c1aaee95c1d6e7f5f730beac004ebb72c9c012b0f76513ab8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sp>
        <p:nvSpPr>
          <p:cNvPr id="5" name="Text | 以同一套流程，实现检测或测量"/>
          <p:cNvSpPr txBox="1"/>
          <p:nvPr/>
        </p:nvSpPr>
        <p:spPr>
          <a:xfrm>
            <a:off x="406400" y="616014"/>
            <a:ext cx="11303000" cy="571881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5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zh-CN">
                <a:solidFill>
                  <a:srgbClr val="082D48"/>
                </a:solidFill>
                <a:latin typeface="Arial"/>
                <a:ea typeface="SimHei"/>
              </a:rPr>
              <a:t>以同一套流程，实现检测或测量</a:t>
            </a:r>
          </a:p>
        </p:txBody>
      </p:sp>
      <p:sp>
        <p:nvSpPr>
          <p:cNvPr id="6" name="Text | 传统视觉、AI 与测量算法按任务组合，共享采集、编排和结果追溯能力"/>
          <p:cNvSpPr txBox="1"/>
          <p:nvPr/>
        </p:nvSpPr>
        <p:spPr>
          <a:xfrm>
            <a:off x="425450" y="1072706"/>
            <a:ext cx="112395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4C6B83"/>
                </a:solidFill>
                <a:latin typeface="Arial"/>
                <a:ea typeface="SimHei"/>
              </a:rPr>
              <a:t>传统视觉、AI 与测量算法按任务组合，共享采集、编排和结果追溯能力</a:t>
            </a:r>
          </a:p>
        </p:txBody>
      </p:sp>
      <p:cxnSp>
        <p:nvCxnSpPr>
          <p:cNvPr id="7" name="Connector | 1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C6D8E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| SwiftFlow + HawkeyePlus  |  Industrial Vision Engineering"/>
          <p:cNvSpPr txBox="1"/>
          <p:nvPr/>
        </p:nvSpPr>
        <p:spPr>
          <a:xfrm>
            <a:off x="412750" y="6607238"/>
            <a:ext cx="825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SwiftFlow + HawkeyePlus  |  Industrial Vision Engineering</a:t>
            </a:r>
          </a:p>
        </p:txBody>
      </p:sp>
      <p:sp>
        <p:nvSpPr>
          <p:cNvPr id="9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4C6B83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10" name="Text | 10 / 20"/>
          <p:cNvSpPr txBox="1"/>
          <p:nvPr/>
        </p:nvSpPr>
        <p:spPr>
          <a:xfrm>
            <a:off x="11137900" y="6607238"/>
            <a:ext cx="63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10 / 20</a:t>
            </a:r>
          </a:p>
        </p:txBody>
      </p:sp>
      <p:grpSp>
        <p:nvGrpSpPr>
          <p:cNvPr id="11" name="Node | 检测：找到缺陷并判定"/>
          <p:cNvGrpSpPr/>
          <p:nvPr/>
        </p:nvGrpSpPr>
        <p:grpSpPr>
          <a:xfrm>
            <a:off x="406400" y="1530350"/>
            <a:ext cx="5600700" cy="3733800"/>
            <a:chOff x="406400" y="1530350"/>
            <a:chExt cx="5600700" cy="3733800"/>
          </a:xfrm>
        </p:grpSpPr>
        <p:sp>
          <p:nvSpPr>
            <p:cNvPr id="12" name="Panel | 2"/>
            <p:cNvSpPr/>
            <p:nvPr/>
          </p:nvSpPr>
          <p:spPr>
            <a:xfrm>
              <a:off x="406400" y="1530350"/>
              <a:ext cx="5600700" cy="3733800"/>
            </a:xfrm>
            <a:prstGeom prst="roundRect">
              <a:avLst>
                <a:gd name="adj" fmla="val 3741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 | 检测：找到缺陷并判定"/>
            <p:cNvSpPr txBox="1"/>
            <p:nvPr/>
          </p:nvSpPr>
          <p:spPr>
            <a:xfrm>
              <a:off x="584200" y="1669542"/>
              <a:ext cx="5238750" cy="35115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15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50" b="1" lang="zh-CN">
                  <a:solidFill>
                    <a:srgbClr val="082D48"/>
                  </a:solidFill>
                  <a:latin typeface="Arial"/>
                  <a:ea typeface="SimHei"/>
                </a:rPr>
                <a:t>检测：找到缺陷并判定</a:t>
              </a:r>
            </a:p>
          </p:txBody>
        </p:sp>
        <p:pic>
          <p:nvPicPr>
            <p:cNvPr id="14" name="Picture | Independent image" descr="2d912ebd7dcb0a346bde40d637fceed021a159bb2c31cc9e00aab4e109b5a276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29047" y="2063750"/>
              <a:ext cx="3355405" cy="2044700"/>
            </a:xfrm>
            <a:prstGeom prst="rect">
              <a:avLst/>
            </a:prstGeom>
          </p:spPr>
        </p:pic>
        <p:sp>
          <p:nvSpPr>
            <p:cNvPr id="15" name="Text | 图像 → 传统视觉 / AI → 判定"/>
            <p:cNvSpPr txBox="1"/>
            <p:nvPr/>
          </p:nvSpPr>
          <p:spPr>
            <a:xfrm>
              <a:off x="615950" y="4280344"/>
              <a:ext cx="518160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007D9D"/>
                  </a:solidFill>
                  <a:latin typeface="Arial"/>
                  <a:ea typeface="SimHei"/>
                </a:rPr>
                <a:t>图像 → 传统视觉 / AI → 判定</a:t>
              </a:r>
            </a:p>
          </p:txBody>
        </p:sp>
        <p:sp>
          <p:nvSpPr>
            <p:cNvPr id="16" name="Text | 输出：位置、类别与合格判定"/>
            <p:cNvSpPr txBox="1"/>
            <p:nvPr/>
          </p:nvSpPr>
          <p:spPr>
            <a:xfrm>
              <a:off x="615950" y="4736656"/>
              <a:ext cx="51816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0" lang="zh-CN">
                  <a:solidFill>
                    <a:srgbClr val="4C6B83"/>
                  </a:solidFill>
                  <a:latin typeface="Arial"/>
                  <a:ea typeface="SimHei"/>
                </a:rPr>
                <a:t>输出：位置、类别与合格判定</a:t>
              </a:r>
            </a:p>
          </p:txBody>
        </p:sp>
      </p:grpSp>
      <p:grpSp>
        <p:nvGrpSpPr>
          <p:cNvPr id="17" name="Node | 测量：获得定义明确的指标"/>
          <p:cNvGrpSpPr/>
          <p:nvPr/>
        </p:nvGrpSpPr>
        <p:grpSpPr>
          <a:xfrm>
            <a:off x="6184900" y="1530350"/>
            <a:ext cx="5600700" cy="3733800"/>
            <a:chOff x="6184900" y="1530350"/>
            <a:chExt cx="5600700" cy="3733800"/>
          </a:xfrm>
        </p:grpSpPr>
        <p:sp>
          <p:nvSpPr>
            <p:cNvPr id="18" name="Panel | 3"/>
            <p:cNvSpPr/>
            <p:nvPr/>
          </p:nvSpPr>
          <p:spPr>
            <a:xfrm>
              <a:off x="6184900" y="1530350"/>
              <a:ext cx="5600700" cy="3733800"/>
            </a:xfrm>
            <a:prstGeom prst="roundRect">
              <a:avLst>
                <a:gd name="adj" fmla="val 3741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 | 测量：获得定义明确的指标"/>
            <p:cNvSpPr txBox="1"/>
            <p:nvPr/>
          </p:nvSpPr>
          <p:spPr>
            <a:xfrm>
              <a:off x="6362700" y="1669542"/>
              <a:ext cx="5238750" cy="35115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15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50" b="1" lang="zh-CN">
                  <a:solidFill>
                    <a:srgbClr val="082D48"/>
                  </a:solidFill>
                  <a:latin typeface="Arial"/>
                  <a:ea typeface="SimHei"/>
                </a:rPr>
                <a:t>测量：获得定义明确的指标</a:t>
              </a:r>
            </a:p>
          </p:txBody>
        </p:sp>
        <p:pic>
          <p:nvPicPr>
            <p:cNvPr id="20" name="Picture | Independent image" descr="938386b544cc3dcea0cd3895eb322acc6b99443d97c62c56d09096f190c4de0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69959" y="2063750"/>
              <a:ext cx="2230582" cy="2044700"/>
            </a:xfrm>
            <a:prstGeom prst="rect">
              <a:avLst/>
            </a:prstGeom>
          </p:spPr>
        </p:pic>
        <p:sp>
          <p:nvSpPr>
            <p:cNvPr id="21" name="Text | 标定 → 采集 / 分割 → 测量计算"/>
            <p:cNvSpPr txBox="1"/>
            <p:nvPr/>
          </p:nvSpPr>
          <p:spPr>
            <a:xfrm>
              <a:off x="6394450" y="4280344"/>
              <a:ext cx="518160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007D9D"/>
                  </a:solidFill>
                  <a:latin typeface="Arial"/>
                  <a:ea typeface="SimHei"/>
                </a:rPr>
                <a:t>标定 → 采集 / 分割 → 测量计算</a:t>
              </a:r>
            </a:p>
          </p:txBody>
        </p:sp>
        <p:sp>
          <p:nvSpPr>
            <p:cNvPr id="22" name="Text | 输出：尺寸、高度与几何指标"/>
            <p:cNvSpPr txBox="1"/>
            <p:nvPr/>
          </p:nvSpPr>
          <p:spPr>
            <a:xfrm>
              <a:off x="6394450" y="4736656"/>
              <a:ext cx="51816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0" lang="zh-CN">
                  <a:solidFill>
                    <a:srgbClr val="4C6B83"/>
                  </a:solidFill>
                  <a:latin typeface="Arial"/>
                  <a:ea typeface="SimHei"/>
                </a:rPr>
                <a:t>输出：尺寸、高度与几何指标</a:t>
              </a:r>
            </a:p>
          </p:txBody>
        </p:sp>
      </p:grpSp>
      <p:sp>
        <p:nvSpPr>
          <p:cNvPr id="23" name="Panel | 4"/>
          <p:cNvSpPr/>
          <p:nvPr/>
        </p:nvSpPr>
        <p:spPr>
          <a:xfrm>
            <a:off x="406400" y="5505450"/>
            <a:ext cx="11379200" cy="787400"/>
          </a:xfrm>
          <a:prstGeom prst="roundRect">
            <a:avLst>
              <a:gd name="adj" fmla="val 14516"/>
            </a:avLst>
          </a:prstGeom>
          <a:solidFill>
            <a:srgbClr val="E9F1FC"/>
          </a:solidFill>
          <a:ln w="6350" cap="rnd">
            <a:solidFill>
              <a:srgbClr val="C6D8EB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 | 共同底座：数据采集 → 算法执行 → 规则判定 → 结果归档"/>
          <p:cNvSpPr txBox="1"/>
          <p:nvPr/>
        </p:nvSpPr>
        <p:spPr>
          <a:xfrm>
            <a:off x="635000" y="5641022"/>
            <a:ext cx="10922000" cy="311023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>
              <a:lnSpc>
                <a:spcPts val="1906"/>
              </a:lnSpc>
              <a:spcBef>
                <a:spcPts val="0"/>
              </a:spcBef>
              <a:spcAft>
                <a:spcPts val="0"/>
              </a:spcAft>
            </a:pPr>
            <a:r>
              <a:rPr sz="1550" b="1" lang="zh-CN">
                <a:solidFill>
                  <a:srgbClr val="087F79"/>
                </a:solidFill>
                <a:latin typeface="Arial"/>
                <a:ea typeface="SimHei"/>
              </a:rPr>
              <a:t>共同底座：数据采集 → 算法执行 → 规则判定 → 结果归档</a:t>
            </a:r>
          </a:p>
        </p:txBody>
      </p:sp>
      <p:sp>
        <p:nvSpPr>
          <p:cNvPr id="25" name="Text | 测量结果需要标定、单位与参考验证；AI 可以辅助定位或分割"/>
          <p:cNvSpPr txBox="1"/>
          <p:nvPr/>
        </p:nvSpPr>
        <p:spPr>
          <a:xfrm>
            <a:off x="635000" y="5998528"/>
            <a:ext cx="10922000" cy="26085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>
              <a:lnSpc>
                <a:spcPts val="1599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4C6B83"/>
                </a:solidFill>
                <a:latin typeface="Arial"/>
                <a:ea typeface="SimHei"/>
              </a:rPr>
              <a:t>测量结果需要标定、单位与参考验证；AI 可以辅助定位或分割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007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 | 章节导览 / 第 03 章"/>
          <p:cNvSpPr txBox="1"/>
          <p:nvPr/>
        </p:nvSpPr>
        <p:spPr>
          <a:xfrm>
            <a:off x="546100" y="363410"/>
            <a:ext cx="9525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4C6B83"/>
                </a:solidFill>
                <a:latin typeface="Arial"/>
                <a:ea typeface="SimHei"/>
              </a:rPr>
              <a:t>章节导览 / 第 03 章</a:t>
            </a:r>
          </a:p>
        </p:txBody>
      </p:sp>
      <p:pic>
        <p:nvPicPr>
          <p:cNvPr id="4" name="Picture | Independent image" descr="139ef02520a55c1aaee95c1d6e7f5f730beac004ebb72c9c012b0f76513ab8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cxnSp>
        <p:nvCxnSpPr>
          <p:cNvPr id="5" name="Connector | 1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C6D8E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 | SwiftFlow + HawkeyePlus  |  Industrial Vision Engineering"/>
          <p:cNvSpPr txBox="1"/>
          <p:nvPr/>
        </p:nvSpPr>
        <p:spPr>
          <a:xfrm>
            <a:off x="412750" y="6607238"/>
            <a:ext cx="825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SwiftFlow + HawkeyePlus  |  Industrial Vision Engineering</a:t>
            </a:r>
          </a:p>
        </p:txBody>
      </p:sp>
      <p:sp>
        <p:nvSpPr>
          <p:cNvPr id="7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4C6B83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8" name="Text | 11 / 20"/>
          <p:cNvSpPr txBox="1"/>
          <p:nvPr/>
        </p:nvSpPr>
        <p:spPr>
          <a:xfrm>
            <a:off x="11137900" y="6607238"/>
            <a:ext cx="63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11 / 20</a:t>
            </a:r>
          </a:p>
        </p:txBody>
      </p:sp>
      <p:sp>
        <p:nvSpPr>
          <p:cNvPr id="9" name="Text | 03"/>
          <p:cNvSpPr txBox="1"/>
          <p:nvPr/>
        </p:nvSpPr>
        <p:spPr>
          <a:xfrm>
            <a:off x="495300" y="1704848"/>
            <a:ext cx="1714500" cy="1745742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0701"/>
              </a:lnSpc>
              <a:spcBef>
                <a:spcPts val="0"/>
              </a:spcBef>
              <a:spcAft>
                <a:spcPts val="0"/>
              </a:spcAft>
            </a:pPr>
            <a:r>
              <a:rPr sz="8700" b="1" lang="en-US">
                <a:solidFill>
                  <a:srgbClr val="007D9D"/>
                </a:solidFill>
                <a:latin typeface="Arial"/>
                <a:ea typeface="SimHei"/>
              </a:rPr>
              <a:t>03</a:t>
            </a:r>
          </a:p>
        </p:txBody>
      </p:sp>
      <p:sp>
        <p:nvSpPr>
          <p:cNvPr id="10" name="Text | HawkeyePlus"/>
          <p:cNvSpPr txBox="1"/>
          <p:nvPr/>
        </p:nvSpPr>
        <p:spPr>
          <a:xfrm>
            <a:off x="2203450" y="1857883"/>
            <a:ext cx="5873750" cy="591947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628"/>
              </a:lnSpc>
              <a:spcBef>
                <a:spcPts val="0"/>
              </a:spcBef>
              <a:spcAft>
                <a:spcPts val="0"/>
              </a:spcAft>
            </a:pPr>
            <a:r>
              <a:rPr sz="2950" b="1" lang="en-US">
                <a:solidFill>
                  <a:srgbClr val="082D48"/>
                </a:solidFill>
                <a:latin typeface="Arial"/>
                <a:ea typeface="SimHei"/>
              </a:rPr>
              <a:t>HawkeyePlus</a:t>
            </a:r>
          </a:p>
        </p:txBody>
      </p:sp>
      <p:sp>
        <p:nvSpPr>
          <p:cNvPr id="11" name="Text | 工业视觉模型研发与验证"/>
          <p:cNvSpPr txBox="1"/>
          <p:nvPr/>
        </p:nvSpPr>
        <p:spPr>
          <a:xfrm>
            <a:off x="2222500" y="2500503"/>
            <a:ext cx="5080000" cy="341122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4C6B83"/>
                </a:solidFill>
                <a:latin typeface="Arial"/>
                <a:ea typeface="SimHei"/>
              </a:rPr>
              <a:t>工业视觉模型研发与验证</a:t>
            </a:r>
          </a:p>
        </p:txBody>
      </p:sp>
      <p:cxnSp>
        <p:nvCxnSpPr>
          <p:cNvPr id="12" name="Connector | 2"/>
          <p:cNvCxnSpPr/>
          <p:nvPr/>
        </p:nvCxnSpPr>
        <p:spPr>
          <a:xfrm>
            <a:off x="520700" y="3086100"/>
            <a:ext cx="6375400" cy="0"/>
          </a:xfrm>
          <a:prstGeom prst="line">
            <a:avLst/>
          </a:prstGeom>
          <a:ln w="11430" cap="rnd">
            <a:solidFill>
              <a:srgbClr val="C6D8E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| 如何从数据出发，形成可验证、可交付的模型？"/>
          <p:cNvSpPr txBox="1"/>
          <p:nvPr/>
        </p:nvSpPr>
        <p:spPr>
          <a:xfrm>
            <a:off x="520700" y="3355022"/>
            <a:ext cx="6604000" cy="311023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906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zh-CN">
                <a:solidFill>
                  <a:srgbClr val="082D48"/>
                </a:solidFill>
                <a:latin typeface="Arial"/>
                <a:ea typeface="SimHei"/>
              </a:rPr>
              <a:t>如何从数据出发，形成可验证、可交付的模型？</a:t>
            </a:r>
          </a:p>
        </p:txBody>
      </p:sp>
      <p:pic>
        <p:nvPicPr>
          <p:cNvPr id="14" name="Picture | Independent image" descr="0e1cacdd2dd64d49c68307ca39c10d929dcfdd478b4480a29a0805d6b17ec4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2173817"/>
            <a:ext cx="3841750" cy="1792817"/>
          </a:xfrm>
          <a:prstGeom prst="rect">
            <a:avLst/>
          </a:prstGeom>
        </p:spPr>
      </p:pic>
      <p:grpSp>
        <p:nvGrpSpPr>
          <p:cNvPr id="15" name="Node | 模型研发流程"/>
          <p:cNvGrpSpPr/>
          <p:nvPr/>
        </p:nvGrpSpPr>
        <p:grpSpPr>
          <a:xfrm>
            <a:off x="406400" y="4978400"/>
            <a:ext cx="3670300" cy="984250"/>
            <a:chOff x="406400" y="4978400"/>
            <a:chExt cx="3670300" cy="984250"/>
          </a:xfrm>
        </p:grpSpPr>
        <p:sp>
          <p:nvSpPr>
            <p:cNvPr id="16" name="Panel | 2"/>
            <p:cNvSpPr/>
            <p:nvPr/>
          </p:nvSpPr>
          <p:spPr>
            <a:xfrm>
              <a:off x="406400" y="4978400"/>
              <a:ext cx="3670300" cy="984250"/>
            </a:xfrm>
            <a:prstGeom prst="roundRect">
              <a:avLst>
                <a:gd name="adj" fmla="val 11612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 | 03.1"/>
            <p:cNvSpPr txBox="1"/>
            <p:nvPr/>
          </p:nvSpPr>
          <p:spPr>
            <a:xfrm>
              <a:off x="577850" y="5157914"/>
              <a:ext cx="6985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en-US">
                  <a:solidFill>
                    <a:srgbClr val="007D9D"/>
                  </a:solidFill>
                  <a:latin typeface="Arial"/>
                  <a:ea typeface="SimHei"/>
                </a:rPr>
                <a:t>03.1</a:t>
              </a:r>
            </a:p>
          </p:txBody>
        </p:sp>
        <p:sp>
          <p:nvSpPr>
            <p:cNvPr id="18" name="Text | 模型研发流程"/>
            <p:cNvSpPr txBox="1"/>
            <p:nvPr/>
          </p:nvSpPr>
          <p:spPr>
            <a:xfrm>
              <a:off x="577850" y="5502275"/>
              <a:ext cx="332105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zh-CN">
                  <a:solidFill>
                    <a:srgbClr val="082D48"/>
                  </a:solidFill>
                  <a:latin typeface="Arial"/>
                  <a:ea typeface="SimHei"/>
                </a:rPr>
                <a:t>模型研发流程</a:t>
              </a:r>
            </a:p>
          </p:txBody>
        </p:sp>
      </p:grpSp>
      <p:grpSp>
        <p:nvGrpSpPr>
          <p:cNvPr id="19" name="Node | 当前模型能力"/>
          <p:cNvGrpSpPr/>
          <p:nvPr/>
        </p:nvGrpSpPr>
        <p:grpSpPr>
          <a:xfrm>
            <a:off x="4260850" y="4978400"/>
            <a:ext cx="3670300" cy="984250"/>
            <a:chOff x="4260850" y="4978400"/>
            <a:chExt cx="3670300" cy="984250"/>
          </a:xfrm>
        </p:grpSpPr>
        <p:sp>
          <p:nvSpPr>
            <p:cNvPr id="20" name="Panel | 3"/>
            <p:cNvSpPr/>
            <p:nvPr/>
          </p:nvSpPr>
          <p:spPr>
            <a:xfrm>
              <a:off x="4260850" y="4978400"/>
              <a:ext cx="3670300" cy="984250"/>
            </a:xfrm>
            <a:prstGeom prst="roundRect">
              <a:avLst>
                <a:gd name="adj" fmla="val 11612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 | 03.2"/>
            <p:cNvSpPr txBox="1"/>
            <p:nvPr/>
          </p:nvSpPr>
          <p:spPr>
            <a:xfrm>
              <a:off x="4432300" y="5157914"/>
              <a:ext cx="6985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en-US">
                  <a:solidFill>
                    <a:srgbClr val="007D9D"/>
                  </a:solidFill>
                  <a:latin typeface="Arial"/>
                  <a:ea typeface="SimHei"/>
                </a:rPr>
                <a:t>03.2</a:t>
              </a:r>
            </a:p>
          </p:txBody>
        </p:sp>
        <p:sp>
          <p:nvSpPr>
            <p:cNvPr id="22" name="Text | 当前模型能力"/>
            <p:cNvSpPr txBox="1"/>
            <p:nvPr/>
          </p:nvSpPr>
          <p:spPr>
            <a:xfrm>
              <a:off x="4432300" y="5502275"/>
              <a:ext cx="332105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zh-CN">
                  <a:solidFill>
                    <a:srgbClr val="082D48"/>
                  </a:solidFill>
                  <a:latin typeface="Arial"/>
                  <a:ea typeface="SimHei"/>
                </a:rPr>
                <a:t>当前模型能力</a:t>
              </a:r>
            </a:p>
          </p:txBody>
        </p:sp>
      </p:grpSp>
      <p:grpSp>
        <p:nvGrpSpPr>
          <p:cNvPr id="23" name="Node | 验证与版本管理"/>
          <p:cNvGrpSpPr/>
          <p:nvPr/>
        </p:nvGrpSpPr>
        <p:grpSpPr>
          <a:xfrm>
            <a:off x="8115300" y="4978400"/>
            <a:ext cx="3670300" cy="984250"/>
            <a:chOff x="8115300" y="4978400"/>
            <a:chExt cx="3670300" cy="984250"/>
          </a:xfrm>
        </p:grpSpPr>
        <p:sp>
          <p:nvSpPr>
            <p:cNvPr id="24" name="Panel | 4"/>
            <p:cNvSpPr/>
            <p:nvPr/>
          </p:nvSpPr>
          <p:spPr>
            <a:xfrm>
              <a:off x="8115300" y="4978400"/>
              <a:ext cx="3670300" cy="984250"/>
            </a:xfrm>
            <a:prstGeom prst="roundRect">
              <a:avLst>
                <a:gd name="adj" fmla="val 11612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 | 03.3"/>
            <p:cNvSpPr txBox="1"/>
            <p:nvPr/>
          </p:nvSpPr>
          <p:spPr>
            <a:xfrm>
              <a:off x="8286750" y="5157914"/>
              <a:ext cx="6985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en-US">
                  <a:solidFill>
                    <a:srgbClr val="007D9D"/>
                  </a:solidFill>
                  <a:latin typeface="Arial"/>
                  <a:ea typeface="SimHei"/>
                </a:rPr>
                <a:t>03.3</a:t>
              </a:r>
            </a:p>
          </p:txBody>
        </p:sp>
        <p:sp>
          <p:nvSpPr>
            <p:cNvPr id="26" name="Text | 验证与版本管理"/>
            <p:cNvSpPr txBox="1"/>
            <p:nvPr/>
          </p:nvSpPr>
          <p:spPr>
            <a:xfrm>
              <a:off x="8286750" y="5502275"/>
              <a:ext cx="332105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zh-CN">
                  <a:solidFill>
                    <a:srgbClr val="082D48"/>
                  </a:solidFill>
                  <a:latin typeface="Arial"/>
                  <a:ea typeface="SimHei"/>
                </a:rPr>
                <a:t>验证与版本管理</a:t>
              </a:r>
            </a:p>
          </p:txBody>
        </p:sp>
      </p:grpSp>
      <p:sp>
        <p:nvSpPr>
          <p:cNvPr id="27" name="Text | SwiftFlow + HawkeyePlus｜一套标准方法，两个互补平台"/>
          <p:cNvSpPr txBox="1"/>
          <p:nvPr/>
        </p:nvSpPr>
        <p:spPr>
          <a:xfrm>
            <a:off x="520700" y="6169088"/>
            <a:ext cx="10731500" cy="25082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537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zh-CN">
                <a:solidFill>
                  <a:srgbClr val="4C6B83"/>
                </a:solidFill>
                <a:latin typeface="Arial"/>
                <a:ea typeface="SimHei"/>
              </a:rPr>
              <a:t>SwiftFlow + HawkeyePlus｜一套标准方法，两个互补平台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nector | 1"/>
          <p:cNvSpPr/>
          <p:nvPr/>
        </p:nvSpPr>
        <p:spPr>
          <a:xfrm>
            <a:off x="8572500" y="0"/>
            <a:ext cx="3213100" cy="565150"/>
          </a:xfrm>
          <a:custGeom>
            <a:avLst/>
            <a:gdLst/>
            <a:ahLst/>
            <a:cxnLst/>
            <a:rect l="0" t="0" r="r" b="b"/>
            <a:pathLst>
              <a:path w="50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50600" y="8900"/>
                </a:lnTo>
              </a:path>
            </a:pathLst>
          </a:custGeom>
          <a:noFill/>
          <a:ln w="6350" cap="rnd">
            <a:solidFill>
              <a:srgbClr val="C6D8EB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le | 1"/>
          <p:cNvSpPr/>
          <p:nvPr/>
        </p:nvSpPr>
        <p:spPr>
          <a:xfrm>
            <a:off x="8832850" y="546100"/>
            <a:ext cx="38100" cy="38100"/>
          </a:xfrm>
          <a:prstGeom prst="ellipse">
            <a:avLst/>
          </a:prstGeom>
          <a:solidFill>
            <a:srgbClr val="C6D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nnector | 2"/>
          <p:cNvSpPr/>
          <p:nvPr/>
        </p:nvSpPr>
        <p:spPr>
          <a:xfrm>
            <a:off x="9588500" y="0"/>
            <a:ext cx="2197100" cy="565150"/>
          </a:xfrm>
          <a:custGeom>
            <a:avLst/>
            <a:gdLst/>
            <a:ahLst/>
            <a:cxnLst/>
            <a:rect l="0" t="0" r="r" b="b"/>
            <a:pathLst>
              <a:path w="34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34600" y="8900"/>
                </a:lnTo>
              </a:path>
            </a:pathLst>
          </a:custGeom>
          <a:noFill/>
          <a:ln w="6350" cap="rnd">
            <a:solidFill>
              <a:srgbClr val="C6D8EB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ircle | 2"/>
          <p:cNvSpPr/>
          <p:nvPr/>
        </p:nvSpPr>
        <p:spPr>
          <a:xfrm>
            <a:off x="9848850" y="546100"/>
            <a:ext cx="38100" cy="38100"/>
          </a:xfrm>
          <a:prstGeom prst="ellipse">
            <a:avLst/>
          </a:prstGeom>
          <a:solidFill>
            <a:srgbClr val="C6D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nector | 3"/>
          <p:cNvSpPr/>
          <p:nvPr/>
        </p:nvSpPr>
        <p:spPr>
          <a:xfrm>
            <a:off x="10604500" y="0"/>
            <a:ext cx="1181100" cy="565150"/>
          </a:xfrm>
          <a:custGeom>
            <a:avLst/>
            <a:gdLst/>
            <a:ahLst/>
            <a:cxnLst/>
            <a:rect l="0" t="0" r="r" b="b"/>
            <a:pathLst>
              <a:path w="18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18600" y="8900"/>
                </a:lnTo>
              </a:path>
            </a:pathLst>
          </a:custGeom>
          <a:noFill/>
          <a:ln w="6350" cap="rnd">
            <a:solidFill>
              <a:srgbClr val="C6D8EB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ircle | 3"/>
          <p:cNvSpPr/>
          <p:nvPr/>
        </p:nvSpPr>
        <p:spPr>
          <a:xfrm>
            <a:off x="10864850" y="546100"/>
            <a:ext cx="38100" cy="38100"/>
          </a:xfrm>
          <a:prstGeom prst="ellipse">
            <a:avLst/>
          </a:prstGeom>
          <a:solidFill>
            <a:srgbClr val="C6D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007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 | 第 03 章 / HawkeyePlus"/>
          <p:cNvSpPr txBox="1"/>
          <p:nvPr/>
        </p:nvSpPr>
        <p:spPr>
          <a:xfrm>
            <a:off x="546100" y="363410"/>
            <a:ext cx="7620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4C6B83"/>
                </a:solidFill>
                <a:latin typeface="Arial"/>
                <a:ea typeface="SimHei"/>
              </a:rPr>
              <a:t>第 03 章 / HawkeyePlus</a:t>
            </a:r>
          </a:p>
        </p:txBody>
      </p:sp>
      <p:pic>
        <p:nvPicPr>
          <p:cNvPr id="10" name="Picture | Independent image" descr="139ef02520a55c1aaee95c1d6e7f5f730beac004ebb72c9c012b0f76513ab8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sp>
        <p:nvSpPr>
          <p:cNvPr id="11" name="Text | HawkeyePlus｜工业视觉模型研发"/>
          <p:cNvSpPr txBox="1"/>
          <p:nvPr/>
        </p:nvSpPr>
        <p:spPr>
          <a:xfrm>
            <a:off x="406400" y="632396"/>
            <a:ext cx="10858500" cy="541782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321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zh-CN">
                <a:solidFill>
                  <a:srgbClr val="082D48"/>
                </a:solidFill>
                <a:latin typeface="Arial"/>
                <a:ea typeface="SimHei"/>
              </a:rPr>
              <a:t>HawkeyePlus｜工业视觉模型研发</a:t>
            </a:r>
          </a:p>
        </p:txBody>
      </p:sp>
      <p:sp>
        <p:nvSpPr>
          <p:cNvPr id="12" name="Text | 从工业图像到可交付模型，贯通数据、训练、验证与发布"/>
          <p:cNvSpPr txBox="1"/>
          <p:nvPr/>
        </p:nvSpPr>
        <p:spPr>
          <a:xfrm>
            <a:off x="425450" y="1072706"/>
            <a:ext cx="110490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4C6B83"/>
                </a:solidFill>
                <a:latin typeface="Arial"/>
                <a:ea typeface="SimHei"/>
              </a:rPr>
              <a:t>从工业图像到可交付模型，贯通数据、训练、验证与发布</a:t>
            </a:r>
          </a:p>
        </p:txBody>
      </p:sp>
      <p:cxnSp>
        <p:nvCxnSpPr>
          <p:cNvPr id="13" name="Connector | 4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C6D8E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| SwiftFlow + HawkeyePlus  |  Industrial Vision Engineering"/>
          <p:cNvSpPr txBox="1"/>
          <p:nvPr/>
        </p:nvSpPr>
        <p:spPr>
          <a:xfrm>
            <a:off x="412750" y="6607238"/>
            <a:ext cx="825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SwiftFlow + HawkeyePlus  |  Industrial Vision Engineering</a:t>
            </a:r>
          </a:p>
        </p:txBody>
      </p:sp>
      <p:sp>
        <p:nvSpPr>
          <p:cNvPr id="15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4C6B83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16" name="Text | 12 / 20"/>
          <p:cNvSpPr txBox="1"/>
          <p:nvPr/>
        </p:nvSpPr>
        <p:spPr>
          <a:xfrm>
            <a:off x="11137900" y="6607238"/>
            <a:ext cx="63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12 / 20</a:t>
            </a:r>
          </a:p>
        </p:txBody>
      </p:sp>
      <p:grpSp>
        <p:nvGrpSpPr>
          <p:cNvPr id="17" name="Node | 数据与标注资产"/>
          <p:cNvGrpSpPr/>
          <p:nvPr/>
        </p:nvGrpSpPr>
        <p:grpSpPr>
          <a:xfrm>
            <a:off x="406400" y="1504950"/>
            <a:ext cx="2997200" cy="2781300"/>
            <a:chOff x="406400" y="1504950"/>
            <a:chExt cx="2997200" cy="2781300"/>
          </a:xfrm>
        </p:grpSpPr>
        <p:sp>
          <p:nvSpPr>
            <p:cNvPr id="18" name="Panel | 2"/>
            <p:cNvSpPr/>
            <p:nvPr/>
          </p:nvSpPr>
          <p:spPr>
            <a:xfrm>
              <a:off x="406400" y="1504950"/>
              <a:ext cx="2997200" cy="2781300"/>
            </a:xfrm>
            <a:prstGeom prst="roundRect">
              <a:avLst>
                <a:gd name="adj" fmla="val 5022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 | 01"/>
            <p:cNvSpPr txBox="1"/>
            <p:nvPr/>
          </p:nvSpPr>
          <p:spPr>
            <a:xfrm>
              <a:off x="577850" y="1651508"/>
              <a:ext cx="381000" cy="22072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3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lang="en-US">
                  <a:solidFill>
                    <a:srgbClr val="007D9D"/>
                  </a:solidFill>
                  <a:latin typeface="Arial"/>
                  <a:ea typeface="SimHei"/>
                </a:rPr>
                <a:t>01</a:t>
              </a:r>
            </a:p>
          </p:txBody>
        </p:sp>
        <p:sp>
          <p:nvSpPr>
            <p:cNvPr id="20" name="Text | 数据与标注资产"/>
            <p:cNvSpPr txBox="1"/>
            <p:nvPr/>
          </p:nvSpPr>
          <p:spPr>
            <a:xfrm>
              <a:off x="920750" y="1616075"/>
              <a:ext cx="231775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zh-CN">
                  <a:solidFill>
                    <a:srgbClr val="082D48"/>
                  </a:solidFill>
                  <a:latin typeface="Arial"/>
                  <a:ea typeface="SimHei"/>
                </a:rPr>
                <a:t>数据与标注资产</a:t>
              </a:r>
            </a:p>
          </p:txBody>
        </p:sp>
        <p:pic>
          <p:nvPicPr>
            <p:cNvPr id="21" name="Picture | Independent image" descr="8579d0deefb513079e6032a0090151449e8830ef3cc775ab46f598f1603659e9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5856" y="1924050"/>
              <a:ext cx="2718288" cy="1682750"/>
            </a:xfrm>
            <a:prstGeom prst="rect">
              <a:avLst/>
            </a:prstGeom>
          </p:spPr>
        </p:pic>
        <p:sp>
          <p:nvSpPr>
            <p:cNvPr id="22" name="Text | 工业图像  +  标签 / 掩码"/>
            <p:cNvSpPr txBox="1"/>
            <p:nvPr/>
          </p:nvSpPr>
          <p:spPr>
            <a:xfrm>
              <a:off x="571500" y="3548316"/>
              <a:ext cx="26670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zh-CN">
                  <a:solidFill>
                    <a:srgbClr val="082D48"/>
                  </a:solidFill>
                  <a:latin typeface="Arial"/>
                  <a:ea typeface="SimHei"/>
                </a:rPr>
                <a:t>工业图像  +  标签 / 掩码</a:t>
              </a:r>
            </a:p>
          </p:txBody>
        </p:sp>
        <p:sp>
          <p:nvSpPr>
            <p:cNvPr id="23" name="Panel | 3"/>
            <p:cNvSpPr/>
            <p:nvPr/>
          </p:nvSpPr>
          <p:spPr>
            <a:xfrm>
              <a:off x="577850" y="3835400"/>
              <a:ext cx="806450" cy="241300"/>
            </a:xfrm>
            <a:prstGeom prst="roundRect">
              <a:avLst>
                <a:gd name="adj" fmla="val 26315"/>
              </a:avLst>
            </a:prstGeom>
            <a:solidFill>
              <a:srgbClr val="E5EF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 | 上传导入"/>
            <p:cNvSpPr txBox="1"/>
            <p:nvPr/>
          </p:nvSpPr>
          <p:spPr>
            <a:xfrm>
              <a:off x="615950" y="3874960"/>
              <a:ext cx="73025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zh-CN">
                  <a:solidFill>
                    <a:srgbClr val="007D9D"/>
                  </a:solidFill>
                  <a:latin typeface="Arial"/>
                  <a:ea typeface="SimHei"/>
                </a:rPr>
                <a:t>上传导入</a:t>
              </a:r>
            </a:p>
          </p:txBody>
        </p:sp>
        <p:sp>
          <p:nvSpPr>
            <p:cNvPr id="25" name="Panel | 4"/>
            <p:cNvSpPr/>
            <p:nvPr/>
          </p:nvSpPr>
          <p:spPr>
            <a:xfrm>
              <a:off x="1498600" y="3835400"/>
              <a:ext cx="806450" cy="241300"/>
            </a:xfrm>
            <a:prstGeom prst="roundRect">
              <a:avLst>
                <a:gd name="adj" fmla="val 26315"/>
              </a:avLst>
            </a:prstGeom>
            <a:solidFill>
              <a:srgbClr val="E5EF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 | 标注转换"/>
            <p:cNvSpPr txBox="1"/>
            <p:nvPr/>
          </p:nvSpPr>
          <p:spPr>
            <a:xfrm>
              <a:off x="1536700" y="3874960"/>
              <a:ext cx="73025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zh-CN">
                  <a:solidFill>
                    <a:srgbClr val="007D9D"/>
                  </a:solidFill>
                  <a:latin typeface="Arial"/>
                  <a:ea typeface="SimHei"/>
                </a:rPr>
                <a:t>标注转换</a:t>
              </a:r>
            </a:p>
          </p:txBody>
        </p:sp>
        <p:sp>
          <p:nvSpPr>
            <p:cNvPr id="27" name="Panel | 5"/>
            <p:cNvSpPr/>
            <p:nvPr/>
          </p:nvSpPr>
          <p:spPr>
            <a:xfrm>
              <a:off x="2419350" y="3835400"/>
              <a:ext cx="806450" cy="241300"/>
            </a:xfrm>
            <a:prstGeom prst="roundRect">
              <a:avLst>
                <a:gd name="adj" fmla="val 26315"/>
              </a:avLst>
            </a:prstGeom>
            <a:solidFill>
              <a:srgbClr val="E5EF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 | 样本预览"/>
            <p:cNvSpPr txBox="1"/>
            <p:nvPr/>
          </p:nvSpPr>
          <p:spPr>
            <a:xfrm>
              <a:off x="2457450" y="3874960"/>
              <a:ext cx="73025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zh-CN">
                  <a:solidFill>
                    <a:srgbClr val="007D9D"/>
                  </a:solidFill>
                  <a:latin typeface="Arial"/>
                  <a:ea typeface="SimHei"/>
                </a:rPr>
                <a:t>样本预览</a:t>
              </a:r>
            </a:p>
          </p:txBody>
        </p:sp>
      </p:grpSp>
      <p:grpSp>
        <p:nvGrpSpPr>
          <p:cNvPr id="29" name="Node | 可视化训练中枢"/>
          <p:cNvGrpSpPr/>
          <p:nvPr/>
        </p:nvGrpSpPr>
        <p:grpSpPr>
          <a:xfrm>
            <a:off x="3689350" y="1504950"/>
            <a:ext cx="4552950" cy="2781300"/>
            <a:chOff x="3689350" y="1504950"/>
            <a:chExt cx="4552950" cy="2781300"/>
          </a:xfrm>
        </p:grpSpPr>
        <p:sp>
          <p:nvSpPr>
            <p:cNvPr id="30" name="Panel | 6"/>
            <p:cNvSpPr/>
            <p:nvPr/>
          </p:nvSpPr>
          <p:spPr>
            <a:xfrm>
              <a:off x="3689350" y="1504950"/>
              <a:ext cx="4552950" cy="2781300"/>
            </a:xfrm>
            <a:prstGeom prst="roundRect">
              <a:avLst>
                <a:gd name="adj" fmla="val 5022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Panel | 7"/>
            <p:cNvSpPr/>
            <p:nvPr/>
          </p:nvSpPr>
          <p:spPr>
            <a:xfrm>
              <a:off x="5048250" y="1504950"/>
              <a:ext cx="1828800" cy="19050"/>
            </a:xfrm>
            <a:prstGeom prst="roundRect">
              <a:avLst>
                <a:gd name="adj" fmla="val 33333"/>
              </a:avLst>
            </a:prstGeom>
            <a:solidFill>
              <a:srgbClr val="007D9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 | 可视化训练中枢"/>
            <p:cNvSpPr txBox="1"/>
            <p:nvPr/>
          </p:nvSpPr>
          <p:spPr>
            <a:xfrm>
              <a:off x="3905250" y="1594231"/>
              <a:ext cx="4127500" cy="36118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22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lang="zh-CN">
                  <a:solidFill>
                    <a:srgbClr val="082D48"/>
                  </a:solidFill>
                  <a:latin typeface="Arial"/>
                  <a:ea typeface="SimHei"/>
                </a:rPr>
                <a:t>可视化训练中枢</a:t>
              </a:r>
            </a:p>
          </p:txBody>
        </p:sp>
        <p:sp>
          <p:nvSpPr>
            <p:cNvPr id="33" name="Panel | 8"/>
            <p:cNvSpPr/>
            <p:nvPr/>
          </p:nvSpPr>
          <p:spPr>
            <a:xfrm>
              <a:off x="3930650" y="1974850"/>
              <a:ext cx="1289050" cy="311150"/>
            </a:xfrm>
            <a:prstGeom prst="roundRect">
              <a:avLst>
                <a:gd name="adj" fmla="val 20408"/>
              </a:avLst>
            </a:prstGeom>
            <a:solidFill>
              <a:srgbClr val="E9F1FC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 | 数据集配置"/>
            <p:cNvSpPr txBox="1"/>
            <p:nvPr/>
          </p:nvSpPr>
          <p:spPr>
            <a:xfrm>
              <a:off x="3968750" y="2042477"/>
              <a:ext cx="121285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082D48"/>
                  </a:solidFill>
                  <a:latin typeface="Arial"/>
                  <a:ea typeface="SimHei"/>
                </a:rPr>
                <a:t>数据集配置</a:t>
              </a:r>
            </a:p>
          </p:txBody>
        </p:sp>
        <p:sp>
          <p:nvSpPr>
            <p:cNvPr id="35" name="Panel | 9"/>
            <p:cNvSpPr/>
            <p:nvPr/>
          </p:nvSpPr>
          <p:spPr>
            <a:xfrm>
              <a:off x="5321300" y="1974850"/>
              <a:ext cx="1289050" cy="311150"/>
            </a:xfrm>
            <a:prstGeom prst="roundRect">
              <a:avLst>
                <a:gd name="adj" fmla="val 20408"/>
              </a:avLst>
            </a:prstGeom>
            <a:solidFill>
              <a:srgbClr val="E9F1FC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 | 模型配置"/>
            <p:cNvSpPr txBox="1"/>
            <p:nvPr/>
          </p:nvSpPr>
          <p:spPr>
            <a:xfrm>
              <a:off x="5359400" y="2042477"/>
              <a:ext cx="121285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082D48"/>
                  </a:solidFill>
                  <a:latin typeface="Arial"/>
                  <a:ea typeface="SimHei"/>
                </a:rPr>
                <a:t>模型配置</a:t>
              </a:r>
            </a:p>
          </p:txBody>
        </p:sp>
        <p:sp>
          <p:nvSpPr>
            <p:cNvPr id="37" name="Panel | 10"/>
            <p:cNvSpPr/>
            <p:nvPr/>
          </p:nvSpPr>
          <p:spPr>
            <a:xfrm>
              <a:off x="6711950" y="1974850"/>
              <a:ext cx="1289050" cy="311150"/>
            </a:xfrm>
            <a:prstGeom prst="roundRect">
              <a:avLst>
                <a:gd name="adj" fmla="val 20408"/>
              </a:avLst>
            </a:prstGeom>
            <a:solidFill>
              <a:srgbClr val="E9F1FC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 | 训练参数"/>
            <p:cNvSpPr txBox="1"/>
            <p:nvPr/>
          </p:nvSpPr>
          <p:spPr>
            <a:xfrm>
              <a:off x="6750050" y="2042477"/>
              <a:ext cx="121285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082D48"/>
                  </a:solidFill>
                  <a:latin typeface="Arial"/>
                  <a:ea typeface="SimHei"/>
                </a:rPr>
                <a:t>训练参数</a:t>
              </a:r>
            </a:p>
          </p:txBody>
        </p:sp>
        <p:sp>
          <p:nvSpPr>
            <p:cNvPr id="39" name="Connector | 5"/>
            <p:cNvSpPr/>
            <p:nvPr/>
          </p:nvSpPr>
          <p:spPr>
            <a:xfrm>
              <a:off x="4572000" y="2298700"/>
              <a:ext cx="2781300" cy="234950"/>
            </a:xfrm>
            <a:custGeom>
              <a:avLst/>
              <a:gdLst/>
              <a:ahLst/>
              <a:cxnLst/>
              <a:rect l="0" t="0" r="r" b="b"/>
              <a:pathLst>
                <a:path w="43800" h="3700" fill="none">
                  <a:moveTo>
                    <a:pt x="0" y="0"/>
                  </a:moveTo>
                  <a:lnTo>
                    <a:pt x="0" y="1800"/>
                  </a:lnTo>
                  <a:lnTo>
                    <a:pt x="43800" y="1800"/>
                  </a:lnTo>
                  <a:lnTo>
                    <a:pt x="43800" y="0"/>
                  </a:lnTo>
                  <a:moveTo>
                    <a:pt x="22000" y="0"/>
                  </a:moveTo>
                  <a:lnTo>
                    <a:pt x="22000" y="3700"/>
                  </a:lnTo>
                </a:path>
              </a:pathLst>
            </a:custGeom>
            <a:noFill/>
            <a:ln w="11430" cap="rnd">
              <a:solidFill>
                <a:srgbClr val="007D9D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0" name="Picture | Independent image" descr="0e1cacdd2dd64d49c68307ca39c10d929dcfdd478b4480a29a0805d6b17ec43b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15732" y="2400300"/>
              <a:ext cx="3306536" cy="1543050"/>
            </a:xfrm>
            <a:prstGeom prst="rect">
              <a:avLst/>
            </a:prstGeom>
          </p:spPr>
        </p:pic>
        <p:sp>
          <p:nvSpPr>
            <p:cNvPr id="41" name="Panel | 11"/>
            <p:cNvSpPr/>
            <p:nvPr/>
          </p:nvSpPr>
          <p:spPr>
            <a:xfrm>
              <a:off x="3873500" y="3937000"/>
              <a:ext cx="1270000" cy="241300"/>
            </a:xfrm>
            <a:prstGeom prst="roundRect">
              <a:avLst>
                <a:gd name="adj" fmla="val 26315"/>
              </a:avLst>
            </a:prstGeom>
            <a:solidFill>
              <a:srgbClr val="E5EF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Text | 任务编排"/>
            <p:cNvSpPr txBox="1"/>
            <p:nvPr/>
          </p:nvSpPr>
          <p:spPr>
            <a:xfrm>
              <a:off x="3911600" y="3976560"/>
              <a:ext cx="11938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zh-CN">
                  <a:solidFill>
                    <a:srgbClr val="007D9D"/>
                  </a:solidFill>
                  <a:latin typeface="Arial"/>
                  <a:ea typeface="SimHei"/>
                </a:rPr>
                <a:t>任务编排</a:t>
              </a:r>
            </a:p>
          </p:txBody>
        </p:sp>
        <p:sp>
          <p:nvSpPr>
            <p:cNvPr id="43" name="Panel | 12"/>
            <p:cNvSpPr/>
            <p:nvPr/>
          </p:nvSpPr>
          <p:spPr>
            <a:xfrm>
              <a:off x="5334000" y="3937000"/>
              <a:ext cx="1270000" cy="241300"/>
            </a:xfrm>
            <a:prstGeom prst="roundRect">
              <a:avLst>
                <a:gd name="adj" fmla="val 26315"/>
              </a:avLst>
            </a:prstGeom>
            <a:solidFill>
              <a:srgbClr val="E5EF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Text | GPU 选择"/>
            <p:cNvSpPr txBox="1"/>
            <p:nvPr/>
          </p:nvSpPr>
          <p:spPr>
            <a:xfrm>
              <a:off x="5372100" y="3976560"/>
              <a:ext cx="11938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zh-CN">
                  <a:solidFill>
                    <a:srgbClr val="007D9D"/>
                  </a:solidFill>
                  <a:latin typeface="Arial"/>
                  <a:ea typeface="SimHei"/>
                </a:rPr>
                <a:t>GPU 选择</a:t>
              </a:r>
            </a:p>
          </p:txBody>
        </p:sp>
        <p:sp>
          <p:nvSpPr>
            <p:cNvPr id="45" name="Panel | 13"/>
            <p:cNvSpPr/>
            <p:nvPr/>
          </p:nvSpPr>
          <p:spPr>
            <a:xfrm>
              <a:off x="6794500" y="3937000"/>
              <a:ext cx="1270000" cy="241300"/>
            </a:xfrm>
            <a:prstGeom prst="roundRect">
              <a:avLst>
                <a:gd name="adj" fmla="val 26315"/>
              </a:avLst>
            </a:prstGeom>
            <a:solidFill>
              <a:srgbClr val="E5EF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Text | 训练监控"/>
            <p:cNvSpPr txBox="1"/>
            <p:nvPr/>
          </p:nvSpPr>
          <p:spPr>
            <a:xfrm>
              <a:off x="6832600" y="3976560"/>
              <a:ext cx="11938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zh-CN">
                  <a:solidFill>
                    <a:srgbClr val="007D9D"/>
                  </a:solidFill>
                  <a:latin typeface="Arial"/>
                  <a:ea typeface="SimHei"/>
                </a:rPr>
                <a:t>训练监控</a:t>
              </a:r>
            </a:p>
          </p:txBody>
        </p:sp>
      </p:grpSp>
      <p:grpSp>
        <p:nvGrpSpPr>
          <p:cNvPr id="47" name="Node | 验证与模型交付"/>
          <p:cNvGrpSpPr/>
          <p:nvPr/>
        </p:nvGrpSpPr>
        <p:grpSpPr>
          <a:xfrm>
            <a:off x="8528050" y="1504950"/>
            <a:ext cx="3257550" cy="2781300"/>
            <a:chOff x="8528050" y="1504950"/>
            <a:chExt cx="3257550" cy="2781300"/>
          </a:xfrm>
        </p:grpSpPr>
        <p:sp>
          <p:nvSpPr>
            <p:cNvPr id="48" name="Panel | 14"/>
            <p:cNvSpPr/>
            <p:nvPr/>
          </p:nvSpPr>
          <p:spPr>
            <a:xfrm>
              <a:off x="8528050" y="1504950"/>
              <a:ext cx="3257550" cy="2781300"/>
            </a:xfrm>
            <a:prstGeom prst="roundRect">
              <a:avLst>
                <a:gd name="adj" fmla="val 5022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 | 02"/>
            <p:cNvSpPr txBox="1"/>
            <p:nvPr/>
          </p:nvSpPr>
          <p:spPr>
            <a:xfrm>
              <a:off x="8699500" y="1651508"/>
              <a:ext cx="381000" cy="22072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3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lang="en-US">
                  <a:solidFill>
                    <a:srgbClr val="007D9D"/>
                  </a:solidFill>
                  <a:latin typeface="Arial"/>
                  <a:ea typeface="SimHei"/>
                </a:rPr>
                <a:t>02</a:t>
              </a:r>
            </a:p>
          </p:txBody>
        </p:sp>
        <p:sp>
          <p:nvSpPr>
            <p:cNvPr id="50" name="Text | 验证与模型交付"/>
            <p:cNvSpPr txBox="1"/>
            <p:nvPr/>
          </p:nvSpPr>
          <p:spPr>
            <a:xfrm>
              <a:off x="9042400" y="1616075"/>
              <a:ext cx="254000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zh-CN">
                  <a:solidFill>
                    <a:srgbClr val="082D48"/>
                  </a:solidFill>
                  <a:latin typeface="Arial"/>
                  <a:ea typeface="SimHei"/>
                </a:rPr>
                <a:t>验证与模型交付</a:t>
              </a:r>
            </a:p>
          </p:txBody>
        </p:sp>
        <p:pic>
          <p:nvPicPr>
            <p:cNvPr id="51" name="Picture | Independent image" descr="9d8a396ed4272854fb93ae8fa019b1c482371fd2a5043a2fbf37b1757aef0d47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674389" y="1955800"/>
              <a:ext cx="755073" cy="692150"/>
            </a:xfrm>
            <a:prstGeom prst="rect">
              <a:avLst/>
            </a:prstGeom>
          </p:spPr>
        </p:pic>
        <p:sp>
          <p:nvSpPr>
            <p:cNvPr id="52" name="Text | 评估与推理"/>
            <p:cNvSpPr txBox="1"/>
            <p:nvPr/>
          </p:nvSpPr>
          <p:spPr>
            <a:xfrm>
              <a:off x="9512300" y="2051494"/>
              <a:ext cx="208280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082D48"/>
                  </a:solidFill>
                  <a:latin typeface="Arial"/>
                  <a:ea typeface="SimHei"/>
                </a:rPr>
                <a:t>评估与推理</a:t>
              </a:r>
            </a:p>
          </p:txBody>
        </p:sp>
        <p:sp>
          <p:nvSpPr>
            <p:cNvPr id="53" name="Text | 指标评估 · 结果预览"/>
            <p:cNvSpPr txBox="1"/>
            <p:nvPr/>
          </p:nvSpPr>
          <p:spPr>
            <a:xfrm>
              <a:off x="9512300" y="2331910"/>
              <a:ext cx="20828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4C6B83"/>
                  </a:solidFill>
                  <a:latin typeface="Arial"/>
                  <a:ea typeface="SimHei"/>
                </a:rPr>
                <a:t>指标评估 · 结果预览</a:t>
              </a:r>
            </a:p>
          </p:txBody>
        </p:sp>
        <p:cxnSp>
          <p:nvCxnSpPr>
            <p:cNvPr id="54" name="Connector | 6"/>
            <p:cNvCxnSpPr/>
            <p:nvPr/>
          </p:nvCxnSpPr>
          <p:spPr>
            <a:xfrm>
              <a:off x="9512300" y="2590800"/>
              <a:ext cx="2089150" cy="0"/>
            </a:xfrm>
            <a:prstGeom prst="line">
              <a:avLst/>
            </a:prstGeom>
            <a:ln w="6350" cap="rnd">
              <a:solidFill>
                <a:srgbClr val="C6D8E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5" name="Picture | Independent image" descr="b418b74bd7f607f66ccbaa366ffc37930d8c183c416862c7b7d5207fccec448f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74389" y="2673350"/>
              <a:ext cx="755073" cy="692150"/>
            </a:xfrm>
            <a:prstGeom prst="rect">
              <a:avLst/>
            </a:prstGeom>
          </p:spPr>
        </p:pic>
        <p:sp>
          <p:nvSpPr>
            <p:cNvPr id="56" name="Text | 推理模型导出"/>
            <p:cNvSpPr txBox="1"/>
            <p:nvPr/>
          </p:nvSpPr>
          <p:spPr>
            <a:xfrm>
              <a:off x="9512300" y="2769044"/>
              <a:ext cx="208280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082D48"/>
                  </a:solidFill>
                  <a:latin typeface="Arial"/>
                  <a:ea typeface="SimHei"/>
                </a:rPr>
                <a:t>推理模型导出</a:t>
              </a:r>
            </a:p>
          </p:txBody>
        </p:sp>
        <p:sp>
          <p:nvSpPr>
            <p:cNvPr id="57" name="Text | 模型转换 · 打包下载"/>
            <p:cNvSpPr txBox="1"/>
            <p:nvPr/>
          </p:nvSpPr>
          <p:spPr>
            <a:xfrm>
              <a:off x="9512300" y="3049460"/>
              <a:ext cx="20828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4C6B83"/>
                  </a:solidFill>
                  <a:latin typeface="Arial"/>
                  <a:ea typeface="SimHei"/>
                </a:rPr>
                <a:t>模型转换 · 打包下载</a:t>
              </a:r>
            </a:p>
          </p:txBody>
        </p:sp>
        <p:cxnSp>
          <p:nvCxnSpPr>
            <p:cNvPr id="58" name="Connector | 7"/>
            <p:cNvCxnSpPr/>
            <p:nvPr/>
          </p:nvCxnSpPr>
          <p:spPr>
            <a:xfrm>
              <a:off x="9512300" y="3308350"/>
              <a:ext cx="2089150" cy="0"/>
            </a:xfrm>
            <a:prstGeom prst="line">
              <a:avLst/>
            </a:prstGeom>
            <a:ln w="6350" cap="rnd">
              <a:solidFill>
                <a:srgbClr val="C6D8E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9" name="Picture | Independent image" descr="12bb1e3e4f2e170eca1f6489649f4e45a3b3250e5c5303eec76095d714b0e260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674389" y="3390900"/>
              <a:ext cx="755073" cy="692150"/>
            </a:xfrm>
            <a:prstGeom prst="rect">
              <a:avLst/>
            </a:prstGeom>
          </p:spPr>
        </p:pic>
        <p:sp>
          <p:nvSpPr>
            <p:cNvPr id="60" name="Text | 模型版本发布"/>
            <p:cNvSpPr txBox="1"/>
            <p:nvPr/>
          </p:nvSpPr>
          <p:spPr>
            <a:xfrm>
              <a:off x="9512300" y="3486595"/>
              <a:ext cx="208280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082D48"/>
                  </a:solidFill>
                  <a:latin typeface="Arial"/>
                  <a:ea typeface="SimHei"/>
                </a:rPr>
                <a:t>模型版本发布</a:t>
              </a:r>
            </a:p>
          </p:txBody>
        </p:sp>
        <p:sp>
          <p:nvSpPr>
            <p:cNvPr id="61" name="Text | 按产品管理 · 激活切换"/>
            <p:cNvSpPr txBox="1"/>
            <p:nvPr/>
          </p:nvSpPr>
          <p:spPr>
            <a:xfrm>
              <a:off x="9512300" y="3767010"/>
              <a:ext cx="20828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4C6B83"/>
                  </a:solidFill>
                  <a:latin typeface="Arial"/>
                  <a:ea typeface="SimHei"/>
                </a:rPr>
                <a:t>按产品管理 · 激活切换</a:t>
              </a:r>
            </a:p>
          </p:txBody>
        </p:sp>
      </p:grpSp>
      <p:cxnSp>
        <p:nvCxnSpPr>
          <p:cNvPr id="62" name="Connector | 8"/>
          <p:cNvCxnSpPr/>
          <p:nvPr/>
        </p:nvCxnSpPr>
        <p:spPr>
          <a:xfrm>
            <a:off x="3435350" y="2844800"/>
            <a:ext cx="203200" cy="0"/>
          </a:xfrm>
          <a:prstGeom prst="line">
            <a:avLst/>
          </a:prstGeom>
          <a:ln w="15875" cap="rnd">
            <a:solidFill>
              <a:srgbClr val="007D9D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| 9"/>
          <p:cNvCxnSpPr/>
          <p:nvPr/>
        </p:nvCxnSpPr>
        <p:spPr>
          <a:xfrm>
            <a:off x="8293100" y="2844800"/>
            <a:ext cx="190500" cy="0"/>
          </a:xfrm>
          <a:prstGeom prst="line">
            <a:avLst/>
          </a:prstGeom>
          <a:ln w="15875" cap="rnd">
            <a:solidFill>
              <a:srgbClr val="007D9D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| 10"/>
          <p:cNvCxnSpPr/>
          <p:nvPr/>
        </p:nvCxnSpPr>
        <p:spPr>
          <a:xfrm>
            <a:off x="5969000" y="4298950"/>
            <a:ext cx="0" cy="158750"/>
          </a:xfrm>
          <a:prstGeom prst="line">
            <a:avLst/>
          </a:prstGeom>
          <a:ln w="15875" cap="rnd">
            <a:solidFill>
              <a:srgbClr val="007D9D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5" name="Node | 多框架训练能力"/>
          <p:cNvGrpSpPr/>
          <p:nvPr/>
        </p:nvGrpSpPr>
        <p:grpSpPr>
          <a:xfrm>
            <a:off x="406400" y="4508500"/>
            <a:ext cx="6781800" cy="350330"/>
            <a:chOff x="406400" y="4508500"/>
            <a:chExt cx="6781800" cy="350330"/>
          </a:xfrm>
        </p:grpSpPr>
        <p:sp>
          <p:nvSpPr>
            <p:cNvPr id="66" name="Panel | 15"/>
            <p:cNvSpPr/>
            <p:nvPr/>
          </p:nvSpPr>
          <p:spPr>
            <a:xfrm>
              <a:off x="406400" y="4508500"/>
              <a:ext cx="6781800" cy="323850"/>
            </a:xfrm>
            <a:prstGeom prst="roundRect">
              <a:avLst>
                <a:gd name="adj" fmla="val 23529"/>
              </a:avLst>
            </a:prstGeom>
            <a:solidFill>
              <a:srgbClr val="E9F1FC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Text | 多框架训练能力"/>
            <p:cNvSpPr txBox="1"/>
            <p:nvPr/>
          </p:nvSpPr>
          <p:spPr>
            <a:xfrm>
              <a:off x="577850" y="4577906"/>
              <a:ext cx="57150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zh-CN">
                  <a:solidFill>
                    <a:srgbClr val="007D9D"/>
                  </a:solidFill>
                  <a:latin typeface="Arial"/>
                  <a:ea typeface="SimHei"/>
                </a:rPr>
                <a:t>多框架训练能力</a:t>
              </a:r>
            </a:p>
          </p:txBody>
        </p:sp>
      </p:grpSp>
      <p:grpSp>
        <p:nvGrpSpPr>
          <p:cNvPr id="68" name="Node | 运行与资产底座"/>
          <p:cNvGrpSpPr/>
          <p:nvPr/>
        </p:nvGrpSpPr>
        <p:grpSpPr>
          <a:xfrm>
            <a:off x="7366000" y="4508500"/>
            <a:ext cx="4419600" cy="350330"/>
            <a:chOff x="7366000" y="4508500"/>
            <a:chExt cx="4419600" cy="350330"/>
          </a:xfrm>
        </p:grpSpPr>
        <p:sp>
          <p:nvSpPr>
            <p:cNvPr id="69" name="Panel | 16"/>
            <p:cNvSpPr/>
            <p:nvPr/>
          </p:nvSpPr>
          <p:spPr>
            <a:xfrm>
              <a:off x="7366000" y="4508500"/>
              <a:ext cx="4419600" cy="323850"/>
            </a:xfrm>
            <a:prstGeom prst="roundRect">
              <a:avLst>
                <a:gd name="adj" fmla="val 23529"/>
              </a:avLst>
            </a:prstGeom>
            <a:solidFill>
              <a:srgbClr val="E9F1FC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Text | 运行与资产底座"/>
            <p:cNvSpPr txBox="1"/>
            <p:nvPr/>
          </p:nvSpPr>
          <p:spPr>
            <a:xfrm>
              <a:off x="7537450" y="4577906"/>
              <a:ext cx="39370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zh-CN">
                  <a:solidFill>
                    <a:srgbClr val="007D9D"/>
                  </a:solidFill>
                  <a:latin typeface="Arial"/>
                  <a:ea typeface="SimHei"/>
                </a:rPr>
                <a:t>运行与资产底座</a:t>
              </a:r>
            </a:p>
          </p:txBody>
        </p:sp>
      </p:grpSp>
      <p:grpSp>
        <p:nvGrpSpPr>
          <p:cNvPr id="71" name="Node | PaddlePaddle"/>
          <p:cNvGrpSpPr/>
          <p:nvPr/>
        </p:nvGrpSpPr>
        <p:grpSpPr>
          <a:xfrm>
            <a:off x="457200" y="4961202"/>
            <a:ext cx="2216150" cy="878946"/>
            <a:chOff x="457200" y="4961202"/>
            <a:chExt cx="2216150" cy="878946"/>
          </a:xfrm>
        </p:grpSpPr>
        <p:pic>
          <p:nvPicPr>
            <p:cNvPr id="72" name="Picture | Independent image" descr="10f25e817439b63bbb2888f8667673b9137f3e1d356d9294429af5d5fbbc5a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57200" y="4961202"/>
              <a:ext cx="958850" cy="878946"/>
            </a:xfrm>
            <a:prstGeom prst="rect">
              <a:avLst/>
            </a:prstGeom>
          </p:spPr>
        </p:pic>
        <p:sp>
          <p:nvSpPr>
            <p:cNvPr id="73" name="Text | PaddlePaddle"/>
            <p:cNvSpPr txBox="1"/>
            <p:nvPr/>
          </p:nvSpPr>
          <p:spPr>
            <a:xfrm>
              <a:off x="1454150" y="5103178"/>
              <a:ext cx="121285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en-US">
                  <a:solidFill>
                    <a:srgbClr val="082D48"/>
                  </a:solidFill>
                  <a:latin typeface="Arial"/>
                  <a:ea typeface="SimHei"/>
                </a:rPr>
                <a:t>PaddlePaddle</a:t>
              </a:r>
            </a:p>
          </p:txBody>
        </p:sp>
        <p:sp>
          <p:nvSpPr>
            <p:cNvPr id="74" name="Text | 检测 · 分类 · 分割"/>
            <p:cNvSpPr txBox="1"/>
            <p:nvPr/>
          </p:nvSpPr>
          <p:spPr>
            <a:xfrm>
              <a:off x="1454150" y="5430266"/>
              <a:ext cx="1219200" cy="18490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13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21" b="0" lang="zh-CN">
                  <a:solidFill>
                    <a:srgbClr val="4C6B83"/>
                  </a:solidFill>
                  <a:latin typeface="Arial"/>
                  <a:ea typeface="SimHei"/>
                </a:rPr>
                <a:t>检测 · 分类 · 分割</a:t>
              </a:r>
            </a:p>
          </p:txBody>
        </p:sp>
      </p:grpSp>
      <p:grpSp>
        <p:nvGrpSpPr>
          <p:cNvPr id="75" name="Node | PyTorch"/>
          <p:cNvGrpSpPr/>
          <p:nvPr/>
        </p:nvGrpSpPr>
        <p:grpSpPr>
          <a:xfrm>
            <a:off x="2717800" y="4961202"/>
            <a:ext cx="2216150" cy="878946"/>
            <a:chOff x="2717800" y="4961202"/>
            <a:chExt cx="2216150" cy="878946"/>
          </a:xfrm>
        </p:grpSpPr>
        <p:pic>
          <p:nvPicPr>
            <p:cNvPr id="76" name="Picture | Independent image" descr="b7cda7eda4823c4e073e91afa226f093818297236f9f4082c33c14ca94c0cbd4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717800" y="4961202"/>
              <a:ext cx="958850" cy="878946"/>
            </a:xfrm>
            <a:prstGeom prst="rect">
              <a:avLst/>
            </a:prstGeom>
          </p:spPr>
        </p:pic>
        <p:sp>
          <p:nvSpPr>
            <p:cNvPr id="77" name="Text | PyTorch"/>
            <p:cNvSpPr txBox="1"/>
            <p:nvPr/>
          </p:nvSpPr>
          <p:spPr>
            <a:xfrm>
              <a:off x="3714750" y="5103178"/>
              <a:ext cx="121285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en-US">
                  <a:solidFill>
                    <a:srgbClr val="082D48"/>
                  </a:solidFill>
                  <a:latin typeface="Arial"/>
                  <a:ea typeface="SimHei"/>
                </a:rPr>
                <a:t>PyTorch</a:t>
              </a:r>
            </a:p>
          </p:txBody>
        </p:sp>
        <p:sp>
          <p:nvSpPr>
            <p:cNvPr id="78" name="Text | 检测 · 分割"/>
            <p:cNvSpPr txBox="1"/>
            <p:nvPr/>
          </p:nvSpPr>
          <p:spPr>
            <a:xfrm>
              <a:off x="3714750" y="5410772"/>
              <a:ext cx="1219200" cy="22072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3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0" lang="zh-CN">
                  <a:solidFill>
                    <a:srgbClr val="4C6B83"/>
                  </a:solidFill>
                  <a:latin typeface="Arial"/>
                  <a:ea typeface="SimHei"/>
                </a:rPr>
                <a:t>检测 · 分割</a:t>
              </a:r>
            </a:p>
          </p:txBody>
        </p:sp>
      </p:grpSp>
      <p:grpSp>
        <p:nvGrpSpPr>
          <p:cNvPr id="79" name="Node | anomalib"/>
          <p:cNvGrpSpPr/>
          <p:nvPr/>
        </p:nvGrpSpPr>
        <p:grpSpPr>
          <a:xfrm>
            <a:off x="4978400" y="4961202"/>
            <a:ext cx="2216150" cy="878946"/>
            <a:chOff x="4978400" y="4961202"/>
            <a:chExt cx="2216150" cy="878946"/>
          </a:xfrm>
        </p:grpSpPr>
        <p:pic>
          <p:nvPicPr>
            <p:cNvPr id="80" name="Picture | Independent image" descr="14cf058bf4c31d285d2775644809936f5b5199b273ff11a60778980103dad71b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978400" y="4961202"/>
              <a:ext cx="958850" cy="878946"/>
            </a:xfrm>
            <a:prstGeom prst="rect">
              <a:avLst/>
            </a:prstGeom>
          </p:spPr>
        </p:pic>
        <p:sp>
          <p:nvSpPr>
            <p:cNvPr id="81" name="Text | anomalib"/>
            <p:cNvSpPr txBox="1"/>
            <p:nvPr/>
          </p:nvSpPr>
          <p:spPr>
            <a:xfrm>
              <a:off x="5975350" y="5103178"/>
              <a:ext cx="121285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en-US">
                  <a:solidFill>
                    <a:srgbClr val="082D48"/>
                  </a:solidFill>
                  <a:latin typeface="Arial"/>
                  <a:ea typeface="SimHei"/>
                </a:rPr>
                <a:t>anomalib</a:t>
              </a:r>
            </a:p>
          </p:txBody>
        </p:sp>
        <p:sp>
          <p:nvSpPr>
            <p:cNvPr id="82" name="Text | 无监督异常检测"/>
            <p:cNvSpPr txBox="1"/>
            <p:nvPr/>
          </p:nvSpPr>
          <p:spPr>
            <a:xfrm>
              <a:off x="5975350" y="5410772"/>
              <a:ext cx="1219200" cy="22072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3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0" lang="zh-CN">
                  <a:solidFill>
                    <a:srgbClr val="4C6B83"/>
                  </a:solidFill>
                  <a:latin typeface="Arial"/>
                  <a:ea typeface="SimHei"/>
                </a:rPr>
                <a:t>无监督异常检测</a:t>
              </a:r>
            </a:p>
          </p:txBody>
        </p:sp>
      </p:grpSp>
      <p:grpSp>
        <p:nvGrpSpPr>
          <p:cNvPr id="83" name="Node | 算力与环境"/>
          <p:cNvGrpSpPr/>
          <p:nvPr/>
        </p:nvGrpSpPr>
        <p:grpSpPr>
          <a:xfrm>
            <a:off x="7391400" y="4981310"/>
            <a:ext cx="2127250" cy="832379"/>
            <a:chOff x="7391400" y="4981310"/>
            <a:chExt cx="2127250" cy="832379"/>
          </a:xfrm>
        </p:grpSpPr>
        <p:pic>
          <p:nvPicPr>
            <p:cNvPr id="84" name="Picture | Independent image" descr="d9f05c59afa7b59b616d3bd2d29ea49b60eccaedfc61de0fa0c9a96bdf5effd3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391400" y="4981310"/>
              <a:ext cx="908050" cy="832379"/>
            </a:xfrm>
            <a:prstGeom prst="rect">
              <a:avLst/>
            </a:prstGeom>
          </p:spPr>
        </p:pic>
        <p:sp>
          <p:nvSpPr>
            <p:cNvPr id="85" name="Text | 算力与环境"/>
            <p:cNvSpPr txBox="1"/>
            <p:nvPr/>
          </p:nvSpPr>
          <p:spPr>
            <a:xfrm>
              <a:off x="8324850" y="5116766"/>
              <a:ext cx="11938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zh-CN">
                  <a:solidFill>
                    <a:srgbClr val="082D48"/>
                  </a:solidFill>
                  <a:latin typeface="Arial"/>
                  <a:ea typeface="SimHei"/>
                </a:rPr>
                <a:t>算力与环境</a:t>
              </a:r>
            </a:p>
          </p:txBody>
        </p:sp>
        <p:sp>
          <p:nvSpPr>
            <p:cNvPr id="86" name="Text | GPU / Python"/>
            <p:cNvSpPr txBox="1"/>
            <p:nvPr/>
          </p:nvSpPr>
          <p:spPr>
            <a:xfrm>
              <a:off x="8324850" y="5404358"/>
              <a:ext cx="1193800" cy="22072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3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0" lang="en-US">
                  <a:solidFill>
                    <a:srgbClr val="4C6B83"/>
                  </a:solidFill>
                  <a:latin typeface="Arial"/>
                  <a:ea typeface="SimHei"/>
                </a:rPr>
                <a:t>GPU / Python</a:t>
              </a:r>
            </a:p>
          </p:txBody>
        </p:sp>
      </p:grpSp>
      <p:grpSp>
        <p:nvGrpSpPr>
          <p:cNvPr id="87" name="Node | 数据与资产"/>
          <p:cNvGrpSpPr/>
          <p:nvPr/>
        </p:nvGrpSpPr>
        <p:grpSpPr>
          <a:xfrm>
            <a:off x="9601200" y="4981310"/>
            <a:ext cx="2127250" cy="832379"/>
            <a:chOff x="9601200" y="4981310"/>
            <a:chExt cx="2127250" cy="832379"/>
          </a:xfrm>
        </p:grpSpPr>
        <p:pic>
          <p:nvPicPr>
            <p:cNvPr id="88" name="Picture | Independent image" descr="80af7916d020880727b6fe31c7b6d71c2dbdca5115e09bbec06f0a8a67ab7d68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601200" y="4981310"/>
              <a:ext cx="908050" cy="832379"/>
            </a:xfrm>
            <a:prstGeom prst="rect">
              <a:avLst/>
            </a:prstGeom>
          </p:spPr>
        </p:pic>
        <p:sp>
          <p:nvSpPr>
            <p:cNvPr id="89" name="Text | 数据与资产"/>
            <p:cNvSpPr txBox="1"/>
            <p:nvPr/>
          </p:nvSpPr>
          <p:spPr>
            <a:xfrm>
              <a:off x="10534650" y="5116766"/>
              <a:ext cx="11938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zh-CN">
                  <a:solidFill>
                    <a:srgbClr val="082D48"/>
                  </a:solidFill>
                  <a:latin typeface="Arial"/>
                  <a:ea typeface="SimHei"/>
                </a:rPr>
                <a:t>数据与资产</a:t>
              </a:r>
            </a:p>
          </p:txBody>
        </p:sp>
        <p:sp>
          <p:nvSpPr>
            <p:cNvPr id="90" name="Text | 图像 · 权重 · 日志"/>
            <p:cNvSpPr txBox="1"/>
            <p:nvPr/>
          </p:nvSpPr>
          <p:spPr>
            <a:xfrm>
              <a:off x="10534650" y="5432298"/>
              <a:ext cx="1193800" cy="18109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1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2" b="0" lang="zh-CN">
                  <a:solidFill>
                    <a:srgbClr val="4C6B83"/>
                  </a:solidFill>
                  <a:latin typeface="Arial"/>
                  <a:ea typeface="SimHei"/>
                </a:rPr>
                <a:t>图像 · 权重 · 日志</a:t>
              </a:r>
            </a:p>
          </p:txBody>
        </p:sp>
      </p:grpSp>
      <p:grpSp>
        <p:nvGrpSpPr>
          <p:cNvPr id="91" name="Node | 平台统一支撑"/>
          <p:cNvGrpSpPr/>
          <p:nvPr/>
        </p:nvGrpSpPr>
        <p:grpSpPr>
          <a:xfrm>
            <a:off x="406400" y="6045200"/>
            <a:ext cx="11379200" cy="351092"/>
            <a:chOff x="406400" y="6045200"/>
            <a:chExt cx="11379200" cy="351092"/>
          </a:xfrm>
        </p:grpSpPr>
        <p:sp>
          <p:nvSpPr>
            <p:cNvPr id="92" name="Panel | 17"/>
            <p:cNvSpPr/>
            <p:nvPr/>
          </p:nvSpPr>
          <p:spPr>
            <a:xfrm>
              <a:off x="406400" y="6045200"/>
              <a:ext cx="11379200" cy="349250"/>
            </a:xfrm>
            <a:prstGeom prst="roundRect">
              <a:avLst>
                <a:gd name="adj" fmla="val 21818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Circle | 4"/>
            <p:cNvSpPr/>
            <p:nvPr/>
          </p:nvSpPr>
          <p:spPr>
            <a:xfrm>
              <a:off x="552450" y="6191250"/>
              <a:ext cx="63500" cy="63500"/>
            </a:xfrm>
            <a:prstGeom prst="ellipse">
              <a:avLst/>
            </a:prstGeom>
            <a:solidFill>
              <a:srgbClr val="087F7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Text | 统一管理"/>
            <p:cNvSpPr txBox="1"/>
            <p:nvPr/>
          </p:nvSpPr>
          <p:spPr>
            <a:xfrm>
              <a:off x="717550" y="6155500"/>
              <a:ext cx="12700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zh-CN">
                  <a:solidFill>
                    <a:srgbClr val="087F79"/>
                  </a:solidFill>
                  <a:latin typeface="Arial"/>
                  <a:ea typeface="SimHei"/>
                </a:rPr>
                <a:t>统一管理</a:t>
              </a:r>
            </a:p>
          </p:txBody>
        </p:sp>
        <p:sp>
          <p:nvSpPr>
            <p:cNvPr id="95" name="Text | 项目归属     ·     用户权限     ·     环境检查     ·     GPU 状态     ·     存储配额     ·     操作记录"/>
            <p:cNvSpPr txBox="1"/>
            <p:nvPr/>
          </p:nvSpPr>
          <p:spPr>
            <a:xfrm>
              <a:off x="1898650" y="6160960"/>
              <a:ext cx="95885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4C6B83"/>
                  </a:solidFill>
                  <a:latin typeface="Arial"/>
                  <a:ea typeface="SimHei"/>
                </a:rPr>
                <a:t>项目归属     ·     用户权限     ·     环境检查     ·     GPU 状态     ·     存储配额     ·     操作记录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nector | 1"/>
          <p:cNvSpPr/>
          <p:nvPr/>
        </p:nvSpPr>
        <p:spPr>
          <a:xfrm>
            <a:off x="8572500" y="0"/>
            <a:ext cx="3213100" cy="565150"/>
          </a:xfrm>
          <a:custGeom>
            <a:avLst/>
            <a:gdLst/>
            <a:ahLst/>
            <a:cxnLst/>
            <a:rect l="0" t="0" r="r" b="b"/>
            <a:pathLst>
              <a:path w="50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50600" y="8900"/>
                </a:lnTo>
              </a:path>
            </a:pathLst>
          </a:custGeom>
          <a:noFill/>
          <a:ln w="6350" cap="rnd">
            <a:solidFill>
              <a:srgbClr val="C6D8EB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le | 1"/>
          <p:cNvSpPr/>
          <p:nvPr/>
        </p:nvSpPr>
        <p:spPr>
          <a:xfrm>
            <a:off x="8832850" y="546100"/>
            <a:ext cx="38100" cy="38100"/>
          </a:xfrm>
          <a:prstGeom prst="ellipse">
            <a:avLst/>
          </a:prstGeom>
          <a:solidFill>
            <a:srgbClr val="C6D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nnector | 2"/>
          <p:cNvSpPr/>
          <p:nvPr/>
        </p:nvSpPr>
        <p:spPr>
          <a:xfrm>
            <a:off x="9588500" y="0"/>
            <a:ext cx="2197100" cy="565150"/>
          </a:xfrm>
          <a:custGeom>
            <a:avLst/>
            <a:gdLst/>
            <a:ahLst/>
            <a:cxnLst/>
            <a:rect l="0" t="0" r="r" b="b"/>
            <a:pathLst>
              <a:path w="34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34600" y="8900"/>
                </a:lnTo>
              </a:path>
            </a:pathLst>
          </a:custGeom>
          <a:noFill/>
          <a:ln w="6350" cap="rnd">
            <a:solidFill>
              <a:srgbClr val="C6D8EB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ircle | 2"/>
          <p:cNvSpPr/>
          <p:nvPr/>
        </p:nvSpPr>
        <p:spPr>
          <a:xfrm>
            <a:off x="9848850" y="546100"/>
            <a:ext cx="38100" cy="38100"/>
          </a:xfrm>
          <a:prstGeom prst="ellipse">
            <a:avLst/>
          </a:prstGeom>
          <a:solidFill>
            <a:srgbClr val="C6D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nector | 3"/>
          <p:cNvSpPr/>
          <p:nvPr/>
        </p:nvSpPr>
        <p:spPr>
          <a:xfrm>
            <a:off x="10604500" y="0"/>
            <a:ext cx="1181100" cy="565150"/>
          </a:xfrm>
          <a:custGeom>
            <a:avLst/>
            <a:gdLst/>
            <a:ahLst/>
            <a:cxnLst/>
            <a:rect l="0" t="0" r="r" b="b"/>
            <a:pathLst>
              <a:path w="18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18600" y="8900"/>
                </a:lnTo>
              </a:path>
            </a:pathLst>
          </a:custGeom>
          <a:noFill/>
          <a:ln w="6350" cap="rnd">
            <a:solidFill>
              <a:srgbClr val="C6D8EB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ircle | 3"/>
          <p:cNvSpPr/>
          <p:nvPr/>
        </p:nvSpPr>
        <p:spPr>
          <a:xfrm>
            <a:off x="10864850" y="546100"/>
            <a:ext cx="38100" cy="38100"/>
          </a:xfrm>
          <a:prstGeom prst="ellipse">
            <a:avLst/>
          </a:prstGeom>
          <a:solidFill>
            <a:srgbClr val="C6D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007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 | 第 03 章 / HawkeyePlus"/>
          <p:cNvSpPr txBox="1"/>
          <p:nvPr/>
        </p:nvSpPr>
        <p:spPr>
          <a:xfrm>
            <a:off x="546100" y="363410"/>
            <a:ext cx="7620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4C6B83"/>
                </a:solidFill>
                <a:latin typeface="Arial"/>
                <a:ea typeface="SimHei"/>
              </a:rPr>
              <a:t>第 03 章 / HawkeyePlus</a:t>
            </a:r>
          </a:p>
        </p:txBody>
      </p:sp>
      <p:pic>
        <p:nvPicPr>
          <p:cNvPr id="10" name="Picture | Independent image" descr="139ef02520a55c1aaee95c1d6e7f5f730beac004ebb72c9c012b0f76513ab8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sp>
        <p:nvSpPr>
          <p:cNvPr id="11" name="Text | 从数据到模型的可视化闭环"/>
          <p:cNvSpPr txBox="1"/>
          <p:nvPr/>
        </p:nvSpPr>
        <p:spPr>
          <a:xfrm>
            <a:off x="406400" y="610552"/>
            <a:ext cx="10858500" cy="58191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567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zh-CN">
                <a:solidFill>
                  <a:srgbClr val="082D48"/>
                </a:solidFill>
                <a:latin typeface="Arial"/>
                <a:ea typeface="SimHei"/>
              </a:rPr>
              <a:t>从数据到模型的可视化闭环</a:t>
            </a:r>
          </a:p>
        </p:txBody>
      </p:sp>
      <p:sp>
        <p:nvSpPr>
          <p:cNvPr id="12" name="Text | 将分散的准备、训练与验证环节，组织为统一的模型研发工作流"/>
          <p:cNvSpPr txBox="1"/>
          <p:nvPr/>
        </p:nvSpPr>
        <p:spPr>
          <a:xfrm>
            <a:off x="425450" y="1072706"/>
            <a:ext cx="110490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4C6B83"/>
                </a:solidFill>
                <a:latin typeface="Arial"/>
                <a:ea typeface="SimHei"/>
              </a:rPr>
              <a:t>将分散的准备、训练与验证环节，组织为统一的模型研发工作流</a:t>
            </a:r>
          </a:p>
        </p:txBody>
      </p:sp>
      <p:cxnSp>
        <p:nvCxnSpPr>
          <p:cNvPr id="13" name="Connector | 4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C6D8E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| SwiftFlow + HawkeyePlus  |  Industrial Vision Engineering"/>
          <p:cNvSpPr txBox="1"/>
          <p:nvPr/>
        </p:nvSpPr>
        <p:spPr>
          <a:xfrm>
            <a:off x="412750" y="6607238"/>
            <a:ext cx="825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SwiftFlow + HawkeyePlus  |  Industrial Vision Engineering</a:t>
            </a:r>
          </a:p>
        </p:txBody>
      </p:sp>
      <p:sp>
        <p:nvSpPr>
          <p:cNvPr id="15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4C6B83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16" name="Text | 13 / 20"/>
          <p:cNvSpPr txBox="1"/>
          <p:nvPr/>
        </p:nvSpPr>
        <p:spPr>
          <a:xfrm>
            <a:off x="11137900" y="6607238"/>
            <a:ext cx="63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13 / 20</a:t>
            </a:r>
          </a:p>
        </p:txBody>
      </p:sp>
      <p:grpSp>
        <p:nvGrpSpPr>
          <p:cNvPr id="17" name="Node | 准备数据"/>
          <p:cNvGrpSpPr/>
          <p:nvPr/>
        </p:nvGrpSpPr>
        <p:grpSpPr>
          <a:xfrm>
            <a:off x="406400" y="1543050"/>
            <a:ext cx="2133600" cy="2781300"/>
            <a:chOff x="406400" y="1543050"/>
            <a:chExt cx="2133600" cy="2781300"/>
          </a:xfrm>
        </p:grpSpPr>
        <p:sp>
          <p:nvSpPr>
            <p:cNvPr id="18" name="Panel | 2"/>
            <p:cNvSpPr/>
            <p:nvPr/>
          </p:nvSpPr>
          <p:spPr>
            <a:xfrm>
              <a:off x="406400" y="1543050"/>
              <a:ext cx="2133600" cy="2781300"/>
            </a:xfrm>
            <a:prstGeom prst="roundRect">
              <a:avLst>
                <a:gd name="adj" fmla="val 5952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 | 01"/>
            <p:cNvSpPr txBox="1"/>
            <p:nvPr/>
          </p:nvSpPr>
          <p:spPr>
            <a:xfrm>
              <a:off x="565150" y="1677480"/>
              <a:ext cx="3810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007D9D"/>
                  </a:solidFill>
                  <a:latin typeface="Arial"/>
                  <a:ea typeface="SimHei"/>
                </a:rPr>
                <a:t>01</a:t>
              </a:r>
            </a:p>
          </p:txBody>
        </p:sp>
        <p:sp>
          <p:nvSpPr>
            <p:cNvPr id="20" name="Text | 准备数据"/>
            <p:cNvSpPr txBox="1"/>
            <p:nvPr/>
          </p:nvSpPr>
          <p:spPr>
            <a:xfrm>
              <a:off x="927100" y="1647825"/>
              <a:ext cx="144780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zh-CN">
                  <a:solidFill>
                    <a:srgbClr val="082D48"/>
                  </a:solidFill>
                  <a:latin typeface="Arial"/>
                  <a:ea typeface="SimHei"/>
                </a:rPr>
                <a:t>准备数据</a:t>
              </a:r>
            </a:p>
          </p:txBody>
        </p:sp>
        <p:pic>
          <p:nvPicPr>
            <p:cNvPr id="21" name="Picture | Independent image" descr="8f47fa394a6b9f34faa9cab5dd29fefa11f025f02bf330ae6a05abf32f9a8e95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8855" y="1987550"/>
              <a:ext cx="1648691" cy="1511300"/>
            </a:xfrm>
            <a:prstGeom prst="rect">
              <a:avLst/>
            </a:prstGeom>
          </p:spPr>
        </p:pic>
        <p:cxnSp>
          <p:nvCxnSpPr>
            <p:cNvPr id="22" name="Connector | 5"/>
            <p:cNvCxnSpPr/>
            <p:nvPr/>
          </p:nvCxnSpPr>
          <p:spPr>
            <a:xfrm>
              <a:off x="565150" y="3575050"/>
              <a:ext cx="1816100" cy="0"/>
            </a:xfrm>
            <a:prstGeom prst="line">
              <a:avLst/>
            </a:prstGeom>
            <a:ln w="6350" cap="rnd">
              <a:solidFill>
                <a:srgbClr val="C6D8E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 | 导入图像与标注"/>
            <p:cNvSpPr txBox="1"/>
            <p:nvPr/>
          </p:nvSpPr>
          <p:spPr>
            <a:xfrm>
              <a:off x="476250" y="3729800"/>
              <a:ext cx="19939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082D48"/>
                  </a:solidFill>
                  <a:latin typeface="Arial"/>
                  <a:ea typeface="SimHei"/>
                </a:rPr>
                <a:t>导入图像与标注</a:t>
              </a:r>
            </a:p>
          </p:txBody>
        </p:sp>
        <p:sp>
          <p:nvSpPr>
            <p:cNvPr id="24" name="Text | 转换格式 · 检查样本"/>
            <p:cNvSpPr txBox="1"/>
            <p:nvPr/>
          </p:nvSpPr>
          <p:spPr>
            <a:xfrm>
              <a:off x="476250" y="3976560"/>
              <a:ext cx="19939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4C6B83"/>
                  </a:solidFill>
                  <a:latin typeface="Arial"/>
                  <a:ea typeface="SimHei"/>
                </a:rPr>
                <a:t>转换格式 · 检查样本</a:t>
              </a:r>
            </a:p>
          </p:txBody>
        </p:sp>
      </p:grpSp>
      <p:cxnSp>
        <p:nvCxnSpPr>
          <p:cNvPr id="25" name="Connector | 6"/>
          <p:cNvCxnSpPr/>
          <p:nvPr/>
        </p:nvCxnSpPr>
        <p:spPr>
          <a:xfrm>
            <a:off x="2571750" y="2908300"/>
            <a:ext cx="114300" cy="0"/>
          </a:xfrm>
          <a:prstGeom prst="line">
            <a:avLst/>
          </a:prstGeom>
          <a:ln w="12700" cap="rnd">
            <a:solidFill>
              <a:srgbClr val="007D9D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" name="Node | 组合配置"/>
          <p:cNvGrpSpPr/>
          <p:nvPr/>
        </p:nvGrpSpPr>
        <p:grpSpPr>
          <a:xfrm>
            <a:off x="2717800" y="1543050"/>
            <a:ext cx="2133600" cy="2781300"/>
            <a:chOff x="2717800" y="1543050"/>
            <a:chExt cx="2133600" cy="2781300"/>
          </a:xfrm>
        </p:grpSpPr>
        <p:sp>
          <p:nvSpPr>
            <p:cNvPr id="27" name="Panel | 3"/>
            <p:cNvSpPr/>
            <p:nvPr/>
          </p:nvSpPr>
          <p:spPr>
            <a:xfrm>
              <a:off x="2717800" y="1543050"/>
              <a:ext cx="2133600" cy="2781300"/>
            </a:xfrm>
            <a:prstGeom prst="roundRect">
              <a:avLst>
                <a:gd name="adj" fmla="val 5952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 | 02"/>
            <p:cNvSpPr txBox="1"/>
            <p:nvPr/>
          </p:nvSpPr>
          <p:spPr>
            <a:xfrm>
              <a:off x="2876550" y="1677480"/>
              <a:ext cx="3810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007D9D"/>
                  </a:solidFill>
                  <a:latin typeface="Arial"/>
                  <a:ea typeface="SimHei"/>
                </a:rPr>
                <a:t>02</a:t>
              </a:r>
            </a:p>
          </p:txBody>
        </p:sp>
        <p:sp>
          <p:nvSpPr>
            <p:cNvPr id="29" name="Text | 组合配置"/>
            <p:cNvSpPr txBox="1"/>
            <p:nvPr/>
          </p:nvSpPr>
          <p:spPr>
            <a:xfrm>
              <a:off x="3238500" y="1647825"/>
              <a:ext cx="144780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zh-CN">
                  <a:solidFill>
                    <a:srgbClr val="082D48"/>
                  </a:solidFill>
                  <a:latin typeface="Arial"/>
                  <a:ea typeface="SimHei"/>
                </a:rPr>
                <a:t>组合配置</a:t>
              </a:r>
            </a:p>
          </p:txBody>
        </p:sp>
        <p:pic>
          <p:nvPicPr>
            <p:cNvPr id="30" name="Picture | Independent image" descr="2ee78d4bd8cc4cc462affc22d7629177eb607dcfce7e5fb3670d2a1b2b9cffb8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60255" y="1987550"/>
              <a:ext cx="1648691" cy="1511300"/>
            </a:xfrm>
            <a:prstGeom prst="rect">
              <a:avLst/>
            </a:prstGeom>
          </p:spPr>
        </p:pic>
        <p:cxnSp>
          <p:nvCxnSpPr>
            <p:cNvPr id="31" name="Connector | 7"/>
            <p:cNvCxnSpPr/>
            <p:nvPr/>
          </p:nvCxnSpPr>
          <p:spPr>
            <a:xfrm>
              <a:off x="2876550" y="3575050"/>
              <a:ext cx="1816100" cy="0"/>
            </a:xfrm>
            <a:prstGeom prst="line">
              <a:avLst/>
            </a:prstGeom>
            <a:ln w="6350" cap="rnd">
              <a:solidFill>
                <a:srgbClr val="C6D8E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 | 数据 + 模型 + 参数"/>
            <p:cNvSpPr txBox="1"/>
            <p:nvPr/>
          </p:nvSpPr>
          <p:spPr>
            <a:xfrm>
              <a:off x="2787650" y="3729800"/>
              <a:ext cx="19939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082D48"/>
                  </a:solidFill>
                  <a:latin typeface="Arial"/>
                  <a:ea typeface="SimHei"/>
                </a:rPr>
                <a:t>数据 + 模型 + 参数</a:t>
              </a:r>
            </a:p>
          </p:txBody>
        </p:sp>
        <p:sp>
          <p:nvSpPr>
            <p:cNvPr id="33" name="Text | 模板复用 · 可视化配置"/>
            <p:cNvSpPr txBox="1"/>
            <p:nvPr/>
          </p:nvSpPr>
          <p:spPr>
            <a:xfrm>
              <a:off x="2787650" y="3976560"/>
              <a:ext cx="19939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4C6B83"/>
                  </a:solidFill>
                  <a:latin typeface="Arial"/>
                  <a:ea typeface="SimHei"/>
                </a:rPr>
                <a:t>模板复用 · 可视化配置</a:t>
              </a:r>
            </a:p>
          </p:txBody>
        </p:sp>
      </p:grpSp>
      <p:cxnSp>
        <p:nvCxnSpPr>
          <p:cNvPr id="34" name="Connector | 8"/>
          <p:cNvCxnSpPr/>
          <p:nvPr/>
        </p:nvCxnSpPr>
        <p:spPr>
          <a:xfrm>
            <a:off x="4883150" y="2908300"/>
            <a:ext cx="114300" cy="0"/>
          </a:xfrm>
          <a:prstGeom prst="line">
            <a:avLst/>
          </a:prstGeom>
          <a:ln w="12700" cap="rnd">
            <a:solidFill>
              <a:srgbClr val="007D9D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Node | 训练监控"/>
          <p:cNvGrpSpPr/>
          <p:nvPr/>
        </p:nvGrpSpPr>
        <p:grpSpPr>
          <a:xfrm>
            <a:off x="5029200" y="1543050"/>
            <a:ext cx="2133600" cy="2781300"/>
            <a:chOff x="5029200" y="1543050"/>
            <a:chExt cx="2133600" cy="2781300"/>
          </a:xfrm>
        </p:grpSpPr>
        <p:sp>
          <p:nvSpPr>
            <p:cNvPr id="36" name="Panel | 4"/>
            <p:cNvSpPr/>
            <p:nvPr/>
          </p:nvSpPr>
          <p:spPr>
            <a:xfrm>
              <a:off x="5029200" y="1543050"/>
              <a:ext cx="2133600" cy="2781300"/>
            </a:xfrm>
            <a:prstGeom prst="roundRect">
              <a:avLst>
                <a:gd name="adj" fmla="val 5952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 | 03"/>
            <p:cNvSpPr txBox="1"/>
            <p:nvPr/>
          </p:nvSpPr>
          <p:spPr>
            <a:xfrm>
              <a:off x="5187950" y="1677480"/>
              <a:ext cx="3810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007D9D"/>
                  </a:solidFill>
                  <a:latin typeface="Arial"/>
                  <a:ea typeface="SimHei"/>
                </a:rPr>
                <a:t>03</a:t>
              </a:r>
            </a:p>
          </p:txBody>
        </p:sp>
        <p:sp>
          <p:nvSpPr>
            <p:cNvPr id="38" name="Text | 训练监控"/>
            <p:cNvSpPr txBox="1"/>
            <p:nvPr/>
          </p:nvSpPr>
          <p:spPr>
            <a:xfrm>
              <a:off x="5549900" y="1647825"/>
              <a:ext cx="144780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zh-CN">
                  <a:solidFill>
                    <a:srgbClr val="082D48"/>
                  </a:solidFill>
                  <a:latin typeface="Arial"/>
                  <a:ea typeface="SimHei"/>
                </a:rPr>
                <a:t>训练监控</a:t>
              </a:r>
            </a:p>
          </p:txBody>
        </p:sp>
        <p:pic>
          <p:nvPicPr>
            <p:cNvPr id="39" name="Picture | Independent image" descr="a2781e6fc1b0657c84d60247567a5473eac6014ff0a41bdab4c3f63f6bae7f6c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71655" y="1987550"/>
              <a:ext cx="1648691" cy="1511300"/>
            </a:xfrm>
            <a:prstGeom prst="rect">
              <a:avLst/>
            </a:prstGeom>
          </p:spPr>
        </p:pic>
        <p:cxnSp>
          <p:nvCxnSpPr>
            <p:cNvPr id="40" name="Connector | 9"/>
            <p:cNvCxnSpPr/>
            <p:nvPr/>
          </p:nvCxnSpPr>
          <p:spPr>
            <a:xfrm>
              <a:off x="5187950" y="3575050"/>
              <a:ext cx="1816100" cy="0"/>
            </a:xfrm>
            <a:prstGeom prst="line">
              <a:avLst/>
            </a:prstGeom>
            <a:ln w="6350" cap="rnd">
              <a:solidFill>
                <a:srgbClr val="C6D8E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 | 启动任务 · 查看曲线"/>
            <p:cNvSpPr txBox="1"/>
            <p:nvPr/>
          </p:nvSpPr>
          <p:spPr>
            <a:xfrm>
              <a:off x="5099050" y="3729800"/>
              <a:ext cx="19939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082D48"/>
                  </a:solidFill>
                  <a:latin typeface="Arial"/>
                  <a:ea typeface="SimHei"/>
                </a:rPr>
                <a:t>启动任务 · 查看曲线</a:t>
              </a:r>
            </a:p>
          </p:txBody>
        </p:sp>
        <p:sp>
          <p:nvSpPr>
            <p:cNvPr id="42" name="Text | 进度 · 损失 · 评估指标"/>
            <p:cNvSpPr txBox="1"/>
            <p:nvPr/>
          </p:nvSpPr>
          <p:spPr>
            <a:xfrm>
              <a:off x="5099050" y="3976560"/>
              <a:ext cx="19939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4C6B83"/>
                  </a:solidFill>
                  <a:latin typeface="Arial"/>
                  <a:ea typeface="SimHei"/>
                </a:rPr>
                <a:t>进度 · 损失 · 评估指标</a:t>
              </a:r>
            </a:p>
          </p:txBody>
        </p:sp>
      </p:grpSp>
      <p:cxnSp>
        <p:nvCxnSpPr>
          <p:cNvPr id="43" name="Connector | 10"/>
          <p:cNvCxnSpPr/>
          <p:nvPr/>
        </p:nvCxnSpPr>
        <p:spPr>
          <a:xfrm>
            <a:off x="7194550" y="2908300"/>
            <a:ext cx="114300" cy="0"/>
          </a:xfrm>
          <a:prstGeom prst="line">
            <a:avLst/>
          </a:prstGeom>
          <a:ln w="12700" cap="rnd">
            <a:solidFill>
              <a:srgbClr val="007D9D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4" name="Node | 验证效果"/>
          <p:cNvGrpSpPr/>
          <p:nvPr/>
        </p:nvGrpSpPr>
        <p:grpSpPr>
          <a:xfrm>
            <a:off x="7340600" y="1543050"/>
            <a:ext cx="2133600" cy="2781300"/>
            <a:chOff x="7340600" y="1543050"/>
            <a:chExt cx="2133600" cy="2781300"/>
          </a:xfrm>
        </p:grpSpPr>
        <p:sp>
          <p:nvSpPr>
            <p:cNvPr id="45" name="Panel | 5"/>
            <p:cNvSpPr/>
            <p:nvPr/>
          </p:nvSpPr>
          <p:spPr>
            <a:xfrm>
              <a:off x="7340600" y="1543050"/>
              <a:ext cx="2133600" cy="2781300"/>
            </a:xfrm>
            <a:prstGeom prst="roundRect">
              <a:avLst>
                <a:gd name="adj" fmla="val 5952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Text | 04"/>
            <p:cNvSpPr txBox="1"/>
            <p:nvPr/>
          </p:nvSpPr>
          <p:spPr>
            <a:xfrm>
              <a:off x="7499350" y="1677480"/>
              <a:ext cx="3810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007D9D"/>
                  </a:solidFill>
                  <a:latin typeface="Arial"/>
                  <a:ea typeface="SimHei"/>
                </a:rPr>
                <a:t>04</a:t>
              </a:r>
            </a:p>
          </p:txBody>
        </p:sp>
        <p:sp>
          <p:nvSpPr>
            <p:cNvPr id="47" name="Text | 验证效果"/>
            <p:cNvSpPr txBox="1"/>
            <p:nvPr/>
          </p:nvSpPr>
          <p:spPr>
            <a:xfrm>
              <a:off x="7861300" y="1647825"/>
              <a:ext cx="144780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zh-CN">
                  <a:solidFill>
                    <a:srgbClr val="082D48"/>
                  </a:solidFill>
                  <a:latin typeface="Arial"/>
                  <a:ea typeface="SimHei"/>
                </a:rPr>
                <a:t>验证效果</a:t>
              </a:r>
            </a:p>
          </p:txBody>
        </p:sp>
        <p:pic>
          <p:nvPicPr>
            <p:cNvPr id="48" name="Picture | Independent image" descr="9d8a396ed4272854fb93ae8fa019b1c482371fd2a5043a2fbf37b1757aef0d47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583055" y="1987550"/>
              <a:ext cx="1648691" cy="1511300"/>
            </a:xfrm>
            <a:prstGeom prst="rect">
              <a:avLst/>
            </a:prstGeom>
          </p:spPr>
        </p:pic>
        <p:cxnSp>
          <p:nvCxnSpPr>
            <p:cNvPr id="49" name="Connector | 11"/>
            <p:cNvCxnSpPr/>
            <p:nvPr/>
          </p:nvCxnSpPr>
          <p:spPr>
            <a:xfrm>
              <a:off x="7499350" y="3575050"/>
              <a:ext cx="1816100" cy="0"/>
            </a:xfrm>
            <a:prstGeom prst="line">
              <a:avLst/>
            </a:prstGeom>
            <a:ln w="6350" cap="rnd">
              <a:solidFill>
                <a:srgbClr val="C6D8E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 | 独立评估 · 图像推理"/>
            <p:cNvSpPr txBox="1"/>
            <p:nvPr/>
          </p:nvSpPr>
          <p:spPr>
            <a:xfrm>
              <a:off x="7410450" y="3729800"/>
              <a:ext cx="19939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082D48"/>
                  </a:solidFill>
                  <a:latin typeface="Arial"/>
                  <a:ea typeface="SimHei"/>
                </a:rPr>
                <a:t>独立评估 · 图像推理</a:t>
              </a:r>
            </a:p>
          </p:txBody>
        </p:sp>
        <p:sp>
          <p:nvSpPr>
            <p:cNvPr id="51" name="Text | 预览结果 · 判断可用性"/>
            <p:cNvSpPr txBox="1"/>
            <p:nvPr/>
          </p:nvSpPr>
          <p:spPr>
            <a:xfrm>
              <a:off x="7410450" y="3976560"/>
              <a:ext cx="19939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4C6B83"/>
                  </a:solidFill>
                  <a:latin typeface="Arial"/>
                  <a:ea typeface="SimHei"/>
                </a:rPr>
                <a:t>预览结果 · 判断可用性</a:t>
              </a:r>
            </a:p>
          </p:txBody>
        </p:sp>
      </p:grpSp>
      <p:cxnSp>
        <p:nvCxnSpPr>
          <p:cNvPr id="52" name="Connector | 12"/>
          <p:cNvCxnSpPr/>
          <p:nvPr/>
        </p:nvCxnSpPr>
        <p:spPr>
          <a:xfrm>
            <a:off x="9505950" y="2908300"/>
            <a:ext cx="114300" cy="0"/>
          </a:xfrm>
          <a:prstGeom prst="line">
            <a:avLst/>
          </a:prstGeom>
          <a:ln w="12700" cap="rnd">
            <a:solidFill>
              <a:srgbClr val="007D9D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3" name="Node | 模型交付"/>
          <p:cNvGrpSpPr/>
          <p:nvPr/>
        </p:nvGrpSpPr>
        <p:grpSpPr>
          <a:xfrm>
            <a:off x="9652000" y="1543050"/>
            <a:ext cx="2133600" cy="2781300"/>
            <a:chOff x="9652000" y="1543050"/>
            <a:chExt cx="2133600" cy="2781300"/>
          </a:xfrm>
        </p:grpSpPr>
        <p:sp>
          <p:nvSpPr>
            <p:cNvPr id="54" name="Panel | 6"/>
            <p:cNvSpPr/>
            <p:nvPr/>
          </p:nvSpPr>
          <p:spPr>
            <a:xfrm>
              <a:off x="9652000" y="1543050"/>
              <a:ext cx="2133600" cy="2781300"/>
            </a:xfrm>
            <a:prstGeom prst="roundRect">
              <a:avLst>
                <a:gd name="adj" fmla="val 5952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 | 05"/>
            <p:cNvSpPr txBox="1"/>
            <p:nvPr/>
          </p:nvSpPr>
          <p:spPr>
            <a:xfrm>
              <a:off x="9810750" y="1677480"/>
              <a:ext cx="3810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007D9D"/>
                  </a:solidFill>
                  <a:latin typeface="Arial"/>
                  <a:ea typeface="SimHei"/>
                </a:rPr>
                <a:t>05</a:t>
              </a:r>
            </a:p>
          </p:txBody>
        </p:sp>
        <p:sp>
          <p:nvSpPr>
            <p:cNvPr id="56" name="Text | 模型交付"/>
            <p:cNvSpPr txBox="1"/>
            <p:nvPr/>
          </p:nvSpPr>
          <p:spPr>
            <a:xfrm>
              <a:off x="10172700" y="1647825"/>
              <a:ext cx="144780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zh-CN">
                  <a:solidFill>
                    <a:srgbClr val="082D48"/>
                  </a:solidFill>
                  <a:latin typeface="Arial"/>
                  <a:ea typeface="SimHei"/>
                </a:rPr>
                <a:t>模型交付</a:t>
              </a:r>
            </a:p>
          </p:txBody>
        </p:sp>
        <p:pic>
          <p:nvPicPr>
            <p:cNvPr id="57" name="Picture | Independent image" descr="12bb1e3e4f2e170eca1f6489649f4e45a3b3250e5c5303eec76095d714b0e260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894455" y="1987550"/>
              <a:ext cx="1648691" cy="1511300"/>
            </a:xfrm>
            <a:prstGeom prst="rect">
              <a:avLst/>
            </a:prstGeom>
          </p:spPr>
        </p:pic>
        <p:cxnSp>
          <p:nvCxnSpPr>
            <p:cNvPr id="58" name="Connector | 13"/>
            <p:cNvCxnSpPr/>
            <p:nvPr/>
          </p:nvCxnSpPr>
          <p:spPr>
            <a:xfrm>
              <a:off x="9810750" y="3575050"/>
              <a:ext cx="1816100" cy="0"/>
            </a:xfrm>
            <a:prstGeom prst="line">
              <a:avLst/>
            </a:prstGeom>
            <a:ln w="6350" cap="rnd">
              <a:solidFill>
                <a:srgbClr val="C6D8E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 | 导出下载 · 注册版本"/>
            <p:cNvSpPr txBox="1"/>
            <p:nvPr/>
          </p:nvSpPr>
          <p:spPr>
            <a:xfrm>
              <a:off x="9721850" y="3729800"/>
              <a:ext cx="19939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082D48"/>
                  </a:solidFill>
                  <a:latin typeface="Arial"/>
                  <a:ea typeface="SimHei"/>
                </a:rPr>
                <a:t>导出下载 · 注册版本</a:t>
              </a:r>
            </a:p>
          </p:txBody>
        </p:sp>
        <p:sp>
          <p:nvSpPr>
            <p:cNvPr id="60" name="Text | 按产品切换激活模型"/>
            <p:cNvSpPr txBox="1"/>
            <p:nvPr/>
          </p:nvSpPr>
          <p:spPr>
            <a:xfrm>
              <a:off x="9721850" y="3976560"/>
              <a:ext cx="19939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4C6B83"/>
                  </a:solidFill>
                  <a:latin typeface="Arial"/>
                  <a:ea typeface="SimHei"/>
                </a:rPr>
                <a:t>按产品切换激活模型</a:t>
              </a:r>
            </a:p>
          </p:txBody>
        </p:sp>
      </p:grpSp>
      <p:sp>
        <p:nvSpPr>
          <p:cNvPr id="61" name="Connector | 14"/>
          <p:cNvSpPr/>
          <p:nvPr/>
        </p:nvSpPr>
        <p:spPr>
          <a:xfrm>
            <a:off x="1473200" y="4349750"/>
            <a:ext cx="6934200" cy="260350"/>
          </a:xfrm>
          <a:custGeom>
            <a:avLst/>
            <a:gdLst/>
            <a:ahLst/>
            <a:cxnLst/>
            <a:rect l="0" t="0" r="r" b="b"/>
            <a:pathLst>
              <a:path w="109200" h="4100" fill="none">
                <a:moveTo>
                  <a:pt x="109200" y="0"/>
                </a:moveTo>
                <a:lnTo>
                  <a:pt x="109200" y="4100"/>
                </a:lnTo>
                <a:lnTo>
                  <a:pt x="0" y="4100"/>
                </a:lnTo>
                <a:lnTo>
                  <a:pt x="0" y="300"/>
                </a:lnTo>
              </a:path>
            </a:pathLst>
          </a:custGeom>
          <a:noFill/>
          <a:ln w="12700" cap="rnd">
            <a:solidFill>
              <a:srgbClr val="007D9D"/>
            </a:solidFill>
            <a:round/>
            <a:tailEnd type="arrow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Panel | 7"/>
          <p:cNvSpPr/>
          <p:nvPr/>
        </p:nvSpPr>
        <p:spPr>
          <a:xfrm>
            <a:off x="3048000" y="4470400"/>
            <a:ext cx="3860800" cy="266700"/>
          </a:xfrm>
          <a:prstGeom prst="roundRect">
            <a:avLst>
              <a:gd name="adj" fmla="val 11904"/>
            </a:avLst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 | 依据验证结果，迭代数据与配置"/>
          <p:cNvSpPr txBox="1"/>
          <p:nvPr/>
        </p:nvSpPr>
        <p:spPr>
          <a:xfrm>
            <a:off x="3105150" y="4518088"/>
            <a:ext cx="3746500" cy="25082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>
              <a:lnSpc>
                <a:spcPts val="1537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zh-CN">
                <a:solidFill>
                  <a:srgbClr val="007D9D"/>
                </a:solidFill>
                <a:latin typeface="Arial"/>
                <a:ea typeface="SimHei"/>
              </a:rPr>
              <a:t>依据验证结果，迭代数据与配置</a:t>
            </a:r>
          </a:p>
        </p:txBody>
      </p:sp>
      <p:sp>
        <p:nvSpPr>
          <p:cNvPr id="64" name="Text | 四类视觉任务，共用一套平台能力"/>
          <p:cNvSpPr txBox="1"/>
          <p:nvPr/>
        </p:nvSpPr>
        <p:spPr>
          <a:xfrm>
            <a:off x="406400" y="4906264"/>
            <a:ext cx="10795000" cy="33108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zh-CN">
                <a:solidFill>
                  <a:srgbClr val="082D48"/>
                </a:solidFill>
                <a:latin typeface="Arial"/>
                <a:ea typeface="SimHei"/>
              </a:rPr>
              <a:t>四类视觉任务，共用一套平台能力</a:t>
            </a:r>
          </a:p>
        </p:txBody>
      </p:sp>
      <p:grpSp>
        <p:nvGrpSpPr>
          <p:cNvPr id="65" name="Node | 目标检测"/>
          <p:cNvGrpSpPr/>
          <p:nvPr/>
        </p:nvGrpSpPr>
        <p:grpSpPr>
          <a:xfrm>
            <a:off x="406400" y="5251450"/>
            <a:ext cx="2711450" cy="717550"/>
            <a:chOff x="406400" y="5251450"/>
            <a:chExt cx="2711450" cy="717550"/>
          </a:xfrm>
        </p:grpSpPr>
        <p:sp>
          <p:nvSpPr>
            <p:cNvPr id="66" name="Panel | 8"/>
            <p:cNvSpPr/>
            <p:nvPr/>
          </p:nvSpPr>
          <p:spPr>
            <a:xfrm>
              <a:off x="406400" y="5251450"/>
              <a:ext cx="2711450" cy="717550"/>
            </a:xfrm>
            <a:prstGeom prst="roundRect">
              <a:avLst>
                <a:gd name="adj" fmla="val 12389"/>
              </a:avLst>
            </a:prstGeom>
            <a:solidFill>
              <a:srgbClr val="E9F1FC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Panel | 9"/>
            <p:cNvSpPr/>
            <p:nvPr/>
          </p:nvSpPr>
          <p:spPr>
            <a:xfrm>
              <a:off x="533400" y="5403850"/>
              <a:ext cx="25400" cy="381000"/>
            </a:xfrm>
            <a:prstGeom prst="roundRect">
              <a:avLst>
                <a:gd name="adj" fmla="val 50000"/>
              </a:avLst>
            </a:prstGeom>
            <a:solidFill>
              <a:srgbClr val="007D9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Text | 目标检测"/>
            <p:cNvSpPr txBox="1"/>
            <p:nvPr/>
          </p:nvSpPr>
          <p:spPr>
            <a:xfrm>
              <a:off x="673100" y="5390706"/>
              <a:ext cx="23241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zh-CN">
                  <a:solidFill>
                    <a:srgbClr val="082D48"/>
                  </a:solidFill>
                  <a:latin typeface="Arial"/>
                  <a:ea typeface="SimHei"/>
                </a:rPr>
                <a:t>目标检测</a:t>
              </a:r>
            </a:p>
          </p:txBody>
        </p:sp>
        <p:sp>
          <p:nvSpPr>
            <p:cNvPr id="69" name="Text | 发现缺陷与目标位置"/>
            <p:cNvSpPr txBox="1"/>
            <p:nvPr/>
          </p:nvSpPr>
          <p:spPr>
            <a:xfrm>
              <a:off x="673100" y="5679250"/>
              <a:ext cx="23241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4C6B83"/>
                  </a:solidFill>
                  <a:latin typeface="Arial"/>
                  <a:ea typeface="SimHei"/>
                </a:rPr>
                <a:t>发现缺陷与目标位置</a:t>
              </a:r>
            </a:p>
          </p:txBody>
        </p:sp>
      </p:grpSp>
      <p:grpSp>
        <p:nvGrpSpPr>
          <p:cNvPr id="70" name="Node | 图像分类"/>
          <p:cNvGrpSpPr/>
          <p:nvPr/>
        </p:nvGrpSpPr>
        <p:grpSpPr>
          <a:xfrm>
            <a:off x="3295650" y="5251450"/>
            <a:ext cx="2711450" cy="717550"/>
            <a:chOff x="3295650" y="5251450"/>
            <a:chExt cx="2711450" cy="717550"/>
          </a:xfrm>
        </p:grpSpPr>
        <p:sp>
          <p:nvSpPr>
            <p:cNvPr id="71" name="Panel | 10"/>
            <p:cNvSpPr/>
            <p:nvPr/>
          </p:nvSpPr>
          <p:spPr>
            <a:xfrm>
              <a:off x="3295650" y="5251450"/>
              <a:ext cx="2711450" cy="717550"/>
            </a:xfrm>
            <a:prstGeom prst="roundRect">
              <a:avLst>
                <a:gd name="adj" fmla="val 12389"/>
              </a:avLst>
            </a:prstGeom>
            <a:solidFill>
              <a:srgbClr val="E9F1FC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Panel | 11"/>
            <p:cNvSpPr/>
            <p:nvPr/>
          </p:nvSpPr>
          <p:spPr>
            <a:xfrm>
              <a:off x="3422650" y="5403850"/>
              <a:ext cx="25400" cy="381000"/>
            </a:xfrm>
            <a:prstGeom prst="roundRect">
              <a:avLst>
                <a:gd name="adj" fmla="val 50000"/>
              </a:avLst>
            </a:prstGeom>
            <a:solidFill>
              <a:srgbClr val="007D9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Text | 图像分类"/>
            <p:cNvSpPr txBox="1"/>
            <p:nvPr/>
          </p:nvSpPr>
          <p:spPr>
            <a:xfrm>
              <a:off x="3562350" y="5390706"/>
              <a:ext cx="23241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zh-CN">
                  <a:solidFill>
                    <a:srgbClr val="082D48"/>
                  </a:solidFill>
                  <a:latin typeface="Arial"/>
                  <a:ea typeface="SimHei"/>
                </a:rPr>
                <a:t>图像分类</a:t>
              </a:r>
            </a:p>
          </p:txBody>
        </p:sp>
        <p:sp>
          <p:nvSpPr>
            <p:cNvPr id="74" name="Text | 识别类别与质量状态"/>
            <p:cNvSpPr txBox="1"/>
            <p:nvPr/>
          </p:nvSpPr>
          <p:spPr>
            <a:xfrm>
              <a:off x="3562350" y="5679250"/>
              <a:ext cx="23241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4C6B83"/>
                  </a:solidFill>
                  <a:latin typeface="Arial"/>
                  <a:ea typeface="SimHei"/>
                </a:rPr>
                <a:t>识别类别与质量状态</a:t>
              </a:r>
            </a:p>
          </p:txBody>
        </p:sp>
      </p:grpSp>
      <p:grpSp>
        <p:nvGrpSpPr>
          <p:cNvPr id="75" name="Node | 语义分割"/>
          <p:cNvGrpSpPr/>
          <p:nvPr/>
        </p:nvGrpSpPr>
        <p:grpSpPr>
          <a:xfrm>
            <a:off x="6184900" y="5251450"/>
            <a:ext cx="2711450" cy="717550"/>
            <a:chOff x="6184900" y="5251450"/>
            <a:chExt cx="2711450" cy="717550"/>
          </a:xfrm>
        </p:grpSpPr>
        <p:sp>
          <p:nvSpPr>
            <p:cNvPr id="76" name="Panel | 12"/>
            <p:cNvSpPr/>
            <p:nvPr/>
          </p:nvSpPr>
          <p:spPr>
            <a:xfrm>
              <a:off x="6184900" y="5251450"/>
              <a:ext cx="2711450" cy="717550"/>
            </a:xfrm>
            <a:prstGeom prst="roundRect">
              <a:avLst>
                <a:gd name="adj" fmla="val 12389"/>
              </a:avLst>
            </a:prstGeom>
            <a:solidFill>
              <a:srgbClr val="E9F1FC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Panel | 13"/>
            <p:cNvSpPr/>
            <p:nvPr/>
          </p:nvSpPr>
          <p:spPr>
            <a:xfrm>
              <a:off x="6311900" y="5403850"/>
              <a:ext cx="25400" cy="381000"/>
            </a:xfrm>
            <a:prstGeom prst="roundRect">
              <a:avLst>
                <a:gd name="adj" fmla="val 50000"/>
              </a:avLst>
            </a:prstGeom>
            <a:solidFill>
              <a:srgbClr val="007D9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Text | 语义分割"/>
            <p:cNvSpPr txBox="1"/>
            <p:nvPr/>
          </p:nvSpPr>
          <p:spPr>
            <a:xfrm>
              <a:off x="6451600" y="5390706"/>
              <a:ext cx="23241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zh-CN">
                  <a:solidFill>
                    <a:srgbClr val="082D48"/>
                  </a:solidFill>
                  <a:latin typeface="Arial"/>
                  <a:ea typeface="SimHei"/>
                </a:rPr>
                <a:t>语义分割</a:t>
              </a:r>
            </a:p>
          </p:txBody>
        </p:sp>
        <p:sp>
          <p:nvSpPr>
            <p:cNvPr id="79" name="Text | 刻画区域与结构边界"/>
            <p:cNvSpPr txBox="1"/>
            <p:nvPr/>
          </p:nvSpPr>
          <p:spPr>
            <a:xfrm>
              <a:off x="6451600" y="5679250"/>
              <a:ext cx="23241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4C6B83"/>
                  </a:solidFill>
                  <a:latin typeface="Arial"/>
                  <a:ea typeface="SimHei"/>
                </a:rPr>
                <a:t>刻画区域与结构边界</a:t>
              </a:r>
            </a:p>
          </p:txBody>
        </p:sp>
      </p:grpSp>
      <p:grpSp>
        <p:nvGrpSpPr>
          <p:cNvPr id="80" name="Node | 无监督异常检测"/>
          <p:cNvGrpSpPr/>
          <p:nvPr/>
        </p:nvGrpSpPr>
        <p:grpSpPr>
          <a:xfrm>
            <a:off x="9074150" y="5251450"/>
            <a:ext cx="2711450" cy="717550"/>
            <a:chOff x="9074150" y="5251450"/>
            <a:chExt cx="2711450" cy="717550"/>
          </a:xfrm>
        </p:grpSpPr>
        <p:sp>
          <p:nvSpPr>
            <p:cNvPr id="81" name="Panel | 14"/>
            <p:cNvSpPr/>
            <p:nvPr/>
          </p:nvSpPr>
          <p:spPr>
            <a:xfrm>
              <a:off x="9074150" y="5251450"/>
              <a:ext cx="2711450" cy="717550"/>
            </a:xfrm>
            <a:prstGeom prst="roundRect">
              <a:avLst>
                <a:gd name="adj" fmla="val 12389"/>
              </a:avLst>
            </a:prstGeom>
            <a:solidFill>
              <a:srgbClr val="E9F1FC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Panel | 15"/>
            <p:cNvSpPr/>
            <p:nvPr/>
          </p:nvSpPr>
          <p:spPr>
            <a:xfrm>
              <a:off x="9201150" y="5403850"/>
              <a:ext cx="25400" cy="381000"/>
            </a:xfrm>
            <a:prstGeom prst="roundRect">
              <a:avLst>
                <a:gd name="adj" fmla="val 50000"/>
              </a:avLst>
            </a:prstGeom>
            <a:solidFill>
              <a:srgbClr val="007D9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Text | 无监督异常检测"/>
            <p:cNvSpPr txBox="1"/>
            <p:nvPr/>
          </p:nvSpPr>
          <p:spPr>
            <a:xfrm>
              <a:off x="9340850" y="5390706"/>
              <a:ext cx="23241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zh-CN">
                  <a:solidFill>
                    <a:srgbClr val="082D48"/>
                  </a:solidFill>
                  <a:latin typeface="Arial"/>
                  <a:ea typeface="SimHei"/>
                </a:rPr>
                <a:t>无监督异常检测</a:t>
              </a:r>
            </a:p>
          </p:txBody>
        </p:sp>
        <p:sp>
          <p:nvSpPr>
            <p:cNvPr id="84" name="Text | 利用正常样本学习异常"/>
            <p:cNvSpPr txBox="1"/>
            <p:nvPr/>
          </p:nvSpPr>
          <p:spPr>
            <a:xfrm>
              <a:off x="9340850" y="5679250"/>
              <a:ext cx="23241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4C6B83"/>
                  </a:solidFill>
                  <a:latin typeface="Arial"/>
                  <a:ea typeface="SimHei"/>
                </a:rPr>
                <a:t>利用正常样本学习异常</a:t>
              </a:r>
            </a:p>
          </p:txBody>
        </p:sp>
      </p:grpSp>
      <p:sp>
        <p:nvSpPr>
          <p:cNvPr id="85" name="Text | 降低使用门槛   /   复用训练经验   /   沉淀模型资产"/>
          <p:cNvSpPr txBox="1"/>
          <p:nvPr/>
        </p:nvSpPr>
        <p:spPr>
          <a:xfrm>
            <a:off x="698500" y="6152706"/>
            <a:ext cx="107950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zh-CN">
                <a:solidFill>
                  <a:srgbClr val="087F79"/>
                </a:solidFill>
                <a:latin typeface="Arial"/>
                <a:ea typeface="SimHei"/>
              </a:rPr>
              <a:t>降低使用门槛   /   复用训练经验   /   沉淀模型资产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nector | 1"/>
          <p:cNvSpPr/>
          <p:nvPr/>
        </p:nvSpPr>
        <p:spPr>
          <a:xfrm>
            <a:off x="8572500" y="0"/>
            <a:ext cx="3213100" cy="565150"/>
          </a:xfrm>
          <a:custGeom>
            <a:avLst/>
            <a:gdLst/>
            <a:ahLst/>
            <a:cxnLst/>
            <a:rect l="0" t="0" r="r" b="b"/>
            <a:pathLst>
              <a:path w="50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50600" y="8900"/>
                </a:lnTo>
              </a:path>
            </a:pathLst>
          </a:custGeom>
          <a:noFill/>
          <a:ln w="6350" cap="rnd">
            <a:solidFill>
              <a:srgbClr val="C6D8EB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le | 1"/>
          <p:cNvSpPr/>
          <p:nvPr/>
        </p:nvSpPr>
        <p:spPr>
          <a:xfrm>
            <a:off x="8832850" y="546100"/>
            <a:ext cx="38100" cy="38100"/>
          </a:xfrm>
          <a:prstGeom prst="ellipse">
            <a:avLst/>
          </a:prstGeom>
          <a:solidFill>
            <a:srgbClr val="C6D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nnector | 2"/>
          <p:cNvSpPr/>
          <p:nvPr/>
        </p:nvSpPr>
        <p:spPr>
          <a:xfrm>
            <a:off x="9588500" y="0"/>
            <a:ext cx="2197100" cy="565150"/>
          </a:xfrm>
          <a:custGeom>
            <a:avLst/>
            <a:gdLst/>
            <a:ahLst/>
            <a:cxnLst/>
            <a:rect l="0" t="0" r="r" b="b"/>
            <a:pathLst>
              <a:path w="34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34600" y="8900"/>
                </a:lnTo>
              </a:path>
            </a:pathLst>
          </a:custGeom>
          <a:noFill/>
          <a:ln w="6350" cap="rnd">
            <a:solidFill>
              <a:srgbClr val="C6D8EB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ircle | 2"/>
          <p:cNvSpPr/>
          <p:nvPr/>
        </p:nvSpPr>
        <p:spPr>
          <a:xfrm>
            <a:off x="9848850" y="546100"/>
            <a:ext cx="38100" cy="38100"/>
          </a:xfrm>
          <a:prstGeom prst="ellipse">
            <a:avLst/>
          </a:prstGeom>
          <a:solidFill>
            <a:srgbClr val="C6D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nector | 3"/>
          <p:cNvSpPr/>
          <p:nvPr/>
        </p:nvSpPr>
        <p:spPr>
          <a:xfrm>
            <a:off x="10604500" y="0"/>
            <a:ext cx="1181100" cy="565150"/>
          </a:xfrm>
          <a:custGeom>
            <a:avLst/>
            <a:gdLst/>
            <a:ahLst/>
            <a:cxnLst/>
            <a:rect l="0" t="0" r="r" b="b"/>
            <a:pathLst>
              <a:path w="18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18600" y="8900"/>
                </a:lnTo>
              </a:path>
            </a:pathLst>
          </a:custGeom>
          <a:noFill/>
          <a:ln w="6350" cap="rnd">
            <a:solidFill>
              <a:srgbClr val="C6D8EB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ircle | 3"/>
          <p:cNvSpPr/>
          <p:nvPr/>
        </p:nvSpPr>
        <p:spPr>
          <a:xfrm>
            <a:off x="10864850" y="546100"/>
            <a:ext cx="38100" cy="38100"/>
          </a:xfrm>
          <a:prstGeom prst="ellipse">
            <a:avLst/>
          </a:prstGeom>
          <a:solidFill>
            <a:srgbClr val="C6D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007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 | 第 03 章 / HawkeyePlus"/>
          <p:cNvSpPr txBox="1"/>
          <p:nvPr/>
        </p:nvSpPr>
        <p:spPr>
          <a:xfrm>
            <a:off x="546100" y="363410"/>
            <a:ext cx="7620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4C6B83"/>
                </a:solidFill>
                <a:latin typeface="Arial"/>
                <a:ea typeface="SimHei"/>
              </a:rPr>
              <a:t>第 03 章 / HawkeyePlus</a:t>
            </a:r>
          </a:p>
        </p:txBody>
      </p:sp>
      <p:pic>
        <p:nvPicPr>
          <p:cNvPr id="10" name="Picture | Independent image" descr="139ef02520a55c1aaee95c1d6e7f5f730beac004ebb72c9c012b0f76513ab8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sp>
        <p:nvSpPr>
          <p:cNvPr id="11" name="Text | Detection｜工业缺陷检测"/>
          <p:cNvSpPr txBox="1"/>
          <p:nvPr/>
        </p:nvSpPr>
        <p:spPr>
          <a:xfrm>
            <a:off x="406400" y="610552"/>
            <a:ext cx="10858500" cy="58191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567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zh-CN">
                <a:solidFill>
                  <a:srgbClr val="082D48"/>
                </a:solidFill>
                <a:latin typeface="Arial"/>
                <a:ea typeface="SimHei"/>
              </a:rPr>
              <a:t>Detection｜工业缺陷检测</a:t>
            </a:r>
          </a:p>
        </p:txBody>
      </p:sp>
      <p:sp>
        <p:nvSpPr>
          <p:cNvPr id="12" name="Text | 目标框、类别与置信度，让缺陷位置与类型一目了然"/>
          <p:cNvSpPr txBox="1"/>
          <p:nvPr/>
        </p:nvSpPr>
        <p:spPr>
          <a:xfrm>
            <a:off x="425450" y="1072706"/>
            <a:ext cx="110490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4C6B83"/>
                </a:solidFill>
                <a:latin typeface="Arial"/>
                <a:ea typeface="SimHei"/>
              </a:rPr>
              <a:t>目标框、类别与置信度，让缺陷位置与类型一目了然</a:t>
            </a:r>
          </a:p>
        </p:txBody>
      </p:sp>
      <p:cxnSp>
        <p:nvCxnSpPr>
          <p:cNvPr id="13" name="Connector | 4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C6D8E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| SwiftFlow + HawkeyePlus  |  Industrial Vision Engineering"/>
          <p:cNvSpPr txBox="1"/>
          <p:nvPr/>
        </p:nvSpPr>
        <p:spPr>
          <a:xfrm>
            <a:off x="412750" y="6607238"/>
            <a:ext cx="825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SwiftFlow + HawkeyePlus  |  Industrial Vision Engineering</a:t>
            </a:r>
          </a:p>
        </p:txBody>
      </p:sp>
      <p:sp>
        <p:nvSpPr>
          <p:cNvPr id="15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4C6B83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16" name="Text | 14 / 20"/>
          <p:cNvSpPr txBox="1"/>
          <p:nvPr/>
        </p:nvSpPr>
        <p:spPr>
          <a:xfrm>
            <a:off x="11137900" y="6607238"/>
            <a:ext cx="63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14 / 20</a:t>
            </a:r>
          </a:p>
        </p:txBody>
      </p:sp>
      <p:grpSp>
        <p:nvGrpSpPr>
          <p:cNvPr id="17" name="Node | Detection"/>
          <p:cNvGrpSpPr/>
          <p:nvPr/>
        </p:nvGrpSpPr>
        <p:grpSpPr>
          <a:xfrm>
            <a:off x="406400" y="1504950"/>
            <a:ext cx="4191000" cy="3359150"/>
            <a:chOff x="406400" y="1504950"/>
            <a:chExt cx="4191000" cy="3359150"/>
          </a:xfrm>
        </p:grpSpPr>
        <p:sp>
          <p:nvSpPr>
            <p:cNvPr id="18" name="Panel | 2"/>
            <p:cNvSpPr/>
            <p:nvPr/>
          </p:nvSpPr>
          <p:spPr>
            <a:xfrm>
              <a:off x="406400" y="1504950"/>
              <a:ext cx="4191000" cy="3359150"/>
            </a:xfrm>
            <a:prstGeom prst="roundRect">
              <a:avLst>
                <a:gd name="adj" fmla="val 4158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 | 缺陷定位与识别"/>
            <p:cNvSpPr txBox="1"/>
            <p:nvPr/>
          </p:nvSpPr>
          <p:spPr>
            <a:xfrm>
              <a:off x="584200" y="1636014"/>
              <a:ext cx="3810000" cy="33108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02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0" b="1" lang="zh-CN">
                  <a:solidFill>
                    <a:srgbClr val="082D48"/>
                  </a:solidFill>
                  <a:latin typeface="Arial"/>
                  <a:ea typeface="SimHei"/>
                </a:rPr>
                <a:t>缺陷定位与识别</a:t>
              </a:r>
            </a:p>
          </p:txBody>
        </p:sp>
        <p:pic>
          <p:nvPicPr>
            <p:cNvPr id="20" name="Picture | Independent image" descr="2d912ebd7dcb0a346bde40d637fceed021a159bb2c31cc9e00aab4e109b5a276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400" y="2038945"/>
              <a:ext cx="3937000" cy="2399109"/>
            </a:xfrm>
            <a:prstGeom prst="rect">
              <a:avLst/>
            </a:prstGeom>
          </p:spPr>
        </p:pic>
        <p:sp>
          <p:nvSpPr>
            <p:cNvPr id="21" name="Text | 输出：目标框 · 类别 · 置信度"/>
            <p:cNvSpPr txBox="1"/>
            <p:nvPr/>
          </p:nvSpPr>
          <p:spPr>
            <a:xfrm>
              <a:off x="533400" y="4437316"/>
              <a:ext cx="39370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zh-CN">
                  <a:solidFill>
                    <a:srgbClr val="007D9D"/>
                  </a:solidFill>
                  <a:latin typeface="Arial"/>
                  <a:ea typeface="SimHei"/>
                </a:rPr>
                <a:t>输出：目标框 · 类别 · 置信度</a:t>
              </a:r>
            </a:p>
          </p:txBody>
        </p:sp>
        <p:sp>
          <p:nvSpPr>
            <p:cNvPr id="22" name="Text | 检测结果示意，非真实模型预测"/>
            <p:cNvSpPr txBox="1"/>
            <p:nvPr/>
          </p:nvSpPr>
          <p:spPr>
            <a:xfrm>
              <a:off x="533400" y="4659694"/>
              <a:ext cx="3937000" cy="200660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23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0" lang="zh-CN">
                  <a:solidFill>
                    <a:srgbClr val="4C6B83"/>
                  </a:solidFill>
                  <a:latin typeface="Arial"/>
                  <a:ea typeface="SimHei"/>
                </a:rPr>
                <a:t>检测结果示意，非真实模型预测</a:t>
              </a:r>
            </a:p>
          </p:txBody>
        </p:sp>
      </p:grpSp>
      <p:grpSp>
        <p:nvGrpSpPr>
          <p:cNvPr id="23" name="Node | PaddleDetection"/>
          <p:cNvGrpSpPr/>
          <p:nvPr/>
        </p:nvGrpSpPr>
        <p:grpSpPr>
          <a:xfrm>
            <a:off x="4794250" y="1504950"/>
            <a:ext cx="6991350" cy="1631950"/>
            <a:chOff x="4794250" y="1504950"/>
            <a:chExt cx="6991350" cy="1631950"/>
          </a:xfrm>
        </p:grpSpPr>
        <p:sp>
          <p:nvSpPr>
            <p:cNvPr id="24" name="Panel | 3"/>
            <p:cNvSpPr/>
            <p:nvPr/>
          </p:nvSpPr>
          <p:spPr>
            <a:xfrm>
              <a:off x="4794250" y="1504950"/>
              <a:ext cx="6991350" cy="1631950"/>
            </a:xfrm>
            <a:prstGeom prst="roundRect">
              <a:avLst>
                <a:gd name="adj" fmla="val 8560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 | PaddleDetection"/>
            <p:cNvSpPr txBox="1"/>
            <p:nvPr/>
          </p:nvSpPr>
          <p:spPr>
            <a:xfrm>
              <a:off x="4997450" y="1614868"/>
              <a:ext cx="5016500" cy="35115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15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50" b="1" lang="en-US">
                  <a:solidFill>
                    <a:srgbClr val="007D9D"/>
                  </a:solidFill>
                  <a:latin typeface="Arial"/>
                  <a:ea typeface="SimHei"/>
                </a:rPr>
                <a:t>PaddleDetection</a:t>
              </a:r>
            </a:p>
          </p:txBody>
        </p:sp>
        <p:sp>
          <p:nvSpPr>
            <p:cNvPr id="26" name="Panel | 4"/>
            <p:cNvSpPr/>
            <p:nvPr/>
          </p:nvSpPr>
          <p:spPr>
            <a:xfrm>
              <a:off x="10483850" y="1651000"/>
              <a:ext cx="1104900" cy="241300"/>
            </a:xfrm>
            <a:prstGeom prst="roundRect">
              <a:avLst>
                <a:gd name="adj" fmla="val 26315"/>
              </a:avLst>
            </a:prstGeom>
            <a:solidFill>
              <a:srgbClr val="E5EF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 | 7 presets"/>
            <p:cNvSpPr txBox="1"/>
            <p:nvPr/>
          </p:nvSpPr>
          <p:spPr>
            <a:xfrm>
              <a:off x="10521950" y="1683830"/>
              <a:ext cx="10287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007D9D"/>
                  </a:solidFill>
                  <a:latin typeface="Arial"/>
                  <a:ea typeface="SimHei"/>
                </a:rPr>
                <a:t>7 presets</a:t>
              </a:r>
            </a:p>
          </p:txBody>
        </p:sp>
        <p:sp>
          <p:nvSpPr>
            <p:cNvPr id="28" name="Text | PP-YOLOE  ·  YOLOv3  ·  PicoDet  ·  RT-DETR"/>
            <p:cNvSpPr txBox="1"/>
            <p:nvPr/>
          </p:nvSpPr>
          <p:spPr>
            <a:xfrm>
              <a:off x="4997450" y="1982597"/>
              <a:ext cx="6546850" cy="34112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0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en-US">
                  <a:solidFill>
                    <a:srgbClr val="082D48"/>
                  </a:solidFill>
                  <a:latin typeface="Arial"/>
                  <a:ea typeface="SimHei"/>
                </a:rPr>
                <a:t>PP-YOLOE  ·  YOLOv3  ·  PicoDet  ·  RT-DETR</a:t>
              </a:r>
            </a:p>
          </p:txBody>
        </p:sp>
        <p:sp>
          <p:nvSpPr>
            <p:cNvPr id="29" name="Text | Faster R-CNN  ·  RetinaNet  ·  CenterNet"/>
            <p:cNvSpPr txBox="1"/>
            <p:nvPr/>
          </p:nvSpPr>
          <p:spPr>
            <a:xfrm>
              <a:off x="4997450" y="2293747"/>
              <a:ext cx="6546850" cy="34112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0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en-US">
                  <a:solidFill>
                    <a:srgbClr val="082D48"/>
                  </a:solidFill>
                  <a:latin typeface="Arial"/>
                  <a:ea typeface="SimHei"/>
                </a:rPr>
                <a:t>Faster R-CNN  ·  RetinaNet  ·  CenterNet</a:t>
              </a:r>
            </a:p>
          </p:txBody>
        </p:sp>
      </p:grpSp>
      <p:grpSp>
        <p:nvGrpSpPr>
          <p:cNvPr id="30" name="Node | TorchDet"/>
          <p:cNvGrpSpPr/>
          <p:nvPr/>
        </p:nvGrpSpPr>
        <p:grpSpPr>
          <a:xfrm>
            <a:off x="4794250" y="3232150"/>
            <a:ext cx="6991350" cy="1631950"/>
            <a:chOff x="4794250" y="3232150"/>
            <a:chExt cx="6991350" cy="1631950"/>
          </a:xfrm>
        </p:grpSpPr>
        <p:sp>
          <p:nvSpPr>
            <p:cNvPr id="31" name="Panel | 5"/>
            <p:cNvSpPr/>
            <p:nvPr/>
          </p:nvSpPr>
          <p:spPr>
            <a:xfrm>
              <a:off x="4794250" y="3232150"/>
              <a:ext cx="6991350" cy="1631950"/>
            </a:xfrm>
            <a:prstGeom prst="roundRect">
              <a:avLst>
                <a:gd name="adj" fmla="val 8560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 | TorchDet"/>
            <p:cNvSpPr txBox="1"/>
            <p:nvPr/>
          </p:nvSpPr>
          <p:spPr>
            <a:xfrm>
              <a:off x="4997450" y="3342068"/>
              <a:ext cx="5016500" cy="35115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15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50" b="1" lang="en-US">
                  <a:solidFill>
                    <a:srgbClr val="007D9D"/>
                  </a:solidFill>
                  <a:latin typeface="Arial"/>
                  <a:ea typeface="SimHei"/>
                </a:rPr>
                <a:t>TorchDet</a:t>
              </a:r>
            </a:p>
          </p:txBody>
        </p:sp>
        <p:sp>
          <p:nvSpPr>
            <p:cNvPr id="33" name="Panel | 6"/>
            <p:cNvSpPr/>
            <p:nvPr/>
          </p:nvSpPr>
          <p:spPr>
            <a:xfrm>
              <a:off x="10483850" y="3378200"/>
              <a:ext cx="1104900" cy="241300"/>
            </a:xfrm>
            <a:prstGeom prst="roundRect">
              <a:avLst>
                <a:gd name="adj" fmla="val 26315"/>
              </a:avLst>
            </a:prstGeom>
            <a:solidFill>
              <a:srgbClr val="E5EF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 | 4 presets"/>
            <p:cNvSpPr txBox="1"/>
            <p:nvPr/>
          </p:nvSpPr>
          <p:spPr>
            <a:xfrm>
              <a:off x="10521950" y="3411029"/>
              <a:ext cx="10287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007D9D"/>
                  </a:solidFill>
                  <a:latin typeface="Arial"/>
                  <a:ea typeface="SimHei"/>
                </a:rPr>
                <a:t>4 presets</a:t>
              </a:r>
            </a:p>
          </p:txBody>
        </p:sp>
        <p:sp>
          <p:nvSpPr>
            <p:cNvPr id="35" name="Text | Faster R-CNN  ·  RetinaNet  ·  FCOS  ·  SSD / SSDLite"/>
            <p:cNvSpPr txBox="1"/>
            <p:nvPr/>
          </p:nvSpPr>
          <p:spPr>
            <a:xfrm>
              <a:off x="4997450" y="3709797"/>
              <a:ext cx="6546850" cy="34112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0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en-US">
                  <a:solidFill>
                    <a:srgbClr val="082D48"/>
                  </a:solidFill>
                  <a:latin typeface="Arial"/>
                  <a:ea typeface="SimHei"/>
                </a:rPr>
                <a:t>Faster R-CNN  ·  RetinaNet  ·  FCOS  ·  SSD / SSDLite</a:t>
              </a:r>
            </a:p>
          </p:txBody>
        </p:sp>
        <p:sp>
          <p:nvSpPr>
            <p:cNvPr id="36" name="Text | SSD：VGG16 → SSD300；MobileNetV3 → SSDLite320"/>
            <p:cNvSpPr txBox="1"/>
            <p:nvPr/>
          </p:nvSpPr>
          <p:spPr>
            <a:xfrm>
              <a:off x="4997450" y="4548314"/>
              <a:ext cx="65468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en-US">
                  <a:solidFill>
                    <a:srgbClr val="4C6B83"/>
                  </a:solidFill>
                  <a:latin typeface="Arial"/>
                  <a:ea typeface="SimHei"/>
                </a:rPr>
                <a:t>SSD：VGG16 → SSD300；MobileNetV3 → SSDLite320</a:t>
              </a:r>
            </a:p>
          </p:txBody>
        </p:sp>
      </p:grpSp>
      <p:grpSp>
        <p:nvGrpSpPr>
          <p:cNvPr id="37" name="Node | COCO 数据与标注"/>
          <p:cNvGrpSpPr/>
          <p:nvPr/>
        </p:nvGrpSpPr>
        <p:grpSpPr>
          <a:xfrm>
            <a:off x="406400" y="5149850"/>
            <a:ext cx="3670300" cy="869950"/>
            <a:chOff x="406400" y="5149850"/>
            <a:chExt cx="3670300" cy="869950"/>
          </a:xfrm>
        </p:grpSpPr>
        <p:sp>
          <p:nvSpPr>
            <p:cNvPr id="38" name="Panel | 7"/>
            <p:cNvSpPr/>
            <p:nvPr/>
          </p:nvSpPr>
          <p:spPr>
            <a:xfrm>
              <a:off x="406400" y="5149850"/>
              <a:ext cx="3670300" cy="869950"/>
            </a:xfrm>
            <a:prstGeom prst="roundRect">
              <a:avLst>
                <a:gd name="adj" fmla="val 13138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9" name="Picture | Independent image" descr="9e95fdd8cbc9f9a0c34a291105fb480dc039dba98b573e29df9046a523f69962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3755" y="5200650"/>
              <a:ext cx="810491" cy="742950"/>
            </a:xfrm>
            <a:prstGeom prst="rect">
              <a:avLst/>
            </a:prstGeom>
          </p:spPr>
        </p:pic>
        <p:sp>
          <p:nvSpPr>
            <p:cNvPr id="40" name="Text | COCO 数据与标注"/>
            <p:cNvSpPr txBox="1"/>
            <p:nvPr/>
          </p:nvSpPr>
          <p:spPr>
            <a:xfrm>
              <a:off x="1403350" y="5326316"/>
              <a:ext cx="253365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zh-CN">
                  <a:solidFill>
                    <a:srgbClr val="082D48"/>
                  </a:solidFill>
                  <a:latin typeface="Arial"/>
                  <a:ea typeface="SimHei"/>
                </a:rPr>
                <a:t>COCO 数据与标注</a:t>
              </a:r>
            </a:p>
          </p:txBody>
        </p:sp>
        <p:sp>
          <p:nvSpPr>
            <p:cNvPr id="41" name="Text | 框标注 · 类别管理"/>
            <p:cNvSpPr txBox="1"/>
            <p:nvPr/>
          </p:nvSpPr>
          <p:spPr>
            <a:xfrm>
              <a:off x="1403350" y="5641150"/>
              <a:ext cx="25336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4C6B83"/>
                  </a:solidFill>
                  <a:latin typeface="Arial"/>
                  <a:ea typeface="SimHei"/>
                </a:rPr>
                <a:t>框标注 · 类别管理</a:t>
              </a:r>
            </a:p>
          </p:txBody>
        </p:sp>
      </p:grpSp>
      <p:grpSp>
        <p:nvGrpSpPr>
          <p:cNvPr id="42" name="Node | 训练与指标跟踪"/>
          <p:cNvGrpSpPr/>
          <p:nvPr/>
        </p:nvGrpSpPr>
        <p:grpSpPr>
          <a:xfrm>
            <a:off x="4260850" y="5149850"/>
            <a:ext cx="3670300" cy="869950"/>
            <a:chOff x="4260850" y="5149850"/>
            <a:chExt cx="3670300" cy="869950"/>
          </a:xfrm>
        </p:grpSpPr>
        <p:sp>
          <p:nvSpPr>
            <p:cNvPr id="43" name="Panel | 8"/>
            <p:cNvSpPr/>
            <p:nvPr/>
          </p:nvSpPr>
          <p:spPr>
            <a:xfrm>
              <a:off x="4260850" y="5149850"/>
              <a:ext cx="3670300" cy="869950"/>
            </a:xfrm>
            <a:prstGeom prst="roundRect">
              <a:avLst>
                <a:gd name="adj" fmla="val 13138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4" name="Picture | Independent image" descr="a2781e6fc1b0657c84d60247567a5473eac6014ff0a41bdab4c3f63f6bae7f6c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38205" y="5200650"/>
              <a:ext cx="810491" cy="742950"/>
            </a:xfrm>
            <a:prstGeom prst="rect">
              <a:avLst/>
            </a:prstGeom>
          </p:spPr>
        </p:pic>
        <p:sp>
          <p:nvSpPr>
            <p:cNvPr id="45" name="Text | 训练与指标跟踪"/>
            <p:cNvSpPr txBox="1"/>
            <p:nvPr/>
          </p:nvSpPr>
          <p:spPr>
            <a:xfrm>
              <a:off x="5257800" y="5326316"/>
              <a:ext cx="253365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zh-CN">
                  <a:solidFill>
                    <a:srgbClr val="082D48"/>
                  </a:solidFill>
                  <a:latin typeface="Arial"/>
                  <a:ea typeface="SimHei"/>
                </a:rPr>
                <a:t>训练与指标跟踪</a:t>
              </a:r>
            </a:p>
          </p:txBody>
        </p:sp>
        <p:sp>
          <p:nvSpPr>
            <p:cNvPr id="46" name="Text | mAP / mAP50 · 训练曲线"/>
            <p:cNvSpPr txBox="1"/>
            <p:nvPr/>
          </p:nvSpPr>
          <p:spPr>
            <a:xfrm>
              <a:off x="5257800" y="5641150"/>
              <a:ext cx="25336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4C6B83"/>
                  </a:solidFill>
                  <a:latin typeface="Arial"/>
                  <a:ea typeface="SimHei"/>
                </a:rPr>
                <a:t>mAP / mAP50 · 训练曲线</a:t>
              </a:r>
            </a:p>
          </p:txBody>
        </p:sp>
      </p:grpSp>
      <p:grpSp>
        <p:nvGrpSpPr>
          <p:cNvPr id="47" name="Node | 检测结果预览"/>
          <p:cNvGrpSpPr/>
          <p:nvPr/>
        </p:nvGrpSpPr>
        <p:grpSpPr>
          <a:xfrm>
            <a:off x="8115300" y="5149850"/>
            <a:ext cx="3670300" cy="869950"/>
            <a:chOff x="8115300" y="5149850"/>
            <a:chExt cx="3670300" cy="869950"/>
          </a:xfrm>
        </p:grpSpPr>
        <p:sp>
          <p:nvSpPr>
            <p:cNvPr id="48" name="Panel | 9"/>
            <p:cNvSpPr/>
            <p:nvPr/>
          </p:nvSpPr>
          <p:spPr>
            <a:xfrm>
              <a:off x="8115300" y="5149850"/>
              <a:ext cx="3670300" cy="869950"/>
            </a:xfrm>
            <a:prstGeom prst="roundRect">
              <a:avLst>
                <a:gd name="adj" fmla="val 13138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9" name="Picture | Independent image" descr="9d8a396ed4272854fb93ae8fa019b1c482371fd2a5043a2fbf37b1757aef0d47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92655" y="5200650"/>
              <a:ext cx="810491" cy="742950"/>
            </a:xfrm>
            <a:prstGeom prst="rect">
              <a:avLst/>
            </a:prstGeom>
          </p:spPr>
        </p:pic>
        <p:sp>
          <p:nvSpPr>
            <p:cNvPr id="50" name="Text | 检测结果预览"/>
            <p:cNvSpPr txBox="1"/>
            <p:nvPr/>
          </p:nvSpPr>
          <p:spPr>
            <a:xfrm>
              <a:off x="9112250" y="5326316"/>
              <a:ext cx="253365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zh-CN">
                  <a:solidFill>
                    <a:srgbClr val="082D48"/>
                  </a:solidFill>
                  <a:latin typeface="Arial"/>
                  <a:ea typeface="SimHei"/>
                </a:rPr>
                <a:t>检测结果预览</a:t>
              </a:r>
            </a:p>
          </p:txBody>
        </p:sp>
        <p:sp>
          <p:nvSpPr>
            <p:cNvPr id="51" name="Text | 定位缺陷 · 查看类别"/>
            <p:cNvSpPr txBox="1"/>
            <p:nvPr/>
          </p:nvSpPr>
          <p:spPr>
            <a:xfrm>
              <a:off x="9112250" y="5641150"/>
              <a:ext cx="25336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4C6B83"/>
                  </a:solidFill>
                  <a:latin typeface="Arial"/>
                  <a:ea typeface="SimHei"/>
                </a:rPr>
                <a:t>定位缺陷 · 查看类别</a:t>
              </a:r>
            </a:p>
          </p:txBody>
        </p:sp>
      </p:grpSp>
      <p:sp>
        <p:nvSpPr>
          <p:cNvPr id="52" name="Text | 预设按框架区分；PP-YOLOE、RT-DETR 等不属于 TorchDet。"/>
          <p:cNvSpPr txBox="1"/>
          <p:nvPr/>
        </p:nvSpPr>
        <p:spPr>
          <a:xfrm>
            <a:off x="406400" y="6174550"/>
            <a:ext cx="11379200" cy="240792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>
              <a:lnSpc>
                <a:spcPts val="147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4C6B83"/>
                </a:solidFill>
                <a:latin typeface="Arial"/>
                <a:ea typeface="SimHei"/>
              </a:rPr>
              <a:t>预设按框架区分；PP-YOLOE、RT-DETR 等不属于 TorchDet。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nector | 1"/>
          <p:cNvSpPr/>
          <p:nvPr/>
        </p:nvSpPr>
        <p:spPr>
          <a:xfrm>
            <a:off x="8572500" y="0"/>
            <a:ext cx="3213100" cy="565150"/>
          </a:xfrm>
          <a:custGeom>
            <a:avLst/>
            <a:gdLst/>
            <a:ahLst/>
            <a:cxnLst/>
            <a:rect l="0" t="0" r="r" b="b"/>
            <a:pathLst>
              <a:path w="50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50600" y="8900"/>
                </a:lnTo>
              </a:path>
            </a:pathLst>
          </a:custGeom>
          <a:noFill/>
          <a:ln w="6350" cap="rnd">
            <a:solidFill>
              <a:srgbClr val="C6D8EB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le | 1"/>
          <p:cNvSpPr/>
          <p:nvPr/>
        </p:nvSpPr>
        <p:spPr>
          <a:xfrm>
            <a:off x="8832850" y="546100"/>
            <a:ext cx="38100" cy="38100"/>
          </a:xfrm>
          <a:prstGeom prst="ellipse">
            <a:avLst/>
          </a:prstGeom>
          <a:solidFill>
            <a:srgbClr val="C6D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nnector | 2"/>
          <p:cNvSpPr/>
          <p:nvPr/>
        </p:nvSpPr>
        <p:spPr>
          <a:xfrm>
            <a:off x="9588500" y="0"/>
            <a:ext cx="2197100" cy="565150"/>
          </a:xfrm>
          <a:custGeom>
            <a:avLst/>
            <a:gdLst/>
            <a:ahLst/>
            <a:cxnLst/>
            <a:rect l="0" t="0" r="r" b="b"/>
            <a:pathLst>
              <a:path w="34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34600" y="8900"/>
                </a:lnTo>
              </a:path>
            </a:pathLst>
          </a:custGeom>
          <a:noFill/>
          <a:ln w="6350" cap="rnd">
            <a:solidFill>
              <a:srgbClr val="C6D8EB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ircle | 2"/>
          <p:cNvSpPr/>
          <p:nvPr/>
        </p:nvSpPr>
        <p:spPr>
          <a:xfrm>
            <a:off x="9848850" y="546100"/>
            <a:ext cx="38100" cy="38100"/>
          </a:xfrm>
          <a:prstGeom prst="ellipse">
            <a:avLst/>
          </a:prstGeom>
          <a:solidFill>
            <a:srgbClr val="C6D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nector | 3"/>
          <p:cNvSpPr/>
          <p:nvPr/>
        </p:nvSpPr>
        <p:spPr>
          <a:xfrm>
            <a:off x="10604500" y="0"/>
            <a:ext cx="1181100" cy="565150"/>
          </a:xfrm>
          <a:custGeom>
            <a:avLst/>
            <a:gdLst/>
            <a:ahLst/>
            <a:cxnLst/>
            <a:rect l="0" t="0" r="r" b="b"/>
            <a:pathLst>
              <a:path w="18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18600" y="8900"/>
                </a:lnTo>
              </a:path>
            </a:pathLst>
          </a:custGeom>
          <a:noFill/>
          <a:ln w="6350" cap="rnd">
            <a:solidFill>
              <a:srgbClr val="C6D8EB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ircle | 3"/>
          <p:cNvSpPr/>
          <p:nvPr/>
        </p:nvSpPr>
        <p:spPr>
          <a:xfrm>
            <a:off x="10864850" y="546100"/>
            <a:ext cx="38100" cy="38100"/>
          </a:xfrm>
          <a:prstGeom prst="ellipse">
            <a:avLst/>
          </a:prstGeom>
          <a:solidFill>
            <a:srgbClr val="C6D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007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 | 第 03 章 / HawkeyePlus"/>
          <p:cNvSpPr txBox="1"/>
          <p:nvPr/>
        </p:nvSpPr>
        <p:spPr>
          <a:xfrm>
            <a:off x="546100" y="363410"/>
            <a:ext cx="7620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4C6B83"/>
                </a:solidFill>
                <a:latin typeface="Arial"/>
                <a:ea typeface="SimHei"/>
              </a:rPr>
              <a:t>第 03 章 / HawkeyePlus</a:t>
            </a:r>
          </a:p>
        </p:txBody>
      </p:sp>
      <p:pic>
        <p:nvPicPr>
          <p:cNvPr id="10" name="Picture | Independent image" descr="139ef02520a55c1aaee95c1d6e7f5f730beac004ebb72c9c012b0f76513ab8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sp>
        <p:nvSpPr>
          <p:cNvPr id="11" name="Text | 分割模型｜像素级结构与区域识别"/>
          <p:cNvSpPr txBox="1"/>
          <p:nvPr/>
        </p:nvSpPr>
        <p:spPr>
          <a:xfrm>
            <a:off x="406400" y="610552"/>
            <a:ext cx="10858500" cy="58191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567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zh-CN">
                <a:solidFill>
                  <a:srgbClr val="082D48"/>
                </a:solidFill>
                <a:latin typeface="Arial"/>
                <a:ea typeface="SimHei"/>
              </a:rPr>
              <a:t>分割模型｜像素级结构与区域识别</a:t>
            </a:r>
          </a:p>
        </p:txBody>
      </p:sp>
      <p:sp>
        <p:nvSpPr>
          <p:cNvPr id="12" name="Text | 以 TEM 分割示例说明任务；模型覆盖轻量网络、编码器解码器与 Transformer"/>
          <p:cNvSpPr txBox="1"/>
          <p:nvPr/>
        </p:nvSpPr>
        <p:spPr>
          <a:xfrm>
            <a:off x="425450" y="1072706"/>
            <a:ext cx="110490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4C6B83"/>
                </a:solidFill>
                <a:latin typeface="Arial"/>
                <a:ea typeface="SimHei"/>
              </a:rPr>
              <a:t>以 TEM 分割示例说明任务；模型覆盖轻量网络、编码器解码器与 Transformer</a:t>
            </a:r>
          </a:p>
        </p:txBody>
      </p:sp>
      <p:cxnSp>
        <p:nvCxnSpPr>
          <p:cNvPr id="13" name="Connector | 4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C6D8E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| SwiftFlow + HawkeyePlus  |  Industrial Vision Engineering"/>
          <p:cNvSpPr txBox="1"/>
          <p:nvPr/>
        </p:nvSpPr>
        <p:spPr>
          <a:xfrm>
            <a:off x="412750" y="6607238"/>
            <a:ext cx="825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SwiftFlow + HawkeyePlus  |  Industrial Vision Engineering</a:t>
            </a:r>
          </a:p>
        </p:txBody>
      </p:sp>
      <p:sp>
        <p:nvSpPr>
          <p:cNvPr id="15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4C6B83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16" name="Text | 15 / 20"/>
          <p:cNvSpPr txBox="1"/>
          <p:nvPr/>
        </p:nvSpPr>
        <p:spPr>
          <a:xfrm>
            <a:off x="11137900" y="6607238"/>
            <a:ext cx="63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15 / 20</a:t>
            </a:r>
          </a:p>
        </p:txBody>
      </p:sp>
      <p:grpSp>
        <p:nvGrpSpPr>
          <p:cNvPr id="17" name="Node | Segmentation example"/>
          <p:cNvGrpSpPr/>
          <p:nvPr/>
        </p:nvGrpSpPr>
        <p:grpSpPr>
          <a:xfrm>
            <a:off x="406400" y="1504950"/>
            <a:ext cx="4191000" cy="3359150"/>
            <a:chOff x="406400" y="1504950"/>
            <a:chExt cx="4191000" cy="3359150"/>
          </a:xfrm>
        </p:grpSpPr>
        <p:sp>
          <p:nvSpPr>
            <p:cNvPr id="18" name="Panel | 2"/>
            <p:cNvSpPr/>
            <p:nvPr/>
          </p:nvSpPr>
          <p:spPr>
            <a:xfrm>
              <a:off x="406400" y="1504950"/>
              <a:ext cx="4191000" cy="3359150"/>
            </a:xfrm>
            <a:prstGeom prst="roundRect">
              <a:avLst>
                <a:gd name="adj" fmla="val 4158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 | 像素级预测示例"/>
            <p:cNvSpPr txBox="1"/>
            <p:nvPr/>
          </p:nvSpPr>
          <p:spPr>
            <a:xfrm>
              <a:off x="584200" y="1636014"/>
              <a:ext cx="3810000" cy="33108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02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0" b="1" lang="zh-CN">
                  <a:solidFill>
                    <a:srgbClr val="082D48"/>
                  </a:solidFill>
                  <a:latin typeface="Arial"/>
                  <a:ea typeface="SimHei"/>
                </a:rPr>
                <a:t>像素级预测示例</a:t>
              </a:r>
            </a:p>
          </p:txBody>
        </p:sp>
        <p:pic>
          <p:nvPicPr>
            <p:cNvPr id="20" name="Picture | Independent image" descr="a5f5495a2a992184381fd38d452b6e8d6428ddfa7afef07a273d36adde28bba5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06500" y="1911350"/>
              <a:ext cx="2590800" cy="2374900"/>
            </a:xfrm>
            <a:prstGeom prst="rect">
              <a:avLst/>
            </a:prstGeom>
          </p:spPr>
        </p:pic>
        <p:sp>
          <p:nvSpPr>
            <p:cNvPr id="21" name="Text | 图像区域 · 结构边界 · 标签掩码"/>
            <p:cNvSpPr txBox="1"/>
            <p:nvPr/>
          </p:nvSpPr>
          <p:spPr>
            <a:xfrm>
              <a:off x="533400" y="4385628"/>
              <a:ext cx="393700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 lang="zh-CN">
                  <a:solidFill>
                    <a:srgbClr val="007D9D"/>
                  </a:solidFill>
                  <a:latin typeface="Arial"/>
                  <a:ea typeface="SimHei"/>
                </a:rPr>
                <a:t>图像区域 · 结构边界 · 标签掩码</a:t>
              </a:r>
            </a:p>
          </p:txBody>
        </p:sp>
        <p:sp>
          <p:nvSpPr>
            <p:cNvPr id="22" name="Text | 项目内 TEM 分割示例"/>
            <p:cNvSpPr txBox="1"/>
            <p:nvPr/>
          </p:nvSpPr>
          <p:spPr>
            <a:xfrm>
              <a:off x="533400" y="4647882"/>
              <a:ext cx="3937000" cy="210693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2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b="0" lang="zh-CN">
                  <a:solidFill>
                    <a:srgbClr val="4C6B83"/>
                  </a:solidFill>
                  <a:latin typeface="Arial"/>
                  <a:ea typeface="SimHei"/>
                </a:rPr>
                <a:t>项目内 TEM 分割示例</a:t>
              </a:r>
            </a:p>
          </p:txBody>
        </p:sp>
      </p:grpSp>
      <p:grpSp>
        <p:nvGrpSpPr>
          <p:cNvPr id="23" name="Node | PaddleSeg"/>
          <p:cNvGrpSpPr/>
          <p:nvPr/>
        </p:nvGrpSpPr>
        <p:grpSpPr>
          <a:xfrm>
            <a:off x="4794250" y="1504950"/>
            <a:ext cx="6991350" cy="1631950"/>
            <a:chOff x="4794250" y="1504950"/>
            <a:chExt cx="6991350" cy="1631950"/>
          </a:xfrm>
        </p:grpSpPr>
        <p:sp>
          <p:nvSpPr>
            <p:cNvPr id="24" name="Panel | 3"/>
            <p:cNvSpPr/>
            <p:nvPr/>
          </p:nvSpPr>
          <p:spPr>
            <a:xfrm>
              <a:off x="4794250" y="1504950"/>
              <a:ext cx="6991350" cy="1631950"/>
            </a:xfrm>
            <a:prstGeom prst="roundRect">
              <a:avLst>
                <a:gd name="adj" fmla="val 8560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 | PaddleSeg"/>
            <p:cNvSpPr txBox="1"/>
            <p:nvPr/>
          </p:nvSpPr>
          <p:spPr>
            <a:xfrm>
              <a:off x="4997450" y="1614868"/>
              <a:ext cx="5016500" cy="35115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15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50" b="1" lang="en-US">
                  <a:solidFill>
                    <a:srgbClr val="007D9D"/>
                  </a:solidFill>
                  <a:latin typeface="Arial"/>
                  <a:ea typeface="SimHei"/>
                </a:rPr>
                <a:t>PaddleSeg</a:t>
              </a:r>
            </a:p>
          </p:txBody>
        </p:sp>
        <p:sp>
          <p:nvSpPr>
            <p:cNvPr id="26" name="Panel | 4"/>
            <p:cNvSpPr/>
            <p:nvPr/>
          </p:nvSpPr>
          <p:spPr>
            <a:xfrm>
              <a:off x="10483850" y="1651000"/>
              <a:ext cx="1104900" cy="241300"/>
            </a:xfrm>
            <a:prstGeom prst="roundRect">
              <a:avLst>
                <a:gd name="adj" fmla="val 26315"/>
              </a:avLst>
            </a:prstGeom>
            <a:solidFill>
              <a:srgbClr val="E5EF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 | 7 presets"/>
            <p:cNvSpPr txBox="1"/>
            <p:nvPr/>
          </p:nvSpPr>
          <p:spPr>
            <a:xfrm>
              <a:off x="10521950" y="1683830"/>
              <a:ext cx="10287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007D9D"/>
                  </a:solidFill>
                  <a:latin typeface="Arial"/>
                  <a:ea typeface="SimHei"/>
                </a:rPr>
                <a:t>7 presets</a:t>
              </a:r>
            </a:p>
          </p:txBody>
        </p:sp>
        <p:sp>
          <p:nvSpPr>
            <p:cNvPr id="28" name="Text | PP-LiteSeg  ·  BiSeNetV2  ·  OCRNet  ·  UNet  ·  DeepLabV3+"/>
            <p:cNvSpPr txBox="1"/>
            <p:nvPr/>
          </p:nvSpPr>
          <p:spPr>
            <a:xfrm>
              <a:off x="4997450" y="2019490"/>
              <a:ext cx="654685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en-US">
                  <a:solidFill>
                    <a:srgbClr val="082D48"/>
                  </a:solidFill>
                  <a:latin typeface="Arial"/>
                  <a:ea typeface="SimHei"/>
                </a:rPr>
                <a:t>PP-LiteSeg  ·  BiSeNetV2  ·  OCRNet  ·  UNet  ·  DeepLabV3+</a:t>
              </a:r>
            </a:p>
          </p:txBody>
        </p:sp>
        <p:sp>
          <p:nvSpPr>
            <p:cNvPr id="29" name="Text | SegFormer-B0  ·  FCN"/>
            <p:cNvSpPr txBox="1"/>
            <p:nvPr/>
          </p:nvSpPr>
          <p:spPr>
            <a:xfrm>
              <a:off x="4997450" y="2330640"/>
              <a:ext cx="654685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en-US">
                  <a:solidFill>
                    <a:srgbClr val="082D48"/>
                  </a:solidFill>
                  <a:latin typeface="Arial"/>
                  <a:ea typeface="SimHei"/>
                </a:rPr>
                <a:t>SegFormer-B0  ·  FCN</a:t>
              </a:r>
            </a:p>
          </p:txBody>
        </p:sp>
      </p:grpSp>
      <p:grpSp>
        <p:nvGrpSpPr>
          <p:cNvPr id="30" name="Node | TorchSeg"/>
          <p:cNvGrpSpPr/>
          <p:nvPr/>
        </p:nvGrpSpPr>
        <p:grpSpPr>
          <a:xfrm>
            <a:off x="4794250" y="3232150"/>
            <a:ext cx="6991350" cy="1631950"/>
            <a:chOff x="4794250" y="3232150"/>
            <a:chExt cx="6991350" cy="1631950"/>
          </a:xfrm>
        </p:grpSpPr>
        <p:sp>
          <p:nvSpPr>
            <p:cNvPr id="31" name="Panel | 5"/>
            <p:cNvSpPr/>
            <p:nvPr/>
          </p:nvSpPr>
          <p:spPr>
            <a:xfrm>
              <a:off x="4794250" y="3232150"/>
              <a:ext cx="6991350" cy="1631950"/>
            </a:xfrm>
            <a:prstGeom prst="roundRect">
              <a:avLst>
                <a:gd name="adj" fmla="val 8560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 | TorchSeg"/>
            <p:cNvSpPr txBox="1"/>
            <p:nvPr/>
          </p:nvSpPr>
          <p:spPr>
            <a:xfrm>
              <a:off x="4997450" y="3342068"/>
              <a:ext cx="5016500" cy="35115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15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50" b="1" lang="en-US">
                  <a:solidFill>
                    <a:srgbClr val="007D9D"/>
                  </a:solidFill>
                  <a:latin typeface="Arial"/>
                  <a:ea typeface="SimHei"/>
                </a:rPr>
                <a:t>TorchSeg</a:t>
              </a:r>
            </a:p>
          </p:txBody>
        </p:sp>
        <p:sp>
          <p:nvSpPr>
            <p:cNvPr id="33" name="Panel | 6"/>
            <p:cNvSpPr/>
            <p:nvPr/>
          </p:nvSpPr>
          <p:spPr>
            <a:xfrm>
              <a:off x="10483850" y="3378200"/>
              <a:ext cx="1104900" cy="241300"/>
            </a:xfrm>
            <a:prstGeom prst="roundRect">
              <a:avLst>
                <a:gd name="adj" fmla="val 26315"/>
              </a:avLst>
            </a:prstGeom>
            <a:solidFill>
              <a:srgbClr val="E5EF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 | 4 presets"/>
            <p:cNvSpPr txBox="1"/>
            <p:nvPr/>
          </p:nvSpPr>
          <p:spPr>
            <a:xfrm>
              <a:off x="10521950" y="3411029"/>
              <a:ext cx="10287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007D9D"/>
                  </a:solidFill>
                  <a:latin typeface="Arial"/>
                  <a:ea typeface="SimHei"/>
                </a:rPr>
                <a:t>4 presets</a:t>
              </a:r>
            </a:p>
          </p:txBody>
        </p:sp>
        <p:sp>
          <p:nvSpPr>
            <p:cNvPr id="35" name="Text | UNet  ·  DeepLabV3 (UI: DeepLabV3+)  ·  FCN  ·  LR-ASPP"/>
            <p:cNvSpPr txBox="1"/>
            <p:nvPr/>
          </p:nvSpPr>
          <p:spPr>
            <a:xfrm>
              <a:off x="4997450" y="3746690"/>
              <a:ext cx="654685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en-US">
                  <a:solidFill>
                    <a:srgbClr val="082D48"/>
                  </a:solidFill>
                  <a:latin typeface="Arial"/>
                  <a:ea typeface="SimHei"/>
                </a:rPr>
                <a:t>UNet  ·  DeepLabV3 (UI: DeepLabV3+)  ·  FCN  ·  LR-ASPP</a:t>
              </a:r>
            </a:p>
          </p:txBody>
        </p:sp>
        <p:sp>
          <p:nvSpPr>
            <p:cNvPr id="36" name="Text | TorchSeg 的 DeepLabV3P 使用 torchvision DeepLabV3，并非 V3+ 解码器。"/>
            <p:cNvSpPr txBox="1"/>
            <p:nvPr/>
          </p:nvSpPr>
          <p:spPr>
            <a:xfrm>
              <a:off x="4997450" y="4567110"/>
              <a:ext cx="654685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4C6B83"/>
                  </a:solidFill>
                  <a:latin typeface="Arial"/>
                  <a:ea typeface="SimHei"/>
                </a:rPr>
                <a:t>TorchSeg 的 DeepLabV3P 使用 torchvision DeepLabV3，并非 V3+ 解码器。</a:t>
              </a:r>
            </a:p>
          </p:txBody>
        </p:sp>
      </p:grpSp>
      <p:grpSp>
        <p:nvGrpSpPr>
          <p:cNvPr id="37" name="Node | 数据组织"/>
          <p:cNvGrpSpPr/>
          <p:nvPr/>
        </p:nvGrpSpPr>
        <p:grpSpPr>
          <a:xfrm>
            <a:off x="406400" y="5149850"/>
            <a:ext cx="3670300" cy="869950"/>
            <a:chOff x="406400" y="5149850"/>
            <a:chExt cx="3670300" cy="869950"/>
          </a:xfrm>
        </p:grpSpPr>
        <p:sp>
          <p:nvSpPr>
            <p:cNvPr id="38" name="Panel | 7"/>
            <p:cNvSpPr/>
            <p:nvPr/>
          </p:nvSpPr>
          <p:spPr>
            <a:xfrm>
              <a:off x="406400" y="5149850"/>
              <a:ext cx="3670300" cy="869950"/>
            </a:xfrm>
            <a:prstGeom prst="roundRect">
              <a:avLst>
                <a:gd name="adj" fmla="val 13138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9" name="Picture | Independent image" descr="9e95fdd8cbc9f9a0c34a291105fb480dc039dba98b573e29df9046a523f69962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3755" y="5200650"/>
              <a:ext cx="810491" cy="742950"/>
            </a:xfrm>
            <a:prstGeom prst="rect">
              <a:avLst/>
            </a:prstGeom>
          </p:spPr>
        </p:pic>
        <p:sp>
          <p:nvSpPr>
            <p:cNvPr id="40" name="Text | 数据组织"/>
            <p:cNvSpPr txBox="1"/>
            <p:nvPr/>
          </p:nvSpPr>
          <p:spPr>
            <a:xfrm>
              <a:off x="1403350" y="5326316"/>
              <a:ext cx="253365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zh-CN">
                  <a:solidFill>
                    <a:srgbClr val="082D48"/>
                  </a:solidFill>
                  <a:latin typeface="Arial"/>
                  <a:ea typeface="SimHei"/>
                </a:rPr>
                <a:t>数据组织</a:t>
              </a:r>
            </a:p>
          </p:txBody>
        </p:sp>
        <p:sp>
          <p:nvSpPr>
            <p:cNvPr id="41" name="Text | 图像 + 掩码 + 训练 / 验证划分"/>
            <p:cNvSpPr txBox="1"/>
            <p:nvPr/>
          </p:nvSpPr>
          <p:spPr>
            <a:xfrm>
              <a:off x="1403350" y="5641150"/>
              <a:ext cx="25336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4C6B83"/>
                  </a:solidFill>
                  <a:latin typeface="Arial"/>
                  <a:ea typeface="SimHei"/>
                </a:rPr>
                <a:t>图像 + 掩码 + 训练 / 验证划分</a:t>
              </a:r>
            </a:p>
          </p:txBody>
        </p:sp>
      </p:grpSp>
      <p:grpSp>
        <p:nvGrpSpPr>
          <p:cNvPr id="42" name="Node | 评估指标"/>
          <p:cNvGrpSpPr/>
          <p:nvPr/>
        </p:nvGrpSpPr>
        <p:grpSpPr>
          <a:xfrm>
            <a:off x="4260850" y="5149850"/>
            <a:ext cx="3670300" cy="869950"/>
            <a:chOff x="4260850" y="5149850"/>
            <a:chExt cx="3670300" cy="869950"/>
          </a:xfrm>
        </p:grpSpPr>
        <p:sp>
          <p:nvSpPr>
            <p:cNvPr id="43" name="Panel | 8"/>
            <p:cNvSpPr/>
            <p:nvPr/>
          </p:nvSpPr>
          <p:spPr>
            <a:xfrm>
              <a:off x="4260850" y="5149850"/>
              <a:ext cx="3670300" cy="869950"/>
            </a:xfrm>
            <a:prstGeom prst="roundRect">
              <a:avLst>
                <a:gd name="adj" fmla="val 13138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4" name="Picture | Independent image" descr="a2781e6fc1b0657c84d60247567a5473eac6014ff0a41bdab4c3f63f6bae7f6c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38205" y="5200650"/>
              <a:ext cx="810491" cy="742950"/>
            </a:xfrm>
            <a:prstGeom prst="rect">
              <a:avLst/>
            </a:prstGeom>
          </p:spPr>
        </p:pic>
        <p:sp>
          <p:nvSpPr>
            <p:cNvPr id="45" name="Text | 评估指标"/>
            <p:cNvSpPr txBox="1"/>
            <p:nvPr/>
          </p:nvSpPr>
          <p:spPr>
            <a:xfrm>
              <a:off x="5257800" y="5326316"/>
              <a:ext cx="253365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zh-CN">
                  <a:solidFill>
                    <a:srgbClr val="082D48"/>
                  </a:solidFill>
                  <a:latin typeface="Arial"/>
                  <a:ea typeface="SimHei"/>
                </a:rPr>
                <a:t>评估指标</a:t>
              </a:r>
            </a:p>
          </p:txBody>
        </p:sp>
        <p:sp>
          <p:nvSpPr>
            <p:cNvPr id="46" name="Text | mIoU · Dice · 准确率"/>
            <p:cNvSpPr txBox="1"/>
            <p:nvPr/>
          </p:nvSpPr>
          <p:spPr>
            <a:xfrm>
              <a:off x="5257800" y="5641150"/>
              <a:ext cx="25336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4C6B83"/>
                  </a:solidFill>
                  <a:latin typeface="Arial"/>
                  <a:ea typeface="SimHei"/>
                </a:rPr>
                <a:t>mIoU · Dice · 准确率</a:t>
              </a:r>
            </a:p>
          </p:txBody>
        </p:sp>
      </p:grpSp>
      <p:grpSp>
        <p:nvGrpSpPr>
          <p:cNvPr id="47" name="Node | 业务用途"/>
          <p:cNvGrpSpPr/>
          <p:nvPr/>
        </p:nvGrpSpPr>
        <p:grpSpPr>
          <a:xfrm>
            <a:off x="8115300" y="5149850"/>
            <a:ext cx="3670300" cy="869950"/>
            <a:chOff x="8115300" y="5149850"/>
            <a:chExt cx="3670300" cy="869950"/>
          </a:xfrm>
        </p:grpSpPr>
        <p:sp>
          <p:nvSpPr>
            <p:cNvPr id="48" name="Panel | 9"/>
            <p:cNvSpPr/>
            <p:nvPr/>
          </p:nvSpPr>
          <p:spPr>
            <a:xfrm>
              <a:off x="8115300" y="5149850"/>
              <a:ext cx="3670300" cy="869950"/>
            </a:xfrm>
            <a:prstGeom prst="roundRect">
              <a:avLst>
                <a:gd name="adj" fmla="val 13138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9" name="Picture | Independent image" descr="a5f5495a2a992184381fd38d452b6e8d6428ddfa7afef07a273d36adde28bba5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92655" y="5200650"/>
              <a:ext cx="810491" cy="742950"/>
            </a:xfrm>
            <a:prstGeom prst="rect">
              <a:avLst/>
            </a:prstGeom>
          </p:spPr>
        </p:pic>
        <p:sp>
          <p:nvSpPr>
            <p:cNvPr id="50" name="Text | 业务用途"/>
            <p:cNvSpPr txBox="1"/>
            <p:nvPr/>
          </p:nvSpPr>
          <p:spPr>
            <a:xfrm>
              <a:off x="9112250" y="5326316"/>
              <a:ext cx="253365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zh-CN">
                  <a:solidFill>
                    <a:srgbClr val="082D48"/>
                  </a:solidFill>
                  <a:latin typeface="Arial"/>
                  <a:ea typeface="SimHei"/>
                </a:rPr>
                <a:t>业务用途</a:t>
              </a:r>
            </a:p>
          </p:txBody>
        </p:sp>
        <p:sp>
          <p:nvSpPr>
            <p:cNvPr id="51" name="Text | 缺陷区域 · 微观结构 · 边界分析"/>
            <p:cNvSpPr txBox="1"/>
            <p:nvPr/>
          </p:nvSpPr>
          <p:spPr>
            <a:xfrm>
              <a:off x="9112250" y="5641467"/>
              <a:ext cx="2533650" cy="240190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7" b="0" lang="zh-CN">
                  <a:solidFill>
                    <a:srgbClr val="4C6B83"/>
                  </a:solidFill>
                  <a:latin typeface="Arial"/>
                  <a:ea typeface="SimHei"/>
                </a:rPr>
                <a:t>缺陷区域 · 微观结构 · 边界分析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nector | 1"/>
          <p:cNvSpPr/>
          <p:nvPr/>
        </p:nvSpPr>
        <p:spPr>
          <a:xfrm>
            <a:off x="8572500" y="0"/>
            <a:ext cx="3213100" cy="565150"/>
          </a:xfrm>
          <a:custGeom>
            <a:avLst/>
            <a:gdLst/>
            <a:ahLst/>
            <a:cxnLst/>
            <a:rect l="0" t="0" r="r" b="b"/>
            <a:pathLst>
              <a:path w="50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50600" y="8900"/>
                </a:lnTo>
              </a:path>
            </a:pathLst>
          </a:custGeom>
          <a:noFill/>
          <a:ln w="6350" cap="rnd">
            <a:solidFill>
              <a:srgbClr val="C6D8EB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le | 1"/>
          <p:cNvSpPr/>
          <p:nvPr/>
        </p:nvSpPr>
        <p:spPr>
          <a:xfrm>
            <a:off x="8832850" y="546100"/>
            <a:ext cx="38100" cy="38100"/>
          </a:xfrm>
          <a:prstGeom prst="ellipse">
            <a:avLst/>
          </a:prstGeom>
          <a:solidFill>
            <a:srgbClr val="C6D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nnector | 2"/>
          <p:cNvSpPr/>
          <p:nvPr/>
        </p:nvSpPr>
        <p:spPr>
          <a:xfrm>
            <a:off x="9588500" y="0"/>
            <a:ext cx="2197100" cy="565150"/>
          </a:xfrm>
          <a:custGeom>
            <a:avLst/>
            <a:gdLst/>
            <a:ahLst/>
            <a:cxnLst/>
            <a:rect l="0" t="0" r="r" b="b"/>
            <a:pathLst>
              <a:path w="34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34600" y="8900"/>
                </a:lnTo>
              </a:path>
            </a:pathLst>
          </a:custGeom>
          <a:noFill/>
          <a:ln w="6350" cap="rnd">
            <a:solidFill>
              <a:srgbClr val="C6D8EB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ircle | 2"/>
          <p:cNvSpPr/>
          <p:nvPr/>
        </p:nvSpPr>
        <p:spPr>
          <a:xfrm>
            <a:off x="9848850" y="546100"/>
            <a:ext cx="38100" cy="38100"/>
          </a:xfrm>
          <a:prstGeom prst="ellipse">
            <a:avLst/>
          </a:prstGeom>
          <a:solidFill>
            <a:srgbClr val="C6D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nector | 3"/>
          <p:cNvSpPr/>
          <p:nvPr/>
        </p:nvSpPr>
        <p:spPr>
          <a:xfrm>
            <a:off x="10604500" y="0"/>
            <a:ext cx="1181100" cy="565150"/>
          </a:xfrm>
          <a:custGeom>
            <a:avLst/>
            <a:gdLst/>
            <a:ahLst/>
            <a:cxnLst/>
            <a:rect l="0" t="0" r="r" b="b"/>
            <a:pathLst>
              <a:path w="18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18600" y="8900"/>
                </a:lnTo>
              </a:path>
            </a:pathLst>
          </a:custGeom>
          <a:noFill/>
          <a:ln w="6350" cap="rnd">
            <a:solidFill>
              <a:srgbClr val="C6D8EB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ircle | 3"/>
          <p:cNvSpPr/>
          <p:nvPr/>
        </p:nvSpPr>
        <p:spPr>
          <a:xfrm>
            <a:off x="10864850" y="546100"/>
            <a:ext cx="38100" cy="38100"/>
          </a:xfrm>
          <a:prstGeom prst="ellipse">
            <a:avLst/>
          </a:prstGeom>
          <a:solidFill>
            <a:srgbClr val="C6D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007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 | 第 03 章 / HawkeyePlus"/>
          <p:cNvSpPr txBox="1"/>
          <p:nvPr/>
        </p:nvSpPr>
        <p:spPr>
          <a:xfrm>
            <a:off x="546100" y="363410"/>
            <a:ext cx="7620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4C6B83"/>
                </a:solidFill>
                <a:latin typeface="Arial"/>
                <a:ea typeface="SimHei"/>
              </a:rPr>
              <a:t>第 03 章 / HawkeyePlus</a:t>
            </a:r>
          </a:p>
        </p:txBody>
      </p:sp>
      <p:pic>
        <p:nvPicPr>
          <p:cNvPr id="10" name="Picture | Independent image" descr="139ef02520a55c1aaee95c1d6e7f5f730beac004ebb72c9c012b0f76513ab8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sp>
        <p:nvSpPr>
          <p:cNvPr id="11" name="Text | 分类与异常检测｜补齐视觉任务覆盖"/>
          <p:cNvSpPr txBox="1"/>
          <p:nvPr/>
        </p:nvSpPr>
        <p:spPr>
          <a:xfrm>
            <a:off x="406400" y="610552"/>
            <a:ext cx="10858500" cy="58191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567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zh-CN">
                <a:solidFill>
                  <a:srgbClr val="082D48"/>
                </a:solidFill>
                <a:latin typeface="Arial"/>
                <a:ea typeface="SimHei"/>
              </a:rPr>
              <a:t>分类与异常检测｜补齐视觉任务覆盖</a:t>
            </a:r>
          </a:p>
        </p:txBody>
      </p:sp>
      <p:sp>
        <p:nvSpPr>
          <p:cNvPr id="12" name="Text | 从整图类别判断，到基于正常样本的异常识别，复用同一套模型研发流程"/>
          <p:cNvSpPr txBox="1"/>
          <p:nvPr/>
        </p:nvSpPr>
        <p:spPr>
          <a:xfrm>
            <a:off x="425450" y="1072706"/>
            <a:ext cx="110490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4C6B83"/>
                </a:solidFill>
                <a:latin typeface="Arial"/>
                <a:ea typeface="SimHei"/>
              </a:rPr>
              <a:t>从整图类别判断，到基于正常样本的异常识别，复用同一套模型研发流程</a:t>
            </a:r>
          </a:p>
        </p:txBody>
      </p:sp>
      <p:cxnSp>
        <p:nvCxnSpPr>
          <p:cNvPr id="13" name="Connector | 4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C6D8E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| SwiftFlow + HawkeyePlus  |  Industrial Vision Engineering"/>
          <p:cNvSpPr txBox="1"/>
          <p:nvPr/>
        </p:nvSpPr>
        <p:spPr>
          <a:xfrm>
            <a:off x="412750" y="6607238"/>
            <a:ext cx="825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SwiftFlow + HawkeyePlus  |  Industrial Vision Engineering</a:t>
            </a:r>
          </a:p>
        </p:txBody>
      </p:sp>
      <p:sp>
        <p:nvSpPr>
          <p:cNvPr id="15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4C6B83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16" name="Text | 16 / 20"/>
          <p:cNvSpPr txBox="1"/>
          <p:nvPr/>
        </p:nvSpPr>
        <p:spPr>
          <a:xfrm>
            <a:off x="11137900" y="6607238"/>
            <a:ext cx="63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16 / 20</a:t>
            </a:r>
          </a:p>
        </p:txBody>
      </p:sp>
      <p:grpSp>
        <p:nvGrpSpPr>
          <p:cNvPr id="17" name="Node | PaddleClas"/>
          <p:cNvGrpSpPr/>
          <p:nvPr/>
        </p:nvGrpSpPr>
        <p:grpSpPr>
          <a:xfrm>
            <a:off x="406400" y="1504950"/>
            <a:ext cx="5600700" cy="4514850"/>
            <a:chOff x="406400" y="1504950"/>
            <a:chExt cx="5600700" cy="4514850"/>
          </a:xfrm>
        </p:grpSpPr>
        <p:sp>
          <p:nvSpPr>
            <p:cNvPr id="18" name="Panel | 2"/>
            <p:cNvSpPr/>
            <p:nvPr/>
          </p:nvSpPr>
          <p:spPr>
            <a:xfrm>
              <a:off x="406400" y="1504950"/>
              <a:ext cx="5600700" cy="4514850"/>
            </a:xfrm>
            <a:prstGeom prst="roundRect">
              <a:avLst>
                <a:gd name="adj" fmla="val 3094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 | PaddleClas｜图像分类"/>
            <p:cNvSpPr txBox="1"/>
            <p:nvPr/>
          </p:nvSpPr>
          <p:spPr>
            <a:xfrm>
              <a:off x="590550" y="1636903"/>
              <a:ext cx="5232400" cy="34112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0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zh-CN">
                  <a:solidFill>
                    <a:srgbClr val="082D48"/>
                  </a:solidFill>
                  <a:latin typeface="Arial"/>
                  <a:ea typeface="SimHei"/>
                </a:rPr>
                <a:t>PaddleClas｜图像分类</a:t>
              </a:r>
            </a:p>
          </p:txBody>
        </p:sp>
        <p:sp>
          <p:nvSpPr>
            <p:cNvPr id="20" name="Text | 按类别学习，输出整图分类结果"/>
            <p:cNvSpPr txBox="1"/>
            <p:nvPr/>
          </p:nvSpPr>
          <p:spPr>
            <a:xfrm>
              <a:off x="590550" y="1972627"/>
              <a:ext cx="523240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4C6B83"/>
                  </a:solidFill>
                  <a:latin typeface="Arial"/>
                  <a:ea typeface="SimHei"/>
                </a:rPr>
                <a:t>按类别学习，输出整图分类结果</a:t>
              </a:r>
            </a:p>
          </p:txBody>
        </p:sp>
        <p:pic>
          <p:nvPicPr>
            <p:cNvPr id="21" name="Picture | Independent image" descr="d9f2c819103d2d99178667bc713b62c470ca8263d9dc14a7a3b597989ce91414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43673" y="2254250"/>
              <a:ext cx="3126154" cy="1905000"/>
            </a:xfrm>
            <a:prstGeom prst="rect">
              <a:avLst/>
            </a:prstGeom>
          </p:spPr>
        </p:pic>
        <p:sp>
          <p:nvSpPr>
            <p:cNvPr id="22" name="Text | 分类输出示意"/>
            <p:cNvSpPr txBox="1"/>
            <p:nvPr/>
          </p:nvSpPr>
          <p:spPr>
            <a:xfrm>
              <a:off x="603250" y="4209732"/>
              <a:ext cx="5207000" cy="210693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2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b="0" lang="zh-CN">
                  <a:solidFill>
                    <a:srgbClr val="4C6B83"/>
                  </a:solidFill>
                  <a:latin typeface="Arial"/>
                  <a:ea typeface="SimHei"/>
                </a:rPr>
                <a:t>分类输出示意</a:t>
              </a:r>
            </a:p>
          </p:txBody>
        </p:sp>
        <p:cxnSp>
          <p:nvCxnSpPr>
            <p:cNvPr id="23" name="Connector | 5"/>
            <p:cNvCxnSpPr/>
            <p:nvPr/>
          </p:nvCxnSpPr>
          <p:spPr>
            <a:xfrm>
              <a:off x="590550" y="4476750"/>
              <a:ext cx="5232400" cy="0"/>
            </a:xfrm>
            <a:prstGeom prst="line">
              <a:avLst/>
            </a:prstGeom>
            <a:ln w="6350" cap="rnd">
              <a:solidFill>
                <a:srgbClr val="C6D8E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 | 9 个分类变体"/>
            <p:cNvSpPr txBox="1"/>
            <p:nvPr/>
          </p:nvSpPr>
          <p:spPr>
            <a:xfrm>
              <a:off x="590550" y="4597844"/>
              <a:ext cx="508000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007D9D"/>
                  </a:solidFill>
                  <a:latin typeface="Arial"/>
                  <a:ea typeface="SimHei"/>
                </a:rPr>
                <a:t>9 个分类变体</a:t>
              </a:r>
            </a:p>
          </p:txBody>
        </p:sp>
        <p:sp>
          <p:nvSpPr>
            <p:cNvPr id="25" name="Text | ResNet18 · ResNet34 · ResNet50 · ResNet101"/>
            <p:cNvSpPr txBox="1"/>
            <p:nvPr/>
          </p:nvSpPr>
          <p:spPr>
            <a:xfrm>
              <a:off x="590550" y="4886642"/>
              <a:ext cx="52324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en-US">
                  <a:solidFill>
                    <a:srgbClr val="082D48"/>
                  </a:solidFill>
                  <a:latin typeface="Arial"/>
                  <a:ea typeface="SimHei"/>
                </a:rPr>
                <a:t>ResNet18 · ResNet34 · ResNet50 · ResNet101</a:t>
              </a:r>
            </a:p>
          </p:txBody>
        </p:sp>
        <p:sp>
          <p:nvSpPr>
            <p:cNvPr id="26" name="Text | MobileNetV3 Small / Large (x1.0)"/>
            <p:cNvSpPr txBox="1"/>
            <p:nvPr/>
          </p:nvSpPr>
          <p:spPr>
            <a:xfrm>
              <a:off x="590550" y="5140642"/>
              <a:ext cx="52324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en-US">
                  <a:solidFill>
                    <a:srgbClr val="082D48"/>
                  </a:solidFill>
                  <a:latin typeface="Arial"/>
                  <a:ea typeface="SimHei"/>
                </a:rPr>
                <a:t>MobileNetV3 Small / Large (x1.0)</a:t>
              </a:r>
            </a:p>
          </p:txBody>
        </p:sp>
        <p:sp>
          <p:nvSpPr>
            <p:cNvPr id="27" name="Text | PP-LCNet x1.0 · PP-HGNet Small"/>
            <p:cNvSpPr txBox="1"/>
            <p:nvPr/>
          </p:nvSpPr>
          <p:spPr>
            <a:xfrm>
              <a:off x="590550" y="5394642"/>
              <a:ext cx="52324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en-US">
                  <a:solidFill>
                    <a:srgbClr val="082D48"/>
                  </a:solidFill>
                  <a:latin typeface="Arial"/>
                  <a:ea typeface="SimHei"/>
                </a:rPr>
                <a:t>PP-LCNet x1.0 · PP-HGNet Small</a:t>
              </a:r>
            </a:p>
          </p:txBody>
        </p:sp>
        <p:sp>
          <p:nvSpPr>
            <p:cNvPr id="28" name="Text | Swin Transformer Tiny (patch4 / window7 / 224)"/>
            <p:cNvSpPr txBox="1"/>
            <p:nvPr/>
          </p:nvSpPr>
          <p:spPr>
            <a:xfrm>
              <a:off x="590550" y="5648642"/>
              <a:ext cx="52324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en-US">
                  <a:solidFill>
                    <a:srgbClr val="082D48"/>
                  </a:solidFill>
                  <a:latin typeface="Arial"/>
                  <a:ea typeface="SimHei"/>
                </a:rPr>
                <a:t>Swin Transformer Tiny (patch4 / window7 / 224)</a:t>
              </a:r>
            </a:p>
          </p:txBody>
        </p:sp>
      </p:grpSp>
      <p:grpSp>
        <p:nvGrpSpPr>
          <p:cNvPr id="29" name="Node | TorchAnomaly"/>
          <p:cNvGrpSpPr/>
          <p:nvPr/>
        </p:nvGrpSpPr>
        <p:grpSpPr>
          <a:xfrm>
            <a:off x="6184900" y="1504950"/>
            <a:ext cx="5600700" cy="4514850"/>
            <a:chOff x="6184900" y="1504950"/>
            <a:chExt cx="5600700" cy="4514850"/>
          </a:xfrm>
        </p:grpSpPr>
        <p:sp>
          <p:nvSpPr>
            <p:cNvPr id="30" name="Panel | 3"/>
            <p:cNvSpPr/>
            <p:nvPr/>
          </p:nvSpPr>
          <p:spPr>
            <a:xfrm>
              <a:off x="6184900" y="1504950"/>
              <a:ext cx="5600700" cy="4514850"/>
            </a:xfrm>
            <a:prstGeom prst="roundRect">
              <a:avLst>
                <a:gd name="adj" fmla="val 3094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 | TorchAnomaly｜异常检测"/>
            <p:cNvSpPr txBox="1"/>
            <p:nvPr/>
          </p:nvSpPr>
          <p:spPr>
            <a:xfrm>
              <a:off x="6369050" y="1636903"/>
              <a:ext cx="5232400" cy="34112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0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zh-CN">
                  <a:solidFill>
                    <a:srgbClr val="082D48"/>
                  </a:solidFill>
                  <a:latin typeface="Arial"/>
                  <a:ea typeface="SimHei"/>
                </a:rPr>
                <a:t>TorchAnomaly｜异常检测</a:t>
              </a:r>
            </a:p>
          </p:txBody>
        </p:sp>
        <p:sp>
          <p:nvSpPr>
            <p:cNvPr id="32" name="Text | 基于正常样本，输出异常分数与热力图"/>
            <p:cNvSpPr txBox="1"/>
            <p:nvPr/>
          </p:nvSpPr>
          <p:spPr>
            <a:xfrm>
              <a:off x="6369050" y="1972627"/>
              <a:ext cx="523240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4C6B83"/>
                  </a:solidFill>
                  <a:latin typeface="Arial"/>
                  <a:ea typeface="SimHei"/>
                </a:rPr>
                <a:t>基于正常样本，输出异常分数与热力图</a:t>
              </a:r>
            </a:p>
          </p:txBody>
        </p:sp>
        <p:pic>
          <p:nvPicPr>
            <p:cNvPr id="33" name="Picture | Independent image" descr="d84699fd34171909ef48bde5cbb997c7c984c852253b3ddefc2e991c3477e6fa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22173" y="2254250"/>
              <a:ext cx="3126154" cy="1905000"/>
            </a:xfrm>
            <a:prstGeom prst="rect">
              <a:avLst/>
            </a:prstGeom>
          </p:spPr>
        </p:pic>
        <p:sp>
          <p:nvSpPr>
            <p:cNvPr id="34" name="Text | 异常热力图示意"/>
            <p:cNvSpPr txBox="1"/>
            <p:nvPr/>
          </p:nvSpPr>
          <p:spPr>
            <a:xfrm>
              <a:off x="6381750" y="4209732"/>
              <a:ext cx="5207000" cy="210693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2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b="0" lang="zh-CN">
                  <a:solidFill>
                    <a:srgbClr val="4C6B83"/>
                  </a:solidFill>
                  <a:latin typeface="Arial"/>
                  <a:ea typeface="SimHei"/>
                </a:rPr>
                <a:t>异常热力图示意</a:t>
              </a:r>
            </a:p>
          </p:txBody>
        </p:sp>
        <p:cxnSp>
          <p:nvCxnSpPr>
            <p:cNvPr id="35" name="Connector | 6"/>
            <p:cNvCxnSpPr/>
            <p:nvPr/>
          </p:nvCxnSpPr>
          <p:spPr>
            <a:xfrm>
              <a:off x="6369050" y="4476750"/>
              <a:ext cx="5232400" cy="0"/>
            </a:xfrm>
            <a:prstGeom prst="line">
              <a:avLst/>
            </a:prstGeom>
            <a:ln w="6350" cap="rnd">
              <a:solidFill>
                <a:srgbClr val="C6D8E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 | 5 个 anomalib 预设"/>
            <p:cNvSpPr txBox="1"/>
            <p:nvPr/>
          </p:nvSpPr>
          <p:spPr>
            <a:xfrm>
              <a:off x="6369050" y="4597844"/>
              <a:ext cx="508000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007D9D"/>
                  </a:solidFill>
                  <a:latin typeface="Arial"/>
                  <a:ea typeface="SimHei"/>
                </a:rPr>
                <a:t>5 个 anomalib 预设</a:t>
              </a:r>
            </a:p>
          </p:txBody>
        </p:sp>
        <p:sp>
          <p:nvSpPr>
            <p:cNvPr id="37" name="Text | PatchCore  ·  PaDiM  ·  STFPM  ·  EfficientAD"/>
            <p:cNvSpPr txBox="1"/>
            <p:nvPr/>
          </p:nvSpPr>
          <p:spPr>
            <a:xfrm>
              <a:off x="6369050" y="4927790"/>
              <a:ext cx="523240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en-US">
                  <a:solidFill>
                    <a:srgbClr val="082D48"/>
                  </a:solidFill>
                  <a:latin typeface="Arial"/>
                  <a:ea typeface="SimHei"/>
                </a:rPr>
                <a:t>PatchCore  ·  PaDiM  ·  STFPM  ·  EfficientAD</a:t>
              </a:r>
            </a:p>
          </p:txBody>
        </p:sp>
        <p:sp>
          <p:nvSpPr>
            <p:cNvPr id="38" name="Text | SuperSimpleNet"/>
            <p:cNvSpPr txBox="1"/>
            <p:nvPr/>
          </p:nvSpPr>
          <p:spPr>
            <a:xfrm>
              <a:off x="6369050" y="5296090"/>
              <a:ext cx="523240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en-US">
                  <a:solidFill>
                    <a:srgbClr val="082D48"/>
                  </a:solidFill>
                  <a:latin typeface="Arial"/>
                  <a:ea typeface="SimHei"/>
                </a:rPr>
                <a:t>SuperSimpleNet</a:t>
              </a:r>
            </a:p>
          </p:txBody>
        </p:sp>
      </p:grpSp>
      <p:sp>
        <p:nvSpPr>
          <p:cNvPr id="39" name="Text | 仅列当前界面预设；自定义 YAML 的兼容性取决于所选后端。"/>
          <p:cNvSpPr txBox="1"/>
          <p:nvPr/>
        </p:nvSpPr>
        <p:spPr>
          <a:xfrm>
            <a:off x="406400" y="6174550"/>
            <a:ext cx="11379200" cy="240792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>
              <a:lnSpc>
                <a:spcPts val="147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4C6B83"/>
                </a:solidFill>
                <a:latin typeface="Arial"/>
                <a:ea typeface="SimHei"/>
              </a:rPr>
              <a:t>仅列当前界面预设；自定义 YAML 的兼容性取决于所选后端。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007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 | 章节导览 / 第 04 章"/>
          <p:cNvSpPr txBox="1"/>
          <p:nvPr/>
        </p:nvSpPr>
        <p:spPr>
          <a:xfrm>
            <a:off x="546100" y="363410"/>
            <a:ext cx="9525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4C6B83"/>
                </a:solidFill>
                <a:latin typeface="Arial"/>
                <a:ea typeface="SimHei"/>
              </a:rPr>
              <a:t>章节导览 / 第 04 章</a:t>
            </a:r>
          </a:p>
        </p:txBody>
      </p:sp>
      <p:pic>
        <p:nvPicPr>
          <p:cNvPr id="4" name="Picture | Independent image" descr="139ef02520a55c1aaee95c1d6e7f5f730beac004ebb72c9c012b0f76513ab8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cxnSp>
        <p:nvCxnSpPr>
          <p:cNvPr id="5" name="Connector | 1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C6D8E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 | SwiftFlow + HawkeyePlus  |  Industrial Vision Engineering"/>
          <p:cNvSpPr txBox="1"/>
          <p:nvPr/>
        </p:nvSpPr>
        <p:spPr>
          <a:xfrm>
            <a:off x="412750" y="6607238"/>
            <a:ext cx="825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SwiftFlow + HawkeyePlus  |  Industrial Vision Engineering</a:t>
            </a:r>
          </a:p>
        </p:txBody>
      </p:sp>
      <p:sp>
        <p:nvSpPr>
          <p:cNvPr id="7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4C6B83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8" name="Text | 17 / 20"/>
          <p:cNvSpPr txBox="1"/>
          <p:nvPr/>
        </p:nvSpPr>
        <p:spPr>
          <a:xfrm>
            <a:off x="11137900" y="6607238"/>
            <a:ext cx="63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17 / 20</a:t>
            </a:r>
          </a:p>
        </p:txBody>
      </p:sp>
      <p:sp>
        <p:nvSpPr>
          <p:cNvPr id="9" name="Text | 04"/>
          <p:cNvSpPr txBox="1"/>
          <p:nvPr/>
        </p:nvSpPr>
        <p:spPr>
          <a:xfrm>
            <a:off x="495300" y="1704848"/>
            <a:ext cx="1714500" cy="1745742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0701"/>
              </a:lnSpc>
              <a:spcBef>
                <a:spcPts val="0"/>
              </a:spcBef>
              <a:spcAft>
                <a:spcPts val="0"/>
              </a:spcAft>
            </a:pPr>
            <a:r>
              <a:rPr sz="8700" b="1" lang="en-US">
                <a:solidFill>
                  <a:srgbClr val="007D9D"/>
                </a:solidFill>
                <a:latin typeface="Arial"/>
                <a:ea typeface="SimHei"/>
              </a:rPr>
              <a:t>04</a:t>
            </a:r>
          </a:p>
        </p:txBody>
      </p:sp>
      <p:sp>
        <p:nvSpPr>
          <p:cNvPr id="10" name="Text | 协同交付"/>
          <p:cNvSpPr txBox="1"/>
          <p:nvPr/>
        </p:nvSpPr>
        <p:spPr>
          <a:xfrm>
            <a:off x="2203450" y="1875092"/>
            <a:ext cx="5873750" cy="591947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628"/>
              </a:lnSpc>
              <a:spcBef>
                <a:spcPts val="0"/>
              </a:spcBef>
              <a:spcAft>
                <a:spcPts val="0"/>
              </a:spcAft>
            </a:pPr>
            <a:r>
              <a:rPr sz="2950" b="1" lang="zh-CN">
                <a:solidFill>
                  <a:srgbClr val="082D48"/>
                </a:solidFill>
                <a:latin typeface="Arial"/>
                <a:ea typeface="SimHei"/>
              </a:rPr>
              <a:t>协同交付</a:t>
            </a:r>
          </a:p>
        </p:txBody>
      </p:sp>
      <p:sp>
        <p:nvSpPr>
          <p:cNvPr id="11" name="Text | 从研发效果到现场可用"/>
          <p:cNvSpPr txBox="1"/>
          <p:nvPr/>
        </p:nvSpPr>
        <p:spPr>
          <a:xfrm>
            <a:off x="2222500" y="2500503"/>
            <a:ext cx="5080000" cy="341122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4C6B83"/>
                </a:solidFill>
                <a:latin typeface="Arial"/>
                <a:ea typeface="SimHei"/>
              </a:rPr>
              <a:t>从研发效果到现场可用</a:t>
            </a:r>
          </a:p>
        </p:txBody>
      </p:sp>
      <p:cxnSp>
        <p:nvCxnSpPr>
          <p:cNvPr id="12" name="Connector | 2"/>
          <p:cNvCxnSpPr/>
          <p:nvPr/>
        </p:nvCxnSpPr>
        <p:spPr>
          <a:xfrm>
            <a:off x="520700" y="3086100"/>
            <a:ext cx="6375400" cy="0"/>
          </a:xfrm>
          <a:prstGeom prst="line">
            <a:avLst/>
          </a:prstGeom>
          <a:ln w="11430" cap="rnd">
            <a:solidFill>
              <a:srgbClr val="C6D8E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| 如何用交付包与联合验证连接两个平台？"/>
          <p:cNvSpPr txBox="1"/>
          <p:nvPr/>
        </p:nvSpPr>
        <p:spPr>
          <a:xfrm>
            <a:off x="520700" y="3355022"/>
            <a:ext cx="6604000" cy="311023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906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zh-CN">
                <a:solidFill>
                  <a:srgbClr val="082D48"/>
                </a:solidFill>
                <a:latin typeface="Arial"/>
                <a:ea typeface="SimHei"/>
              </a:rPr>
              <a:t>如何用交付包与联合验证连接两个平台？</a:t>
            </a:r>
          </a:p>
        </p:txBody>
      </p:sp>
      <p:pic>
        <p:nvPicPr>
          <p:cNvPr id="14" name="Picture | Independent image" descr="12bb1e3e4f2e170eca1f6489649f4e45a3b3250e5c5303eec76095d714b0e2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2684" y="1733550"/>
            <a:ext cx="2916382" cy="2673350"/>
          </a:xfrm>
          <a:prstGeom prst="rect">
            <a:avLst/>
          </a:prstGeom>
        </p:spPr>
      </p:pic>
      <p:grpSp>
        <p:nvGrpSpPr>
          <p:cNvPr id="15" name="Node | 适配与验收"/>
          <p:cNvGrpSpPr/>
          <p:nvPr/>
        </p:nvGrpSpPr>
        <p:grpSpPr>
          <a:xfrm>
            <a:off x="406400" y="4978400"/>
            <a:ext cx="3670300" cy="984250"/>
            <a:chOff x="406400" y="4978400"/>
            <a:chExt cx="3670300" cy="984250"/>
          </a:xfrm>
        </p:grpSpPr>
        <p:sp>
          <p:nvSpPr>
            <p:cNvPr id="16" name="Panel | 2"/>
            <p:cNvSpPr/>
            <p:nvPr/>
          </p:nvSpPr>
          <p:spPr>
            <a:xfrm>
              <a:off x="406400" y="4978400"/>
              <a:ext cx="3670300" cy="984250"/>
            </a:xfrm>
            <a:prstGeom prst="roundRect">
              <a:avLst>
                <a:gd name="adj" fmla="val 11612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 | 04.1"/>
            <p:cNvSpPr txBox="1"/>
            <p:nvPr/>
          </p:nvSpPr>
          <p:spPr>
            <a:xfrm>
              <a:off x="577850" y="5157914"/>
              <a:ext cx="6985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en-US">
                  <a:solidFill>
                    <a:srgbClr val="007D9D"/>
                  </a:solidFill>
                  <a:latin typeface="Arial"/>
                  <a:ea typeface="SimHei"/>
                </a:rPr>
                <a:t>04.1</a:t>
              </a:r>
            </a:p>
          </p:txBody>
        </p:sp>
        <p:sp>
          <p:nvSpPr>
            <p:cNvPr id="18" name="Text | 适配与验收"/>
            <p:cNvSpPr txBox="1"/>
            <p:nvPr/>
          </p:nvSpPr>
          <p:spPr>
            <a:xfrm>
              <a:off x="577850" y="5502275"/>
              <a:ext cx="332105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zh-CN">
                  <a:solidFill>
                    <a:srgbClr val="082D48"/>
                  </a:solidFill>
                  <a:latin typeface="Arial"/>
                  <a:ea typeface="SimHei"/>
                </a:rPr>
                <a:t>适配与验收</a:t>
              </a:r>
            </a:p>
          </p:txBody>
        </p:sp>
      </p:grpSp>
      <p:grpSp>
        <p:nvGrpSpPr>
          <p:cNvPr id="19" name="Node | 统一交付资产"/>
          <p:cNvGrpSpPr/>
          <p:nvPr/>
        </p:nvGrpSpPr>
        <p:grpSpPr>
          <a:xfrm>
            <a:off x="4260850" y="4978400"/>
            <a:ext cx="3670300" cy="984250"/>
            <a:chOff x="4260850" y="4978400"/>
            <a:chExt cx="3670300" cy="984250"/>
          </a:xfrm>
        </p:grpSpPr>
        <p:sp>
          <p:nvSpPr>
            <p:cNvPr id="20" name="Panel | 3"/>
            <p:cNvSpPr/>
            <p:nvPr/>
          </p:nvSpPr>
          <p:spPr>
            <a:xfrm>
              <a:off x="4260850" y="4978400"/>
              <a:ext cx="3670300" cy="984250"/>
            </a:xfrm>
            <a:prstGeom prst="roundRect">
              <a:avLst>
                <a:gd name="adj" fmla="val 11612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 | 04.2"/>
            <p:cNvSpPr txBox="1"/>
            <p:nvPr/>
          </p:nvSpPr>
          <p:spPr>
            <a:xfrm>
              <a:off x="4432300" y="5157914"/>
              <a:ext cx="6985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en-US">
                  <a:solidFill>
                    <a:srgbClr val="007D9D"/>
                  </a:solidFill>
                  <a:latin typeface="Arial"/>
                  <a:ea typeface="SimHei"/>
                </a:rPr>
                <a:t>04.2</a:t>
              </a:r>
            </a:p>
          </p:txBody>
        </p:sp>
        <p:sp>
          <p:nvSpPr>
            <p:cNvPr id="22" name="Text | 统一交付资产"/>
            <p:cNvSpPr txBox="1"/>
            <p:nvPr/>
          </p:nvSpPr>
          <p:spPr>
            <a:xfrm>
              <a:off x="4432300" y="5502275"/>
              <a:ext cx="332105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zh-CN">
                  <a:solidFill>
                    <a:srgbClr val="082D48"/>
                  </a:solidFill>
                  <a:latin typeface="Arial"/>
                  <a:ea typeface="SimHei"/>
                </a:rPr>
                <a:t>统一交付资产</a:t>
              </a:r>
            </a:p>
          </p:txBody>
        </p:sp>
      </p:grpSp>
      <p:grpSp>
        <p:nvGrpSpPr>
          <p:cNvPr id="23" name="Node | 结果与版本追溯"/>
          <p:cNvGrpSpPr/>
          <p:nvPr/>
        </p:nvGrpSpPr>
        <p:grpSpPr>
          <a:xfrm>
            <a:off x="8115300" y="4978400"/>
            <a:ext cx="3670300" cy="984250"/>
            <a:chOff x="8115300" y="4978400"/>
            <a:chExt cx="3670300" cy="984250"/>
          </a:xfrm>
        </p:grpSpPr>
        <p:sp>
          <p:nvSpPr>
            <p:cNvPr id="24" name="Panel | 4"/>
            <p:cNvSpPr/>
            <p:nvPr/>
          </p:nvSpPr>
          <p:spPr>
            <a:xfrm>
              <a:off x="8115300" y="4978400"/>
              <a:ext cx="3670300" cy="984250"/>
            </a:xfrm>
            <a:prstGeom prst="roundRect">
              <a:avLst>
                <a:gd name="adj" fmla="val 11612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 | 04.3"/>
            <p:cNvSpPr txBox="1"/>
            <p:nvPr/>
          </p:nvSpPr>
          <p:spPr>
            <a:xfrm>
              <a:off x="8286750" y="5157914"/>
              <a:ext cx="6985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en-US">
                  <a:solidFill>
                    <a:srgbClr val="007D9D"/>
                  </a:solidFill>
                  <a:latin typeface="Arial"/>
                  <a:ea typeface="SimHei"/>
                </a:rPr>
                <a:t>04.3</a:t>
              </a:r>
            </a:p>
          </p:txBody>
        </p:sp>
        <p:sp>
          <p:nvSpPr>
            <p:cNvPr id="26" name="Text | 结果与版本追溯"/>
            <p:cNvSpPr txBox="1"/>
            <p:nvPr/>
          </p:nvSpPr>
          <p:spPr>
            <a:xfrm>
              <a:off x="8286750" y="5502275"/>
              <a:ext cx="332105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zh-CN">
                  <a:solidFill>
                    <a:srgbClr val="082D48"/>
                  </a:solidFill>
                  <a:latin typeface="Arial"/>
                  <a:ea typeface="SimHei"/>
                </a:rPr>
                <a:t>结果与版本追溯</a:t>
              </a:r>
            </a:p>
          </p:txBody>
        </p:sp>
      </p:grpSp>
      <p:sp>
        <p:nvSpPr>
          <p:cNvPr id="27" name="Text | SwiftFlow + HawkeyePlus｜一套标准方法，两个互补平台"/>
          <p:cNvSpPr txBox="1"/>
          <p:nvPr/>
        </p:nvSpPr>
        <p:spPr>
          <a:xfrm>
            <a:off x="520700" y="6169088"/>
            <a:ext cx="10731500" cy="25082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537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zh-CN">
                <a:solidFill>
                  <a:srgbClr val="4C6B83"/>
                </a:solidFill>
                <a:latin typeface="Arial"/>
                <a:ea typeface="SimHei"/>
              </a:rPr>
              <a:t>SwiftFlow + HawkeyePlus｜一套标准方法，两个互补平台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007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 | 第 04 章 / 协同交付"/>
          <p:cNvSpPr txBox="1"/>
          <p:nvPr/>
        </p:nvSpPr>
        <p:spPr>
          <a:xfrm>
            <a:off x="546100" y="363410"/>
            <a:ext cx="9525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4C6B83"/>
                </a:solidFill>
                <a:latin typeface="Arial"/>
                <a:ea typeface="SimHei"/>
              </a:rPr>
              <a:t>第 04 章 / 协同交付</a:t>
            </a:r>
          </a:p>
        </p:txBody>
      </p:sp>
      <p:pic>
        <p:nvPicPr>
          <p:cNvPr id="4" name="Picture | Independent image" descr="139ef02520a55c1aaee95c1d6e7f5f730beac004ebb72c9c012b0f76513ab8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sp>
        <p:nvSpPr>
          <p:cNvPr id="5" name="Text | 以标准交付包，衔接研发与现场"/>
          <p:cNvSpPr txBox="1"/>
          <p:nvPr/>
        </p:nvSpPr>
        <p:spPr>
          <a:xfrm>
            <a:off x="406400" y="616014"/>
            <a:ext cx="11303000" cy="571881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5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zh-CN">
                <a:solidFill>
                  <a:srgbClr val="082D48"/>
                </a:solidFill>
                <a:latin typeface="Arial"/>
                <a:ea typeface="SimHei"/>
              </a:rPr>
              <a:t>以标准交付包，衔接研发与现场</a:t>
            </a:r>
          </a:p>
        </p:txBody>
      </p:sp>
      <p:sp>
        <p:nvSpPr>
          <p:cNvPr id="6" name="Text | 训练成果经过适配与联合验证，再进入现场检测或测量流程"/>
          <p:cNvSpPr txBox="1"/>
          <p:nvPr/>
        </p:nvSpPr>
        <p:spPr>
          <a:xfrm>
            <a:off x="425450" y="1072706"/>
            <a:ext cx="112395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4C6B83"/>
                </a:solidFill>
                <a:latin typeface="Arial"/>
                <a:ea typeface="SimHei"/>
              </a:rPr>
              <a:t>训练成果经过适配与联合验证，再进入现场检测或测量流程</a:t>
            </a:r>
          </a:p>
        </p:txBody>
      </p:sp>
      <p:cxnSp>
        <p:nvCxnSpPr>
          <p:cNvPr id="7" name="Connector | 1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C6D8E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| SwiftFlow + HawkeyePlus  |  Industrial Vision Engineering"/>
          <p:cNvSpPr txBox="1"/>
          <p:nvPr/>
        </p:nvSpPr>
        <p:spPr>
          <a:xfrm>
            <a:off x="412750" y="6607238"/>
            <a:ext cx="825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SwiftFlow + HawkeyePlus  |  Industrial Vision Engineering</a:t>
            </a:r>
          </a:p>
        </p:txBody>
      </p:sp>
      <p:sp>
        <p:nvSpPr>
          <p:cNvPr id="9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4C6B83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10" name="Text | 18 / 20"/>
          <p:cNvSpPr txBox="1"/>
          <p:nvPr/>
        </p:nvSpPr>
        <p:spPr>
          <a:xfrm>
            <a:off x="11137900" y="6607238"/>
            <a:ext cx="63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18 / 20</a:t>
            </a:r>
          </a:p>
        </p:txBody>
      </p:sp>
      <p:grpSp>
        <p:nvGrpSpPr>
          <p:cNvPr id="11" name="Node | HawkeyePlus"/>
          <p:cNvGrpSpPr/>
          <p:nvPr/>
        </p:nvGrpSpPr>
        <p:grpSpPr>
          <a:xfrm>
            <a:off x="406400" y="1555750"/>
            <a:ext cx="2781300" cy="2730500"/>
            <a:chOff x="406400" y="1555750"/>
            <a:chExt cx="2781300" cy="2730500"/>
          </a:xfrm>
        </p:grpSpPr>
        <p:sp>
          <p:nvSpPr>
            <p:cNvPr id="12" name="Panel | 2"/>
            <p:cNvSpPr/>
            <p:nvPr/>
          </p:nvSpPr>
          <p:spPr>
            <a:xfrm>
              <a:off x="406400" y="1555750"/>
              <a:ext cx="2781300" cy="2730500"/>
            </a:xfrm>
            <a:prstGeom prst="roundRect">
              <a:avLst>
                <a:gd name="adj" fmla="val 4651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 | HawkeyePlus"/>
            <p:cNvSpPr txBox="1"/>
            <p:nvPr/>
          </p:nvSpPr>
          <p:spPr>
            <a:xfrm>
              <a:off x="552450" y="1687132"/>
              <a:ext cx="2489200" cy="39128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239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50" b="1" lang="en-US">
                  <a:solidFill>
                    <a:srgbClr val="087F79"/>
                  </a:solidFill>
                  <a:latin typeface="Arial"/>
                  <a:ea typeface="SimHei"/>
                </a:rPr>
                <a:t>HawkeyePlus</a:t>
              </a:r>
            </a:p>
          </p:txBody>
        </p:sp>
        <p:pic>
          <p:nvPicPr>
            <p:cNvPr id="14" name="Picture | Independent image" descr="12bb1e3e4f2e170eca1f6489649f4e45a3b3250e5c5303eec76095d714b0e260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5386" y="2089150"/>
              <a:ext cx="1683327" cy="1543050"/>
            </a:xfrm>
            <a:prstGeom prst="rect">
              <a:avLst/>
            </a:prstGeom>
          </p:spPr>
        </p:pic>
        <p:sp>
          <p:nvSpPr>
            <p:cNvPr id="15" name="Text | 验证后的模型与版本"/>
            <p:cNvSpPr txBox="1"/>
            <p:nvPr/>
          </p:nvSpPr>
          <p:spPr>
            <a:xfrm>
              <a:off x="552450" y="3846766"/>
              <a:ext cx="24892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lang="zh-CN">
                  <a:solidFill>
                    <a:srgbClr val="082D48"/>
                  </a:solidFill>
                  <a:latin typeface="Arial"/>
                  <a:ea typeface="SimHei"/>
                </a:rPr>
                <a:t>验证后的模型与版本</a:t>
              </a:r>
            </a:p>
          </p:txBody>
        </p:sp>
      </p:grpSp>
      <p:grpSp>
        <p:nvGrpSpPr>
          <p:cNvPr id="16" name="Node | SwiftFlow"/>
          <p:cNvGrpSpPr/>
          <p:nvPr/>
        </p:nvGrpSpPr>
        <p:grpSpPr>
          <a:xfrm>
            <a:off x="9004300" y="1555750"/>
            <a:ext cx="2781300" cy="2730500"/>
            <a:chOff x="9004300" y="1555750"/>
            <a:chExt cx="2781300" cy="2730500"/>
          </a:xfrm>
        </p:grpSpPr>
        <p:sp>
          <p:nvSpPr>
            <p:cNvPr id="17" name="Panel | 3"/>
            <p:cNvSpPr/>
            <p:nvPr/>
          </p:nvSpPr>
          <p:spPr>
            <a:xfrm>
              <a:off x="9004300" y="1555750"/>
              <a:ext cx="2781300" cy="2730500"/>
            </a:xfrm>
            <a:prstGeom prst="roundRect">
              <a:avLst>
                <a:gd name="adj" fmla="val 4651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 | SwiftFlow"/>
            <p:cNvSpPr txBox="1"/>
            <p:nvPr/>
          </p:nvSpPr>
          <p:spPr>
            <a:xfrm>
              <a:off x="9150350" y="1687132"/>
              <a:ext cx="2489200" cy="39128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239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50" b="1" lang="en-US">
                  <a:solidFill>
                    <a:srgbClr val="007D9D"/>
                  </a:solidFill>
                  <a:latin typeface="Arial"/>
                  <a:ea typeface="SimHei"/>
                </a:rPr>
                <a:t>SwiftFlow</a:t>
              </a:r>
            </a:p>
          </p:txBody>
        </p:sp>
        <p:pic>
          <p:nvPicPr>
            <p:cNvPr id="19" name="Picture | Independent image" descr="d235d7460685fbce7c25a12631d1439d4d6219b6901e988eaac07fae35a8f6f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53286" y="2089150"/>
              <a:ext cx="1683327" cy="1543050"/>
            </a:xfrm>
            <a:prstGeom prst="rect">
              <a:avLst/>
            </a:prstGeom>
          </p:spPr>
        </p:pic>
        <p:sp>
          <p:nvSpPr>
            <p:cNvPr id="20" name="Text | 流程中的推理与判定"/>
            <p:cNvSpPr txBox="1"/>
            <p:nvPr/>
          </p:nvSpPr>
          <p:spPr>
            <a:xfrm>
              <a:off x="9150350" y="3846766"/>
              <a:ext cx="24892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lang="zh-CN">
                  <a:solidFill>
                    <a:srgbClr val="082D48"/>
                  </a:solidFill>
                  <a:latin typeface="Arial"/>
                  <a:ea typeface="SimHei"/>
                </a:rPr>
                <a:t>流程中的推理与判定</a:t>
              </a:r>
            </a:p>
          </p:txBody>
        </p:sp>
      </p:grpSp>
      <p:cxnSp>
        <p:nvCxnSpPr>
          <p:cNvPr id="21" name="Connector | 2"/>
          <p:cNvCxnSpPr/>
          <p:nvPr/>
        </p:nvCxnSpPr>
        <p:spPr>
          <a:xfrm>
            <a:off x="3244850" y="2959100"/>
            <a:ext cx="190500" cy="0"/>
          </a:xfrm>
          <a:prstGeom prst="line">
            <a:avLst/>
          </a:prstGeom>
          <a:ln w="15875" cap="rnd">
            <a:solidFill>
              <a:srgbClr val="007D9D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| 3"/>
          <p:cNvCxnSpPr/>
          <p:nvPr/>
        </p:nvCxnSpPr>
        <p:spPr>
          <a:xfrm>
            <a:off x="8731250" y="2959100"/>
            <a:ext cx="209550" cy="0"/>
          </a:xfrm>
          <a:prstGeom prst="line">
            <a:avLst/>
          </a:prstGeom>
          <a:ln w="15875" cap="rnd">
            <a:solidFill>
              <a:srgbClr val="007D9D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Node | 适配与联合验收"/>
          <p:cNvGrpSpPr/>
          <p:nvPr/>
        </p:nvGrpSpPr>
        <p:grpSpPr>
          <a:xfrm>
            <a:off x="3492500" y="1555750"/>
            <a:ext cx="5181600" cy="2730500"/>
            <a:chOff x="3492500" y="1555750"/>
            <a:chExt cx="5181600" cy="2730500"/>
          </a:xfrm>
        </p:grpSpPr>
        <p:sp>
          <p:nvSpPr>
            <p:cNvPr id="24" name="Panel | 4"/>
            <p:cNvSpPr/>
            <p:nvPr/>
          </p:nvSpPr>
          <p:spPr>
            <a:xfrm>
              <a:off x="3492500" y="1555750"/>
              <a:ext cx="5181600" cy="2730500"/>
            </a:xfrm>
            <a:prstGeom prst="roundRect">
              <a:avLst>
                <a:gd name="adj" fmla="val 4651"/>
              </a:avLst>
            </a:prstGeom>
            <a:solidFill>
              <a:srgbClr val="E9F1FC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 | 适配与联合验收"/>
            <p:cNvSpPr txBox="1"/>
            <p:nvPr/>
          </p:nvSpPr>
          <p:spPr>
            <a:xfrm>
              <a:off x="3708400" y="1708531"/>
              <a:ext cx="4749800" cy="36118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22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lang="zh-CN">
                  <a:solidFill>
                    <a:srgbClr val="082D48"/>
                  </a:solidFill>
                  <a:latin typeface="Arial"/>
                  <a:ea typeface="SimHei"/>
                </a:rPr>
                <a:t>适配与联合验收</a:t>
              </a:r>
            </a:p>
          </p:txBody>
        </p:sp>
        <p:sp>
          <p:nvSpPr>
            <p:cNvPr id="26" name="Circle | 1"/>
            <p:cNvSpPr/>
            <p:nvPr/>
          </p:nvSpPr>
          <p:spPr>
            <a:xfrm>
              <a:off x="3683000" y="2222500"/>
              <a:ext cx="63500" cy="63500"/>
            </a:xfrm>
            <a:prstGeom prst="ellipse">
              <a:avLst/>
            </a:prstGeom>
            <a:solidFill>
              <a:srgbClr val="087F7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 | 输入一致"/>
            <p:cNvSpPr txBox="1"/>
            <p:nvPr/>
          </p:nvSpPr>
          <p:spPr>
            <a:xfrm>
              <a:off x="3854450" y="2164906"/>
              <a:ext cx="44831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zh-CN">
                  <a:solidFill>
                    <a:srgbClr val="007D9D"/>
                  </a:solidFill>
                  <a:latin typeface="Arial"/>
                  <a:ea typeface="SimHei"/>
                </a:rPr>
                <a:t>输入一致</a:t>
              </a:r>
            </a:p>
          </p:txBody>
        </p:sp>
        <p:sp>
          <p:nvSpPr>
            <p:cNvPr id="28" name="Text | 图像尺寸、通道与预处理"/>
            <p:cNvSpPr txBox="1"/>
            <p:nvPr/>
          </p:nvSpPr>
          <p:spPr>
            <a:xfrm>
              <a:off x="3854450" y="2435288"/>
              <a:ext cx="4483100" cy="25082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53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 b="0" lang="zh-CN">
                  <a:solidFill>
                    <a:srgbClr val="4C6B83"/>
                  </a:solidFill>
                  <a:latin typeface="Arial"/>
                  <a:ea typeface="SimHei"/>
                </a:rPr>
                <a:t>图像尺寸、通道与预处理</a:t>
              </a:r>
            </a:p>
          </p:txBody>
        </p:sp>
        <p:sp>
          <p:nvSpPr>
            <p:cNvPr id="29" name="Circle | 2"/>
            <p:cNvSpPr/>
            <p:nvPr/>
          </p:nvSpPr>
          <p:spPr>
            <a:xfrm>
              <a:off x="3683000" y="2851150"/>
              <a:ext cx="63500" cy="63500"/>
            </a:xfrm>
            <a:prstGeom prst="ellipse">
              <a:avLst/>
            </a:prstGeom>
            <a:solidFill>
              <a:srgbClr val="087F7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 | 输出匹配"/>
            <p:cNvSpPr txBox="1"/>
            <p:nvPr/>
          </p:nvSpPr>
          <p:spPr>
            <a:xfrm>
              <a:off x="3854450" y="2793556"/>
              <a:ext cx="44831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zh-CN">
                  <a:solidFill>
                    <a:srgbClr val="007D9D"/>
                  </a:solidFill>
                  <a:latin typeface="Arial"/>
                  <a:ea typeface="SimHei"/>
                </a:rPr>
                <a:t>输出匹配</a:t>
              </a:r>
            </a:p>
          </p:txBody>
        </p:sp>
        <p:sp>
          <p:nvSpPr>
            <p:cNvPr id="31" name="Text | 标签、阈值与结果解释"/>
            <p:cNvSpPr txBox="1"/>
            <p:nvPr/>
          </p:nvSpPr>
          <p:spPr>
            <a:xfrm>
              <a:off x="3854450" y="3063938"/>
              <a:ext cx="4483100" cy="25082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53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 b="0" lang="zh-CN">
                  <a:solidFill>
                    <a:srgbClr val="4C6B83"/>
                  </a:solidFill>
                  <a:latin typeface="Arial"/>
                  <a:ea typeface="SimHei"/>
                </a:rPr>
                <a:t>标签、阈值与结果解释</a:t>
              </a:r>
            </a:p>
          </p:txBody>
        </p:sp>
        <p:sp>
          <p:nvSpPr>
            <p:cNvPr id="32" name="Circle | 3"/>
            <p:cNvSpPr/>
            <p:nvPr/>
          </p:nvSpPr>
          <p:spPr>
            <a:xfrm>
              <a:off x="3683000" y="3479800"/>
              <a:ext cx="63500" cy="63500"/>
            </a:xfrm>
            <a:prstGeom prst="ellipse">
              <a:avLst/>
            </a:prstGeom>
            <a:solidFill>
              <a:srgbClr val="087F7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 | 现场验证"/>
            <p:cNvSpPr txBox="1"/>
            <p:nvPr/>
          </p:nvSpPr>
          <p:spPr>
            <a:xfrm>
              <a:off x="3854450" y="3422205"/>
              <a:ext cx="44831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zh-CN">
                  <a:solidFill>
                    <a:srgbClr val="007D9D"/>
                  </a:solidFill>
                  <a:latin typeface="Arial"/>
                  <a:ea typeface="SimHei"/>
                </a:rPr>
                <a:t>现场验证</a:t>
              </a:r>
            </a:p>
          </p:txBody>
        </p:sp>
        <p:sp>
          <p:nvSpPr>
            <p:cNvPr id="34" name="Text | 独立样本、测量参考与节拍"/>
            <p:cNvSpPr txBox="1"/>
            <p:nvPr/>
          </p:nvSpPr>
          <p:spPr>
            <a:xfrm>
              <a:off x="3854450" y="3692588"/>
              <a:ext cx="4483100" cy="25082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53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 b="0" lang="zh-CN">
                  <a:solidFill>
                    <a:srgbClr val="4C6B83"/>
                  </a:solidFill>
                  <a:latin typeface="Arial"/>
                  <a:ea typeface="SimHei"/>
                </a:rPr>
                <a:t>独立样本、测量参考与节拍</a:t>
              </a:r>
            </a:p>
          </p:txBody>
        </p:sp>
      </p:grpSp>
      <p:sp>
        <p:nvSpPr>
          <p:cNvPr id="35" name="Text | 建议统一交付资产"/>
          <p:cNvSpPr txBox="1"/>
          <p:nvPr/>
        </p:nvSpPr>
        <p:spPr>
          <a:xfrm>
            <a:off x="406400" y="4494403"/>
            <a:ext cx="11112500" cy="341122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zh-CN">
                <a:solidFill>
                  <a:srgbClr val="082D48"/>
                </a:solidFill>
                <a:latin typeface="Arial"/>
                <a:ea typeface="SimHei"/>
              </a:rPr>
              <a:t>建议统一交付资产</a:t>
            </a:r>
          </a:p>
        </p:txBody>
      </p:sp>
      <p:grpSp>
        <p:nvGrpSpPr>
          <p:cNvPr id="36" name="Node | 硬件与标定"/>
          <p:cNvGrpSpPr/>
          <p:nvPr/>
        </p:nvGrpSpPr>
        <p:grpSpPr>
          <a:xfrm>
            <a:off x="406400" y="4864100"/>
            <a:ext cx="2711450" cy="1447800"/>
            <a:chOff x="406400" y="4864100"/>
            <a:chExt cx="2711450" cy="1447800"/>
          </a:xfrm>
        </p:grpSpPr>
        <p:sp>
          <p:nvSpPr>
            <p:cNvPr id="37" name="Panel | 5"/>
            <p:cNvSpPr/>
            <p:nvPr/>
          </p:nvSpPr>
          <p:spPr>
            <a:xfrm>
              <a:off x="406400" y="4864100"/>
              <a:ext cx="2711450" cy="1447800"/>
            </a:xfrm>
            <a:prstGeom prst="roundRect">
              <a:avLst>
                <a:gd name="adj" fmla="val 7456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8" name="Picture | Independent image" descr="9cc0fc8d5a7859674fd87b278414f843c5a6b3c2dd608964d1c80c415c5dd525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0207" y="4984750"/>
              <a:ext cx="872836" cy="800100"/>
            </a:xfrm>
            <a:prstGeom prst="rect">
              <a:avLst/>
            </a:prstGeom>
          </p:spPr>
        </p:pic>
        <p:sp>
          <p:nvSpPr>
            <p:cNvPr id="39" name="Text | 硬件与标定"/>
            <p:cNvSpPr txBox="1"/>
            <p:nvPr/>
          </p:nvSpPr>
          <p:spPr>
            <a:xfrm>
              <a:off x="1479550" y="5085016"/>
              <a:ext cx="15113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zh-CN">
                  <a:solidFill>
                    <a:srgbClr val="082D48"/>
                  </a:solidFill>
                  <a:latin typeface="Arial"/>
                  <a:ea typeface="SimHei"/>
                </a:rPr>
                <a:t>硬件与标定</a:t>
              </a:r>
            </a:p>
          </p:txBody>
        </p:sp>
        <p:sp>
          <p:nvSpPr>
            <p:cNvPr id="40" name="Text | 配置 · 标定 · 参考"/>
            <p:cNvSpPr txBox="1"/>
            <p:nvPr/>
          </p:nvSpPr>
          <p:spPr>
            <a:xfrm>
              <a:off x="523875" y="5939600"/>
              <a:ext cx="24701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4C6B83"/>
                  </a:solidFill>
                  <a:latin typeface="Arial"/>
                  <a:ea typeface="SimHei"/>
                </a:rPr>
                <a:t>配置 · 标定 · 参考</a:t>
              </a:r>
            </a:p>
          </p:txBody>
        </p:sp>
      </p:grpSp>
      <p:grpSp>
        <p:nvGrpSpPr>
          <p:cNvPr id="41" name="Node | 检测流程"/>
          <p:cNvGrpSpPr/>
          <p:nvPr/>
        </p:nvGrpSpPr>
        <p:grpSpPr>
          <a:xfrm>
            <a:off x="3295650" y="4864100"/>
            <a:ext cx="2711450" cy="1447800"/>
            <a:chOff x="3295650" y="4864100"/>
            <a:chExt cx="2711450" cy="1447800"/>
          </a:xfrm>
        </p:grpSpPr>
        <p:sp>
          <p:nvSpPr>
            <p:cNvPr id="42" name="Panel | 6"/>
            <p:cNvSpPr/>
            <p:nvPr/>
          </p:nvSpPr>
          <p:spPr>
            <a:xfrm>
              <a:off x="3295650" y="4864100"/>
              <a:ext cx="2711450" cy="1447800"/>
            </a:xfrm>
            <a:prstGeom prst="roundRect">
              <a:avLst>
                <a:gd name="adj" fmla="val 7456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3" name="Picture | Independent image" descr="d235d7460685fbce7c25a12631d1439d4d6219b6901e988eaac07fae35a8f6f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89457" y="4984750"/>
              <a:ext cx="872836" cy="800100"/>
            </a:xfrm>
            <a:prstGeom prst="rect">
              <a:avLst/>
            </a:prstGeom>
          </p:spPr>
        </p:pic>
        <p:sp>
          <p:nvSpPr>
            <p:cNvPr id="44" name="Text | 检测流程"/>
            <p:cNvSpPr txBox="1"/>
            <p:nvPr/>
          </p:nvSpPr>
          <p:spPr>
            <a:xfrm>
              <a:off x="4368800" y="5085016"/>
              <a:ext cx="15113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zh-CN">
                  <a:solidFill>
                    <a:srgbClr val="082D48"/>
                  </a:solidFill>
                  <a:latin typeface="Arial"/>
                  <a:ea typeface="SimHei"/>
                </a:rPr>
                <a:t>检测流程</a:t>
              </a:r>
            </a:p>
          </p:txBody>
        </p:sp>
        <p:sp>
          <p:nvSpPr>
            <p:cNvPr id="45" name="Text | 步骤 · 参数 · 规则"/>
            <p:cNvSpPr txBox="1"/>
            <p:nvPr/>
          </p:nvSpPr>
          <p:spPr>
            <a:xfrm>
              <a:off x="3413125" y="5939600"/>
              <a:ext cx="24701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4C6B83"/>
                  </a:solidFill>
                  <a:latin typeface="Arial"/>
                  <a:ea typeface="SimHei"/>
                </a:rPr>
                <a:t>步骤 · 参数 · 规则</a:t>
              </a:r>
            </a:p>
          </p:txBody>
        </p:sp>
      </p:grpSp>
      <p:grpSp>
        <p:nvGrpSpPr>
          <p:cNvPr id="46" name="Node | 算法与模型"/>
          <p:cNvGrpSpPr/>
          <p:nvPr/>
        </p:nvGrpSpPr>
        <p:grpSpPr>
          <a:xfrm>
            <a:off x="6184900" y="4864100"/>
            <a:ext cx="2711450" cy="1447800"/>
            <a:chOff x="6184900" y="4864100"/>
            <a:chExt cx="2711450" cy="1447800"/>
          </a:xfrm>
        </p:grpSpPr>
        <p:sp>
          <p:nvSpPr>
            <p:cNvPr id="47" name="Panel | 7"/>
            <p:cNvSpPr/>
            <p:nvPr/>
          </p:nvSpPr>
          <p:spPr>
            <a:xfrm>
              <a:off x="6184900" y="4864100"/>
              <a:ext cx="2711450" cy="1447800"/>
            </a:xfrm>
            <a:prstGeom prst="roundRect">
              <a:avLst>
                <a:gd name="adj" fmla="val 7456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8" name="Picture | Independent image" descr="b418b74bd7f607f66ccbaa366ffc37930d8c183c416862c7b7d5207fccec448f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78707" y="4984750"/>
              <a:ext cx="872836" cy="800100"/>
            </a:xfrm>
            <a:prstGeom prst="rect">
              <a:avLst/>
            </a:prstGeom>
          </p:spPr>
        </p:pic>
        <p:sp>
          <p:nvSpPr>
            <p:cNvPr id="49" name="Text | 算法与模型"/>
            <p:cNvSpPr txBox="1"/>
            <p:nvPr/>
          </p:nvSpPr>
          <p:spPr>
            <a:xfrm>
              <a:off x="7258050" y="5085016"/>
              <a:ext cx="15113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zh-CN">
                  <a:solidFill>
                    <a:srgbClr val="082D48"/>
                  </a:solidFill>
                  <a:latin typeface="Arial"/>
                  <a:ea typeface="SimHei"/>
                </a:rPr>
                <a:t>算法与模型</a:t>
              </a:r>
            </a:p>
          </p:txBody>
        </p:sp>
        <p:sp>
          <p:nvSpPr>
            <p:cNvPr id="50" name="Text | 版本 · 标签 · 阈值"/>
            <p:cNvSpPr txBox="1"/>
            <p:nvPr/>
          </p:nvSpPr>
          <p:spPr>
            <a:xfrm>
              <a:off x="6302375" y="5939600"/>
              <a:ext cx="24701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4C6B83"/>
                  </a:solidFill>
                  <a:latin typeface="Arial"/>
                  <a:ea typeface="SimHei"/>
                </a:rPr>
                <a:t>版本 · 标签 · 阈值</a:t>
              </a:r>
            </a:p>
          </p:txBody>
        </p:sp>
      </p:grpSp>
      <p:grpSp>
        <p:nvGrpSpPr>
          <p:cNvPr id="51" name="Node | 验收与追溯"/>
          <p:cNvGrpSpPr/>
          <p:nvPr/>
        </p:nvGrpSpPr>
        <p:grpSpPr>
          <a:xfrm>
            <a:off x="9074150" y="4864100"/>
            <a:ext cx="2711450" cy="1447800"/>
            <a:chOff x="9074150" y="4864100"/>
            <a:chExt cx="2711450" cy="1447800"/>
          </a:xfrm>
        </p:grpSpPr>
        <p:sp>
          <p:nvSpPr>
            <p:cNvPr id="52" name="Panel | 8"/>
            <p:cNvSpPr/>
            <p:nvPr/>
          </p:nvSpPr>
          <p:spPr>
            <a:xfrm>
              <a:off x="9074150" y="4864100"/>
              <a:ext cx="2711450" cy="1447800"/>
            </a:xfrm>
            <a:prstGeom prst="roundRect">
              <a:avLst>
                <a:gd name="adj" fmla="val 7456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3" name="Picture | Independent image" descr="7c3bcb38bbd7e2e2c643083a079a2905b3d45de7da56f071c27b404acc55d820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167957" y="4984750"/>
              <a:ext cx="872836" cy="800100"/>
            </a:xfrm>
            <a:prstGeom prst="rect">
              <a:avLst/>
            </a:prstGeom>
          </p:spPr>
        </p:pic>
        <p:sp>
          <p:nvSpPr>
            <p:cNvPr id="54" name="Text | 验收与追溯"/>
            <p:cNvSpPr txBox="1"/>
            <p:nvPr/>
          </p:nvSpPr>
          <p:spPr>
            <a:xfrm>
              <a:off x="10147300" y="5085016"/>
              <a:ext cx="15113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zh-CN">
                  <a:solidFill>
                    <a:srgbClr val="082D48"/>
                  </a:solidFill>
                  <a:latin typeface="Arial"/>
                  <a:ea typeface="SimHei"/>
                </a:rPr>
                <a:t>验收与追溯</a:t>
              </a:r>
            </a:p>
          </p:txBody>
        </p:sp>
        <p:sp>
          <p:nvSpPr>
            <p:cNvPr id="55" name="Text | 样本 · 结论 · 记录"/>
            <p:cNvSpPr txBox="1"/>
            <p:nvPr/>
          </p:nvSpPr>
          <p:spPr>
            <a:xfrm>
              <a:off x="9191625" y="5939600"/>
              <a:ext cx="24701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4C6B83"/>
                  </a:solidFill>
                  <a:latin typeface="Arial"/>
                  <a:ea typeface="SimHei"/>
                </a:rPr>
                <a:t>样本 · 结论 · 记录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007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 | 总结 / 核心要点"/>
          <p:cNvSpPr txBox="1"/>
          <p:nvPr/>
        </p:nvSpPr>
        <p:spPr>
          <a:xfrm>
            <a:off x="546100" y="363410"/>
            <a:ext cx="9525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4C6B83"/>
                </a:solidFill>
                <a:latin typeface="Arial"/>
                <a:ea typeface="SimHei"/>
              </a:rPr>
              <a:t>总结 / 核心要点</a:t>
            </a:r>
          </a:p>
        </p:txBody>
      </p:sp>
      <p:pic>
        <p:nvPicPr>
          <p:cNvPr id="4" name="Picture | Independent image" descr="139ef02520a55c1aaee95c1d6e7f5f730beac004ebb72c9c012b0f76513ab8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sp>
        <p:nvSpPr>
          <p:cNvPr id="5" name="Text | 把能力连接成可复用的标准流程"/>
          <p:cNvSpPr txBox="1"/>
          <p:nvPr/>
        </p:nvSpPr>
        <p:spPr>
          <a:xfrm>
            <a:off x="406400" y="616014"/>
            <a:ext cx="11303000" cy="571881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5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zh-CN">
                <a:solidFill>
                  <a:srgbClr val="082D48"/>
                </a:solidFill>
                <a:latin typeface="Arial"/>
                <a:ea typeface="SimHei"/>
              </a:rPr>
              <a:t>把能力连接成可复用的标准流程</a:t>
            </a:r>
          </a:p>
        </p:txBody>
      </p:sp>
      <p:sp>
        <p:nvSpPr>
          <p:cNvPr id="6" name="Text | 用共同的方法组织工程工作，以两个平台承载能力，以交付基线保证衔接"/>
          <p:cNvSpPr txBox="1"/>
          <p:nvPr/>
        </p:nvSpPr>
        <p:spPr>
          <a:xfrm>
            <a:off x="425450" y="1072706"/>
            <a:ext cx="112395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4C6B83"/>
                </a:solidFill>
                <a:latin typeface="Arial"/>
                <a:ea typeface="SimHei"/>
              </a:rPr>
              <a:t>用共同的方法组织工程工作，以两个平台承载能力，以交付基线保证衔接</a:t>
            </a:r>
          </a:p>
        </p:txBody>
      </p:sp>
      <p:cxnSp>
        <p:nvCxnSpPr>
          <p:cNvPr id="7" name="Connector | 1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C6D8E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| SwiftFlow + HawkeyePlus  |  Industrial Vision Engineering"/>
          <p:cNvSpPr txBox="1"/>
          <p:nvPr/>
        </p:nvSpPr>
        <p:spPr>
          <a:xfrm>
            <a:off x="412750" y="6607238"/>
            <a:ext cx="825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SwiftFlow + HawkeyePlus  |  Industrial Vision Engineering</a:t>
            </a:r>
          </a:p>
        </p:txBody>
      </p:sp>
      <p:sp>
        <p:nvSpPr>
          <p:cNvPr id="9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4C6B83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10" name="Text | 19 / 20"/>
          <p:cNvSpPr txBox="1"/>
          <p:nvPr/>
        </p:nvSpPr>
        <p:spPr>
          <a:xfrm>
            <a:off x="11137900" y="6607238"/>
            <a:ext cx="63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19 / 20</a:t>
            </a:r>
          </a:p>
        </p:txBody>
      </p:sp>
      <p:grpSp>
        <p:nvGrpSpPr>
          <p:cNvPr id="11" name="Node | 统一工程方法"/>
          <p:cNvGrpSpPr/>
          <p:nvPr/>
        </p:nvGrpSpPr>
        <p:grpSpPr>
          <a:xfrm>
            <a:off x="406400" y="1555750"/>
            <a:ext cx="3670300" cy="3594100"/>
            <a:chOff x="406400" y="1555750"/>
            <a:chExt cx="3670300" cy="3594100"/>
          </a:xfrm>
        </p:grpSpPr>
        <p:sp>
          <p:nvSpPr>
            <p:cNvPr id="12" name="Panel | 2"/>
            <p:cNvSpPr/>
            <p:nvPr/>
          </p:nvSpPr>
          <p:spPr>
            <a:xfrm>
              <a:off x="406400" y="1555750"/>
              <a:ext cx="3670300" cy="3594100"/>
            </a:xfrm>
            <a:prstGeom prst="roundRect">
              <a:avLst>
                <a:gd name="adj" fmla="val 3886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 | 统一工程方法"/>
            <p:cNvSpPr txBox="1"/>
            <p:nvPr/>
          </p:nvSpPr>
          <p:spPr>
            <a:xfrm>
              <a:off x="590550" y="1706753"/>
              <a:ext cx="3302000" cy="34112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0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zh-CN">
                  <a:solidFill>
                    <a:srgbClr val="082D48"/>
                  </a:solidFill>
                  <a:latin typeface="Arial"/>
                  <a:ea typeface="SimHei"/>
                </a:rPr>
                <a:t>统一工程方法</a:t>
              </a:r>
            </a:p>
          </p:txBody>
        </p:sp>
        <p:pic>
          <p:nvPicPr>
            <p:cNvPr id="14" name="Picture | Independent image" descr="085782651a052b950f6c4aa546074ea7e352e9df9e9ba1e1d1a63e6cbbeeaac3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09832" y="2101850"/>
              <a:ext cx="1863436" cy="1708150"/>
            </a:xfrm>
            <a:prstGeom prst="rect">
              <a:avLst/>
            </a:prstGeom>
          </p:spPr>
        </p:pic>
        <p:cxnSp>
          <p:nvCxnSpPr>
            <p:cNvPr id="15" name="Connector | 2"/>
            <p:cNvCxnSpPr/>
            <p:nvPr/>
          </p:nvCxnSpPr>
          <p:spPr>
            <a:xfrm>
              <a:off x="590550" y="4032250"/>
              <a:ext cx="3295650" cy="0"/>
            </a:xfrm>
            <a:prstGeom prst="line">
              <a:avLst/>
            </a:prstGeom>
            <a:ln w="6350" cap="rnd">
              <a:solidFill>
                <a:srgbClr val="C6D8E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 | 从检测或测量目标出发"/>
            <p:cNvSpPr txBox="1"/>
            <p:nvPr/>
          </p:nvSpPr>
          <p:spPr>
            <a:xfrm>
              <a:off x="596900" y="4252278"/>
              <a:ext cx="328930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4C6B83"/>
                  </a:solidFill>
                  <a:latin typeface="Arial"/>
                  <a:ea typeface="SimHei"/>
                </a:rPr>
                <a:t>从检测或测量目标出发</a:t>
              </a:r>
            </a:p>
          </p:txBody>
        </p:sp>
        <p:sp>
          <p:nvSpPr>
            <p:cNvPr id="17" name="Text | 明确硬件、流程与算法的输入输出"/>
            <p:cNvSpPr txBox="1"/>
            <p:nvPr/>
          </p:nvSpPr>
          <p:spPr>
            <a:xfrm>
              <a:off x="596900" y="4671378"/>
              <a:ext cx="328930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4C6B83"/>
                  </a:solidFill>
                  <a:latin typeface="Arial"/>
                  <a:ea typeface="SimHei"/>
                </a:rPr>
                <a:t>明确硬件、流程与算法的输入输出</a:t>
              </a:r>
            </a:p>
          </p:txBody>
        </p:sp>
      </p:grpSp>
      <p:grpSp>
        <p:nvGrpSpPr>
          <p:cNvPr id="18" name="Node | 两个平台协同"/>
          <p:cNvGrpSpPr/>
          <p:nvPr/>
        </p:nvGrpSpPr>
        <p:grpSpPr>
          <a:xfrm>
            <a:off x="4260850" y="1555750"/>
            <a:ext cx="3670300" cy="3594100"/>
            <a:chOff x="4260850" y="1555750"/>
            <a:chExt cx="3670300" cy="3594100"/>
          </a:xfrm>
        </p:grpSpPr>
        <p:sp>
          <p:nvSpPr>
            <p:cNvPr id="19" name="Panel | 3"/>
            <p:cNvSpPr/>
            <p:nvPr/>
          </p:nvSpPr>
          <p:spPr>
            <a:xfrm>
              <a:off x="4260850" y="1555750"/>
              <a:ext cx="3670300" cy="3594100"/>
            </a:xfrm>
            <a:prstGeom prst="roundRect">
              <a:avLst>
                <a:gd name="adj" fmla="val 3886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 | 两个平台协同"/>
            <p:cNvSpPr txBox="1"/>
            <p:nvPr/>
          </p:nvSpPr>
          <p:spPr>
            <a:xfrm>
              <a:off x="4445000" y="1706753"/>
              <a:ext cx="3302000" cy="34112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0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zh-CN">
                  <a:solidFill>
                    <a:srgbClr val="082D48"/>
                  </a:solidFill>
                  <a:latin typeface="Arial"/>
                  <a:ea typeface="SimHei"/>
                </a:rPr>
                <a:t>两个平台协同</a:t>
              </a:r>
            </a:p>
          </p:txBody>
        </p:sp>
        <p:pic>
          <p:nvPicPr>
            <p:cNvPr id="21" name="Picture | Independent image" descr="d235d7460685fbce7c25a12631d1439d4d6219b6901e988eaac07fae35a8f6f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64282" y="2101850"/>
              <a:ext cx="1863436" cy="1708150"/>
            </a:xfrm>
            <a:prstGeom prst="rect">
              <a:avLst/>
            </a:prstGeom>
          </p:spPr>
        </p:pic>
        <p:cxnSp>
          <p:nvCxnSpPr>
            <p:cNvPr id="22" name="Connector | 3"/>
            <p:cNvCxnSpPr/>
            <p:nvPr/>
          </p:nvCxnSpPr>
          <p:spPr>
            <a:xfrm>
              <a:off x="4445000" y="4032250"/>
              <a:ext cx="3295650" cy="0"/>
            </a:xfrm>
            <a:prstGeom prst="line">
              <a:avLst/>
            </a:prstGeom>
            <a:ln w="6350" cap="rnd">
              <a:solidFill>
                <a:srgbClr val="C6D8E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 | SwiftFlow 承载设备与流程执行"/>
            <p:cNvSpPr txBox="1"/>
            <p:nvPr/>
          </p:nvSpPr>
          <p:spPr>
            <a:xfrm>
              <a:off x="4451350" y="4252278"/>
              <a:ext cx="328930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4C6B83"/>
                  </a:solidFill>
                  <a:latin typeface="Arial"/>
                  <a:ea typeface="SimHei"/>
                </a:rPr>
                <a:t>SwiftFlow 承载设备与流程执行</a:t>
              </a:r>
            </a:p>
          </p:txBody>
        </p:sp>
        <p:sp>
          <p:nvSpPr>
            <p:cNvPr id="24" name="Text | HawkeyePlus 承载模型研发与验证"/>
            <p:cNvSpPr txBox="1"/>
            <p:nvPr/>
          </p:nvSpPr>
          <p:spPr>
            <a:xfrm>
              <a:off x="4451350" y="4671378"/>
              <a:ext cx="328930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4C6B83"/>
                  </a:solidFill>
                  <a:latin typeface="Arial"/>
                  <a:ea typeface="SimHei"/>
                </a:rPr>
                <a:t>HawkeyePlus 承载模型研发与验证</a:t>
              </a:r>
            </a:p>
          </p:txBody>
        </p:sp>
      </p:grpSp>
      <p:grpSp>
        <p:nvGrpSpPr>
          <p:cNvPr id="25" name="Node | 形成标准交付"/>
          <p:cNvGrpSpPr/>
          <p:nvPr/>
        </p:nvGrpSpPr>
        <p:grpSpPr>
          <a:xfrm>
            <a:off x="8115300" y="1555750"/>
            <a:ext cx="3670300" cy="3594100"/>
            <a:chOff x="8115300" y="1555750"/>
            <a:chExt cx="3670300" cy="3594100"/>
          </a:xfrm>
        </p:grpSpPr>
        <p:sp>
          <p:nvSpPr>
            <p:cNvPr id="26" name="Panel | 4"/>
            <p:cNvSpPr/>
            <p:nvPr/>
          </p:nvSpPr>
          <p:spPr>
            <a:xfrm>
              <a:off x="8115300" y="1555750"/>
              <a:ext cx="3670300" cy="3594100"/>
            </a:xfrm>
            <a:prstGeom prst="roundRect">
              <a:avLst>
                <a:gd name="adj" fmla="val 3886"/>
              </a:avLst>
            </a:prstGeom>
            <a:solidFill>
              <a:srgbClr val="FFFFFF"/>
            </a:solidFill>
            <a:ln w="6350" cap="rnd">
              <a:solidFill>
                <a:srgbClr val="C6D8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 | 形成标准交付"/>
            <p:cNvSpPr txBox="1"/>
            <p:nvPr/>
          </p:nvSpPr>
          <p:spPr>
            <a:xfrm>
              <a:off x="8299450" y="1706753"/>
              <a:ext cx="3302000" cy="34112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0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zh-CN">
                  <a:solidFill>
                    <a:srgbClr val="082D48"/>
                  </a:solidFill>
                  <a:latin typeface="Arial"/>
                  <a:ea typeface="SimHei"/>
                </a:rPr>
                <a:t>形成标准交付</a:t>
              </a:r>
            </a:p>
          </p:txBody>
        </p:sp>
        <p:pic>
          <p:nvPicPr>
            <p:cNvPr id="28" name="Picture | Independent image" descr="12bb1e3e4f2e170eca1f6489649f4e45a3b3250e5c5303eec76095d714b0e260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018732" y="2101850"/>
              <a:ext cx="1863436" cy="1708150"/>
            </a:xfrm>
            <a:prstGeom prst="rect">
              <a:avLst/>
            </a:prstGeom>
          </p:spPr>
        </p:pic>
        <p:cxnSp>
          <p:nvCxnSpPr>
            <p:cNvPr id="29" name="Connector | 4"/>
            <p:cNvCxnSpPr/>
            <p:nvPr/>
          </p:nvCxnSpPr>
          <p:spPr>
            <a:xfrm>
              <a:off x="8299450" y="4032250"/>
              <a:ext cx="3295650" cy="0"/>
            </a:xfrm>
            <a:prstGeom prst="line">
              <a:avLst/>
            </a:prstGeom>
            <a:ln w="6350" cap="rnd">
              <a:solidFill>
                <a:srgbClr val="C6D8E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 | 配置、模型与验收证据共同交付"/>
            <p:cNvSpPr txBox="1"/>
            <p:nvPr/>
          </p:nvSpPr>
          <p:spPr>
            <a:xfrm>
              <a:off x="8305800" y="4252278"/>
              <a:ext cx="328930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4C6B83"/>
                  </a:solidFill>
                  <a:latin typeface="Arial"/>
                  <a:ea typeface="SimHei"/>
                </a:rPr>
                <a:t>配置、模型与验收证据共同交付</a:t>
              </a:r>
            </a:p>
          </p:txBody>
        </p:sp>
        <p:sp>
          <p:nvSpPr>
            <p:cNvPr id="31" name="Text | 适配验证后进入现场，保留版本与结果"/>
            <p:cNvSpPr txBox="1"/>
            <p:nvPr/>
          </p:nvSpPr>
          <p:spPr>
            <a:xfrm>
              <a:off x="8305800" y="4671378"/>
              <a:ext cx="328930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4C6B83"/>
                  </a:solidFill>
                  <a:latin typeface="Arial"/>
                  <a:ea typeface="SimHei"/>
                </a:rPr>
                <a:t>适配验证后进入现场，保留版本与结果</a:t>
              </a:r>
            </a:p>
          </p:txBody>
        </p:sp>
      </p:grpSp>
      <p:sp>
        <p:nvSpPr>
          <p:cNvPr id="32" name="Panel | 5"/>
          <p:cNvSpPr/>
          <p:nvPr/>
        </p:nvSpPr>
        <p:spPr>
          <a:xfrm>
            <a:off x="406400" y="5416550"/>
            <a:ext cx="11379200" cy="882650"/>
          </a:xfrm>
          <a:prstGeom prst="roundRect">
            <a:avLst>
              <a:gd name="adj" fmla="val 12949"/>
            </a:avLst>
          </a:prstGeom>
          <a:solidFill>
            <a:srgbClr val="E9F1FC"/>
          </a:solidFill>
          <a:ln w="6350" cap="rnd">
            <a:solidFill>
              <a:srgbClr val="C6D8EB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 | 目标明确 → 工程实现 → 联合验证 → 可追溯交付"/>
          <p:cNvSpPr txBox="1"/>
          <p:nvPr/>
        </p:nvSpPr>
        <p:spPr>
          <a:xfrm>
            <a:off x="650875" y="5592953"/>
            <a:ext cx="10890250" cy="341122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zh-CN">
                <a:solidFill>
                  <a:srgbClr val="087F79"/>
                </a:solidFill>
                <a:latin typeface="Arial"/>
                <a:ea typeface="SimHei"/>
              </a:rPr>
              <a:t>目标明确 → 工程实现 → 联合验证 → 可追溯交付</a:t>
            </a:r>
          </a:p>
        </p:txBody>
      </p:sp>
      <p:sp>
        <p:nvSpPr>
          <p:cNvPr id="34" name="Text | 最终目标：方便用户以一致的方法，实现检测或测量目的"/>
          <p:cNvSpPr txBox="1"/>
          <p:nvPr/>
        </p:nvSpPr>
        <p:spPr>
          <a:xfrm>
            <a:off x="650875" y="5980366"/>
            <a:ext cx="10890250" cy="270891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zh-CN">
                <a:solidFill>
                  <a:srgbClr val="4C6B83"/>
                </a:solidFill>
                <a:latin typeface="Arial"/>
                <a:ea typeface="SimHei"/>
              </a:rPr>
              <a:t>最终目标：方便用户以一致的方法，实现检测或测量目的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007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 | SWIFTFLOW + HAWKEYEPLUS"/>
          <p:cNvSpPr txBox="1"/>
          <p:nvPr/>
        </p:nvSpPr>
        <p:spPr>
          <a:xfrm>
            <a:off x="546100" y="356680"/>
            <a:ext cx="9525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en-US">
                <a:solidFill>
                  <a:srgbClr val="4C6B83"/>
                </a:solidFill>
                <a:latin typeface="Arial"/>
                <a:ea typeface="SimHei"/>
              </a:rPr>
              <a:t>SWIFTFLOW + HAWKEYEPLUS</a:t>
            </a:r>
          </a:p>
        </p:txBody>
      </p:sp>
      <p:pic>
        <p:nvPicPr>
          <p:cNvPr id="4" name="Picture | Independent image" descr="139ef02520a55c1aaee95c1d6e7f5f730beac004ebb72c9c012b0f76513ab8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cxnSp>
        <p:nvCxnSpPr>
          <p:cNvPr id="5" name="Connector | 1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C6D8E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 | SwiftFlow + HawkeyePlus  |  Industrial Vision Engineering"/>
          <p:cNvSpPr txBox="1"/>
          <p:nvPr/>
        </p:nvSpPr>
        <p:spPr>
          <a:xfrm>
            <a:off x="412750" y="6607238"/>
            <a:ext cx="825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SwiftFlow + HawkeyePlus  |  Industrial Vision Engineering</a:t>
            </a:r>
          </a:p>
        </p:txBody>
      </p:sp>
      <p:sp>
        <p:nvSpPr>
          <p:cNvPr id="7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4C6B83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8" name="Text | 20 / 20"/>
          <p:cNvSpPr txBox="1"/>
          <p:nvPr/>
        </p:nvSpPr>
        <p:spPr>
          <a:xfrm>
            <a:off x="11137900" y="6607238"/>
            <a:ext cx="63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4C6B83"/>
                </a:solidFill>
                <a:latin typeface="Arial"/>
                <a:ea typeface="SimHei"/>
              </a:rPr>
              <a:t>20 / 20</a:t>
            </a:r>
          </a:p>
        </p:txBody>
      </p:sp>
      <p:grpSp>
        <p:nvGrpSpPr>
          <p:cNvPr id="9" name="Node | 讨论与交流"/>
          <p:cNvGrpSpPr/>
          <p:nvPr/>
        </p:nvGrpSpPr>
        <p:grpSpPr>
          <a:xfrm>
            <a:off x="527050" y="1289431"/>
            <a:ext cx="6877050" cy="3931349"/>
            <a:chOff x="527050" y="1289431"/>
            <a:chExt cx="6877050" cy="3931349"/>
          </a:xfrm>
        </p:grpSpPr>
        <p:sp>
          <p:nvSpPr>
            <p:cNvPr id="10" name="Text | 谢谢"/>
            <p:cNvSpPr txBox="1"/>
            <p:nvPr/>
          </p:nvSpPr>
          <p:spPr>
            <a:xfrm>
              <a:off x="527050" y="1289431"/>
              <a:ext cx="6667500" cy="1003300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6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000" b="1" lang="zh-CN">
                  <a:solidFill>
                    <a:srgbClr val="007D9D"/>
                  </a:solidFill>
                  <a:latin typeface="Arial"/>
                  <a:ea typeface="SimHei"/>
                </a:rPr>
                <a:t>谢谢</a:t>
              </a:r>
            </a:p>
          </p:txBody>
        </p:sp>
        <p:sp>
          <p:nvSpPr>
            <p:cNvPr id="11" name="Text | 讨论与交流"/>
            <p:cNvSpPr txBox="1"/>
            <p:nvPr/>
          </p:nvSpPr>
          <p:spPr>
            <a:xfrm>
              <a:off x="546100" y="2205418"/>
              <a:ext cx="6858000" cy="52171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319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600" b="1" lang="zh-CN">
                  <a:solidFill>
                    <a:srgbClr val="082D48"/>
                  </a:solidFill>
                  <a:latin typeface="Arial"/>
                  <a:ea typeface="SimHei"/>
                </a:rPr>
                <a:t>讨论与交流</a:t>
              </a:r>
            </a:p>
          </p:txBody>
        </p:sp>
        <p:sp>
          <p:nvSpPr>
            <p:cNvPr id="12" name="Text | 从硬件设计到检测与测量交付"/>
            <p:cNvSpPr txBox="1"/>
            <p:nvPr/>
          </p:nvSpPr>
          <p:spPr>
            <a:xfrm>
              <a:off x="565150" y="2827084"/>
              <a:ext cx="6604000" cy="300990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0" lang="zh-CN">
                  <a:solidFill>
                    <a:srgbClr val="4C6B83"/>
                  </a:solidFill>
                  <a:latin typeface="Arial"/>
                  <a:ea typeface="SimHei"/>
                </a:rPr>
                <a:t>从硬件设计到检测与测量交付</a:t>
              </a:r>
            </a:p>
          </p:txBody>
        </p:sp>
        <p:sp>
          <p:nvSpPr>
            <p:cNvPr id="13" name="Circle | 1"/>
            <p:cNvSpPr/>
            <p:nvPr/>
          </p:nvSpPr>
          <p:spPr>
            <a:xfrm>
              <a:off x="596900" y="3937000"/>
              <a:ext cx="63500" cy="63500"/>
            </a:xfrm>
            <a:prstGeom prst="ellipse">
              <a:avLst/>
            </a:prstGeom>
            <a:solidFill>
              <a:srgbClr val="087F7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 | 如何确定首个应用场景？"/>
            <p:cNvSpPr txBox="1"/>
            <p:nvPr/>
          </p:nvSpPr>
          <p:spPr>
            <a:xfrm>
              <a:off x="768350" y="3885755"/>
              <a:ext cx="59182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0" lang="zh-CN">
                  <a:solidFill>
                    <a:srgbClr val="4C6B83"/>
                  </a:solidFill>
                  <a:latin typeface="Arial"/>
                  <a:ea typeface="SimHei"/>
                </a:rPr>
                <a:t>如何确定首个应用场景？</a:t>
              </a:r>
            </a:p>
          </p:txBody>
        </p:sp>
        <p:sp>
          <p:nvSpPr>
            <p:cNvPr id="15" name="Circle | 2"/>
            <p:cNvSpPr/>
            <p:nvPr/>
          </p:nvSpPr>
          <p:spPr>
            <a:xfrm>
              <a:off x="596900" y="4464050"/>
              <a:ext cx="63500" cy="63500"/>
            </a:xfrm>
            <a:prstGeom prst="ellipse">
              <a:avLst/>
            </a:prstGeom>
            <a:solidFill>
              <a:srgbClr val="087F7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 | 如何定义验收与交付基线？"/>
            <p:cNvSpPr txBox="1"/>
            <p:nvPr/>
          </p:nvSpPr>
          <p:spPr>
            <a:xfrm>
              <a:off x="768350" y="4412806"/>
              <a:ext cx="59182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0" lang="zh-CN">
                  <a:solidFill>
                    <a:srgbClr val="4C6B83"/>
                  </a:solidFill>
                  <a:latin typeface="Arial"/>
                  <a:ea typeface="SimHei"/>
                </a:rPr>
                <a:t>如何定义验收与交付基线？</a:t>
              </a:r>
            </a:p>
          </p:txBody>
        </p:sp>
        <p:sp>
          <p:nvSpPr>
            <p:cNvPr id="17" name="Circle | 3"/>
            <p:cNvSpPr/>
            <p:nvPr/>
          </p:nvSpPr>
          <p:spPr>
            <a:xfrm>
              <a:off x="596900" y="4991100"/>
              <a:ext cx="63500" cy="63500"/>
            </a:xfrm>
            <a:prstGeom prst="ellipse">
              <a:avLst/>
            </a:prstGeom>
            <a:solidFill>
              <a:srgbClr val="087F7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 | 哪些流程、模型与经验可以优先复用？"/>
            <p:cNvSpPr txBox="1"/>
            <p:nvPr/>
          </p:nvSpPr>
          <p:spPr>
            <a:xfrm>
              <a:off x="768350" y="4939856"/>
              <a:ext cx="59182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0" lang="zh-CN">
                  <a:solidFill>
                    <a:srgbClr val="4C6B83"/>
                  </a:solidFill>
                  <a:latin typeface="Arial"/>
                  <a:ea typeface="SimHei"/>
                </a:rPr>
                <a:t>哪些流程、模型与经验可以优先复用？</a:t>
              </a:r>
            </a:p>
          </p:txBody>
        </p:sp>
      </p:grpSp>
      <p:grpSp>
        <p:nvGrpSpPr>
          <p:cNvPr id="19" name="Node | SwiftFlow + HawkeyePlus"/>
          <p:cNvGrpSpPr/>
          <p:nvPr/>
        </p:nvGrpSpPr>
        <p:grpSpPr>
          <a:xfrm>
            <a:off x="7829550" y="1568450"/>
            <a:ext cx="3397250" cy="4088341"/>
            <a:chOff x="7829550" y="1568450"/>
            <a:chExt cx="3397250" cy="4088341"/>
          </a:xfrm>
        </p:grpSpPr>
        <p:pic>
          <p:nvPicPr>
            <p:cNvPr id="20" name="Picture | Independent image" descr="5f1bcf78ecb92f4492224ef45a833bd24f87b72940a435af1d4530231d53bab7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23362" y="1568450"/>
              <a:ext cx="2936576" cy="2311400"/>
            </a:xfrm>
            <a:prstGeom prst="rect">
              <a:avLst/>
            </a:prstGeom>
          </p:spPr>
        </p:pic>
        <p:pic>
          <p:nvPicPr>
            <p:cNvPr id="21" name="Picture | Independent image" descr="0e1cacdd2dd64d49c68307ca39c10d929dcfdd478b4480a29a0805d6b17ec43b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29550" y="4071408"/>
              <a:ext cx="3397250" cy="1585383"/>
            </a:xfrm>
            <a:prstGeom prst="rect">
              <a:avLst/>
            </a:prstGeom>
          </p:spPr>
        </p:pic>
      </p:grpSp>
      <p:sp>
        <p:nvSpPr>
          <p:cNvPr id="22" name="Text | 一套标准方法 · 两个互补平台 · 可复用的工程交付"/>
          <p:cNvSpPr txBox="1"/>
          <p:nvPr/>
        </p:nvSpPr>
        <p:spPr>
          <a:xfrm>
            <a:off x="546100" y="6057456"/>
            <a:ext cx="110490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zh-CN">
                <a:solidFill>
                  <a:srgbClr val="087F79"/>
                </a:solidFill>
                <a:latin typeface="Arial"/>
                <a:ea typeface="SimHei"/>
              </a:rPr>
              <a:t>一套标准方法 · 两个互补平台 · 可复用的工程交付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DPPTv5_2026">
  <a:themeElements>
    <a:clrScheme name="WD_FINAL">
      <a:dk1>
        <a:srgbClr val="000000"/>
      </a:dk1>
      <a:lt1>
        <a:srgbClr val="FFFFFF"/>
      </a:lt1>
      <a:dk2>
        <a:srgbClr val="00263E"/>
      </a:dk2>
      <a:lt2>
        <a:srgbClr val="E3E3E3"/>
      </a:lt2>
      <a:accent1>
        <a:srgbClr val="3C8CFF"/>
      </a:accent1>
      <a:accent2>
        <a:srgbClr val="002883"/>
      </a:accent2>
      <a:accent3>
        <a:srgbClr val="48C3F0"/>
      </a:accent3>
      <a:accent4>
        <a:srgbClr val="00E5D1"/>
      </a:accent4>
      <a:accent5>
        <a:srgbClr val="2266FF"/>
      </a:accent5>
      <a:accent6>
        <a:srgbClr val="806CFF"/>
      </a:accent6>
      <a:hlink>
        <a:srgbClr val="2266FF"/>
      </a:hlink>
      <a:folHlink>
        <a:srgbClr val="40E1E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5E3E3"/>
        </a:solidFill>
        <a:ln>
          <a:noFill/>
        </a:ln>
      </a:spPr>
      <a:bodyPr lIns="82296" tIns="0" rIns="0" bIns="0"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/>
      </a:spPr>
      <a:bodyPr/>
      <a:lstStyle/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lnDef>
    <a:txDef>
      <a:spPr/>
      <a:bodyPr spcFirstLastPara="1" wrap="square" lIns="82296" tIns="45720" rIns="0" bIns="45720" rtlCol="0" anchor="t" anchorCtr="0">
        <a:spAutoFit/>
      </a:bodyPr>
      <a:lstStyle>
        <a:defPPr algn="l">
          <a:buClr>
            <a:schemeClr val="dk1"/>
          </a:buClr>
          <a:buSzPts val="1100"/>
          <a:defRPr sz="1400" spc="-30" dirty="0">
            <a:solidFill>
              <a:schemeClr val="tx2"/>
            </a:solidFill>
            <a:latin typeface="FK Grotesk Neue" panose="020B0503020202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WD_CoreMaster_v2" id="{98E0218E-061B-3C4D-9B45-6D4FD43BA911}" vid="{3B0881BA-3C58-5149-9D4F-F46C3FE8D36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FAB2 Automation - Vendor Visit Agenda and Installation Schedule - 12-23 Oct 2026</Template>
  <TotalTime>4</TotalTime>
  <Words>3</Words>
  <Application>Microsoft Office PowerPoint</Application>
  <PresentationFormat>Widescreen</PresentationFormat>
  <Paragraphs>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WDPPTv5_2026</vt:lpstr>
      <vt:lpstr>Hawkeye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WDC,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SwiftFlow + HawkeyePlus｜工业检测与测量标准化平台：架构、流程与协同交付</dc:title>
  <dc:creator>SwiftFlow + HawkeyePlus</dc:creator>
  <cp:lastModifiedBy>Hansen Liu</cp:lastModifiedBy>
  <cp:revision>5</cp:revision>
  <dcterms:created xsi:type="dcterms:W3CDTF">2026-10-12T06:03:57Z</dcterms:created>
  <dcterms:modified xsi:type="dcterms:W3CDTF">2026-10-12T06:08:10Z</dcterms:modified>
  <dc:subject>Complete leadership presentation: vision, four chapters, standardized workflow and delivery</dc:subject>
</cp:coreProperties>
</file>