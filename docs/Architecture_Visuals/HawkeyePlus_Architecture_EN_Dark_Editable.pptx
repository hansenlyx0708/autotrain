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6"/>
    <p:sldId id="257" r:id="rId8"/>
    <p:sldId id="258" r:id="rId9"/>
    <p:sldId id="259" r:id="rId10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4D752F7-289C-44A5-8822-3196108F8BC6}">
          <p14:sldIdLst>
            <p14:sldId id="256"/>
            <p14:sldId id="257"/>
            <p14:sldId id="258"/>
          </p14:sldIdLst>
        </p14:section>
        <p14:section name="Hawkeye" id="{942C7107-20FA-4E5A-A41F-A290AF16B9CB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96" y="4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slide" Target="slides/slide5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HawkeyePlus combines dataset, model and training configurations, then starts the selected Python training backend. It manages jobs, monitoring, validation and model assets rather than implementing a new training algorithm. PaddlePaddle covers PaddleDetection/PaddleClas/PaddleSeg; PyTorch covers TorchDet/TorchSeg; anomalib is the PyTorch-based TorchAnomaly adapter. Compute selection does not imply distributed cluster scheduling.</a:t>
            </a:r>
          </a:p>
          <a:p>
            <a:r>
              <a:t>Editable native text, panels and lines; independent illustration images. UI presets do not imply completed hardware validation. Full model/backbone list: Supported_Models.md.</a:t>
            </a:r>
          </a:p>
          <a:p>
            <a:r>
              <a:t>Sources:</a:t>
            </a:r>
          </a:p>
          <a:p>
            <a:r>
              <a:t>README.md</a:t>
            </a:r>
          </a:p>
          <a:p>
            <a:r>
              <a:t>docs/ARCHITECTURE.md</a:t>
            </a:r>
          </a:p>
          <a:p>
            <a:r>
              <a:t>docs/FEATURES.md</a:t>
            </a:r>
          </a:p>
          <a:p>
            <a:r>
              <a:t>src/lib/frameworks.ts</a:t>
            </a:r>
          </a:p>
          <a:p>
            <a:r>
              <a:t>src/lib/yaml-merge.ts</a:t>
            </a:r>
          </a:p>
          <a:p>
            <a:r>
              <a:t>src/app/api/training-jobs/route.ts</a:t>
            </a:r>
          </a:p>
          <a:p>
            <a:r>
              <a:t>src/app/api/checkpoints/export/route.ts</a:t>
            </a:r>
          </a:p>
          <a:p>
            <a:r>
              <a:t>src/app/api/deployed-models/route.ts</a:t>
            </a:r>
          </a:p>
          <a:p>
            <a:r>
              <a:t>src/app/api/deployed-models/active/route.ts</a:t>
            </a:r>
          </a:p>
          <a:p>
            <a:r>
              <a:t>src/lib/model-yaml.ts</a:t>
            </a:r>
          </a:p>
          <a:p>
            <a:r>
              <a:t>torchtrain/torchtrain/det/models.py</a:t>
            </a:r>
          </a:p>
          <a:p>
            <a:r>
              <a:t>torchtrain/torchtrain/seg/models.py</a:t>
            </a:r>
          </a:p>
          <a:p>
            <a:r>
              <a:t>docs/tem_report/assets/01_raw.png</a:t>
            </a:r>
          </a:p>
          <a:p>
            <a:r>
              <a:t>docs/tem_report/assets/03_added.png</a:t>
            </a:r>
          </a:p>
          <a:p>
            <a:r>
              <a:t>docs/tem_report/assets/11_napari_ui.png</a:t>
            </a:r>
          </a:p>
          <a:p>
            <a:r>
              <a:t>docs/tem_report/assets/12b_train_job_redacted.png</a:t>
            </a:r>
          </a:p>
          <a:p>
            <a:r>
              <a:t>docs/tem_report/assets/13_train_curve.png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workflow combines repository examples and conceptual detection graphics. Napari is the companion desktop segmentation annotation tool, separate from the web rectangle annotation tool. Export support varies by backend; PaddleClas has no platform export entrypoint. Model release registers configurations and weights, versions and the active model; it does not automatically deploy to production machines. The feedback path represents a user revising data and configuration.</a:t>
            </a:r>
          </a:p>
          <a:p>
            <a:r>
              <a:t>Editable native text, panels and lines; independent illustration images. UI presets do not imply completed hardware validation. Full model/backbone list: Supported_Models.md.</a:t>
            </a:r>
          </a:p>
          <a:p>
            <a:r>
              <a:t>Sources:</a:t>
            </a:r>
          </a:p>
          <a:p>
            <a:r>
              <a:t>README.md</a:t>
            </a:r>
          </a:p>
          <a:p>
            <a:r>
              <a:t>docs/ARCHITECTURE.md</a:t>
            </a:r>
          </a:p>
          <a:p>
            <a:r>
              <a:t>docs/FEATURES.md</a:t>
            </a:r>
          </a:p>
          <a:p>
            <a:r>
              <a:t>src/lib/frameworks.ts</a:t>
            </a:r>
          </a:p>
          <a:p>
            <a:r>
              <a:t>src/lib/yaml-merge.ts</a:t>
            </a:r>
          </a:p>
          <a:p>
            <a:r>
              <a:t>src/app/api/training-jobs/route.ts</a:t>
            </a:r>
          </a:p>
          <a:p>
            <a:r>
              <a:t>src/app/api/checkpoints/export/route.ts</a:t>
            </a:r>
          </a:p>
          <a:p>
            <a:r>
              <a:t>src/app/api/deployed-models/route.ts</a:t>
            </a:r>
          </a:p>
          <a:p>
            <a:r>
              <a:t>src/app/api/deployed-models/active/route.ts</a:t>
            </a:r>
          </a:p>
          <a:p>
            <a:r>
              <a:t>src/lib/model-yaml.ts</a:t>
            </a:r>
          </a:p>
          <a:p>
            <a:r>
              <a:t>torchtrain/torchtrain/det/models.py</a:t>
            </a:r>
          </a:p>
          <a:p>
            <a:r>
              <a:t>torchtrain/torchtrain/seg/models.py</a:t>
            </a:r>
          </a:p>
          <a:p>
            <a:r>
              <a:t>docs/tem_report/assets/01_raw.png</a:t>
            </a:r>
          </a:p>
          <a:p>
            <a:r>
              <a:t>docs/tem_report/assets/03_added.png</a:t>
            </a:r>
          </a:p>
          <a:p>
            <a:r>
              <a:t>docs/tem_report/assets/11_napari_ui.png</a:t>
            </a:r>
          </a:p>
          <a:p>
            <a:r>
              <a:t>docs/tem_report/assets/12b_train_job_redacted.png</a:t>
            </a:r>
          </a:p>
          <a:p>
            <a:r>
              <a:t>docs/tem_report/assets/13_train_curve.png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Detection models are read directly from DETECTION_PRESETS and TORCH_DET_PRESETS. PaddleDetection has seven preset families; TorchDet has four. SSD/VGG16 uses SSD300; SSD/MobileNetV3-Large uses SSDLite320. TorchDet supports COCO detector-head transfer for Faster R-CNN, RetinaNet and FCOS; SSD falls back to ImageNet backbone initialization. PP-YOLOE, YOLOv3, PicoDet, RT-DETR and CenterNet are not TorchDet families. Defect boxes are illustrative, not inference results or benchmark evidence.</a:t>
            </a:r>
          </a:p>
          <a:p>
            <a:r>
              <a:t>Editable native text, panels and lines; independent illustration images. UI presets do not imply completed hardware validation. Full model/backbone list: Supported_Models.md.</a:t>
            </a:r>
          </a:p>
          <a:p>
            <a:r>
              <a:t>Sources:</a:t>
            </a:r>
          </a:p>
          <a:p>
            <a:r>
              <a:t>README.md</a:t>
            </a:r>
          </a:p>
          <a:p>
            <a:r>
              <a:t>docs/ARCHITECTURE.md</a:t>
            </a:r>
          </a:p>
          <a:p>
            <a:r>
              <a:t>docs/FEATURES.md</a:t>
            </a:r>
          </a:p>
          <a:p>
            <a:r>
              <a:t>src/lib/frameworks.ts</a:t>
            </a:r>
          </a:p>
          <a:p>
            <a:r>
              <a:t>src/lib/yaml-merge.ts</a:t>
            </a:r>
          </a:p>
          <a:p>
            <a:r>
              <a:t>src/app/api/training-jobs/route.ts</a:t>
            </a:r>
          </a:p>
          <a:p>
            <a:r>
              <a:t>src/app/api/checkpoints/export/route.ts</a:t>
            </a:r>
          </a:p>
          <a:p>
            <a:r>
              <a:t>src/app/api/deployed-models/route.ts</a:t>
            </a:r>
          </a:p>
          <a:p>
            <a:r>
              <a:t>src/app/api/deployed-models/active/route.ts</a:t>
            </a:r>
          </a:p>
          <a:p>
            <a:r>
              <a:t>src/lib/model-yaml.ts</a:t>
            </a:r>
          </a:p>
          <a:p>
            <a:r>
              <a:t>torchtrain/torchtrain/det/models.py</a:t>
            </a:r>
          </a:p>
          <a:p>
            <a:r>
              <a:t>torchtrain/torchtrain/seg/models.py</a:t>
            </a:r>
          </a:p>
          <a:p>
            <a:r>
              <a:t>docs/tem_report/assets/01_raw.png</a:t>
            </a:r>
          </a:p>
          <a:p>
            <a:r>
              <a:t>docs/tem_report/assets/03_added.png</a:t>
            </a:r>
          </a:p>
          <a:p>
            <a:r>
              <a:t>docs/tem_report/assets/11_napari_ui.png</a:t>
            </a:r>
          </a:p>
          <a:p>
            <a:r>
              <a:t>docs/tem_report/assets/12b_train_job_redacted.png</a:t>
            </a:r>
          </a:p>
          <a:p>
            <a:r>
              <a:t>docs/tem_report/assets/13_train_curve.png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PaddleSeg has seven current UI architectures. TorchSeg has four UI presets. The TorchSeg UI calls one preset DeepLabV3+ (config key DeepLabV3P), but the runtime uses torchvision DeepLabV3 without a V3+ decoder. DeepLabV3 is also a runtime alias, not a fifth UI preset. TEM images are project examples, not a benchmark for all models.</a:t>
            </a:r>
          </a:p>
          <a:p>
            <a:r>
              <a:t>Editable native text, panels and lines; independent illustration images. UI presets do not imply completed hardware validation. Full model/backbone list: Supported_Models.md.</a:t>
            </a:r>
          </a:p>
          <a:p>
            <a:r>
              <a:t>Sources:</a:t>
            </a:r>
          </a:p>
          <a:p>
            <a:r>
              <a:t>README.md</a:t>
            </a:r>
          </a:p>
          <a:p>
            <a:r>
              <a:t>docs/ARCHITECTURE.md</a:t>
            </a:r>
          </a:p>
          <a:p>
            <a:r>
              <a:t>docs/FEATURES.md</a:t>
            </a:r>
          </a:p>
          <a:p>
            <a:r>
              <a:t>src/lib/frameworks.ts</a:t>
            </a:r>
          </a:p>
          <a:p>
            <a:r>
              <a:t>src/lib/yaml-merge.ts</a:t>
            </a:r>
          </a:p>
          <a:p>
            <a:r>
              <a:t>src/app/api/training-jobs/route.ts</a:t>
            </a:r>
          </a:p>
          <a:p>
            <a:r>
              <a:t>src/app/api/checkpoints/export/route.ts</a:t>
            </a:r>
          </a:p>
          <a:p>
            <a:r>
              <a:t>src/app/api/deployed-models/route.ts</a:t>
            </a:r>
          </a:p>
          <a:p>
            <a:r>
              <a:t>src/app/api/deployed-models/active/route.ts</a:t>
            </a:r>
          </a:p>
          <a:p>
            <a:r>
              <a:t>src/lib/model-yaml.ts</a:t>
            </a:r>
          </a:p>
          <a:p>
            <a:r>
              <a:t>torchtrain/torchtrain/det/models.py</a:t>
            </a:r>
          </a:p>
          <a:p>
            <a:r>
              <a:t>torchtrain/torchtrain/seg/models.py</a:t>
            </a:r>
          </a:p>
          <a:p>
            <a:r>
              <a:t>docs/tem_report/assets/01_raw.png</a:t>
            </a:r>
          </a:p>
          <a:p>
            <a:r>
              <a:t>docs/tem_report/assets/03_added.png</a:t>
            </a:r>
          </a:p>
          <a:p>
            <a:r>
              <a:t>docs/tem_report/assets/11_napari_ui.png</a:t>
            </a:r>
          </a:p>
          <a:p>
            <a:r>
              <a:t>docs/tem_report/assets/12b_train_job_redacted.png</a:t>
            </a:r>
          </a:p>
          <a:p>
            <a:r>
              <a:t>docs/tem_report/assets/13_train_curve.png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nine PaddleClas choices are listed by exact configuration name in Supported_Models.md. The five TorchAnomaly presets are PatchCore, PaDiM, STFPM, EfficientAD and SuperSimpleNet. Training uses normal images. ReverseDistillation is not a current UI preset. Classification and anomaly images are conceptual illustrations. Environment/version compatibility still applies.</a:t>
            </a:r>
          </a:p>
          <a:p>
            <a:r>
              <a:t>Editable native text, panels and lines; independent illustration images. UI presets do not imply completed hardware validation. Full model/backbone list: Supported_Models.md.</a:t>
            </a:r>
          </a:p>
          <a:p>
            <a:r>
              <a:t>Sources:</a:t>
            </a:r>
          </a:p>
          <a:p>
            <a:r>
              <a:t>README.md</a:t>
            </a:r>
          </a:p>
          <a:p>
            <a:r>
              <a:t>docs/ARCHITECTURE.md</a:t>
            </a:r>
          </a:p>
          <a:p>
            <a:r>
              <a:t>docs/FEATURES.md</a:t>
            </a:r>
          </a:p>
          <a:p>
            <a:r>
              <a:t>src/lib/frameworks.ts</a:t>
            </a:r>
          </a:p>
          <a:p>
            <a:r>
              <a:t>src/lib/yaml-merge.ts</a:t>
            </a:r>
          </a:p>
          <a:p>
            <a:r>
              <a:t>src/app/api/training-jobs/route.ts</a:t>
            </a:r>
          </a:p>
          <a:p>
            <a:r>
              <a:t>src/app/api/checkpoints/export/route.ts</a:t>
            </a:r>
          </a:p>
          <a:p>
            <a:r>
              <a:t>src/app/api/deployed-models/route.ts</a:t>
            </a:r>
          </a:p>
          <a:p>
            <a:r>
              <a:t>src/app/api/deployed-models/active/route.ts</a:t>
            </a:r>
          </a:p>
          <a:p>
            <a:r>
              <a:t>src/lib/model-yaml.ts</a:t>
            </a:r>
          </a:p>
          <a:p>
            <a:r>
              <a:t>torchtrain/torchtrain/det/models.py</a:t>
            </a:r>
          </a:p>
          <a:p>
            <a:r>
              <a:t>torchtrain/torchtrain/seg/models.py</a:t>
            </a:r>
          </a:p>
          <a:p>
            <a:r>
              <a:t>docs/tem_report/assets/01_raw.png</a:t>
            </a:r>
          </a:p>
          <a:p>
            <a:r>
              <a:t>docs/tem_report/assets/03_added.png</a:t>
            </a:r>
          </a:p>
          <a:p>
            <a:r>
              <a:t>docs/tem_report/assets/11_napari_ui.png</a:t>
            </a:r>
          </a:p>
          <a:p>
            <a:r>
              <a:t>docs/tem_report/assets/12b_train_job_redacted.png</a:t>
            </a:r>
          </a:p>
          <a:p>
            <a:r>
              <a:t>docs/tem_report/assets/13_train_curve.png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microsoft.com/office/2007/relationships/hdphoto" Target="../media/hdphoto1.wdp"/><Relationship Id="rId4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svg"/><Relationship Id="rId4" Type="http://schemas.openxmlformats.org/officeDocument/2006/relationships/image" Target="../media/image5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Relationship Id="rId4" Type="http://schemas.openxmlformats.org/officeDocument/2006/relationships/image" Target="../media/image8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Relationship Id="rId3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Relationship Id="rId3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Relationship Id="rId3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<Relationship Id="rId3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Relationship Id="rId3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svg"/><Relationship Id="rId3" Type="http://schemas.openxmlformats.org/officeDocument/2006/relationships/image" Target="../media/image4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Relationship Id="rId3" Type="http://schemas.openxmlformats.org/officeDocument/2006/relationships/image" Target="../media/image17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svg"/><Relationship Id="rId3" Type="http://schemas.openxmlformats.org/officeDocument/2006/relationships/image" Target="../media/image20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4.sv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microsoft.com/office/2007/relationships/hdphoto" Target="../media/hdphoto1.wdp"/><Relationship Id="rId4" Type="http://schemas.openxmlformats.org/officeDocument/2006/relationships/image" Target="../media/image2.sv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sv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Relationship Id="rId3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Relationship Id="rId3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Relationship Id="rId3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<Relationship Id="rId3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Relationship Id="rId3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svg"/><Relationship Id="rId3" Type="http://schemas.openxmlformats.org/officeDocument/2006/relationships/image" Target="../media/image4.sv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svg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4.svg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svg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,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D10952D-DE30-6FCD-1C26-B8C1FDB14C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8000" contrast="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5555" t="5555"/>
          <a:stretch>
            <a:fillRect/>
          </a:stretch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444D2225-0B72-F23D-3A3A-862838ED0D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19100" y="419100"/>
            <a:ext cx="1327152" cy="336551"/>
          </a:xfrm>
          <a:prstGeom prst="rect">
            <a:avLst/>
          </a:prstGeo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93BE6416-D41E-422A-CD46-E5463E33AC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725" y="3445344"/>
            <a:ext cx="5718175" cy="2446824"/>
          </a:xfrm>
          <a:prstGeom prst="rect">
            <a:avLst/>
          </a:prstGeom>
        </p:spPr>
        <p:txBody>
          <a:bodyPr wrap="square" lIns="27432" rIns="0" anchor="b">
            <a:spAutoFit/>
          </a:bodyPr>
          <a:lstStyle>
            <a:lvl1pPr>
              <a:lnSpc>
                <a:spcPct val="85000"/>
              </a:lnSpc>
              <a:defRPr sz="6000" b="0" i="0" spc="-17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Name or Title Goes Here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8BB7A67F-CD27-2F0E-FD90-0EFC6E6C0C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944100" y="6218118"/>
            <a:ext cx="1908175" cy="320088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 algn="r">
              <a:buNone/>
              <a:tabLst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Month 2026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42BCA8D2-68CB-4711-404F-19C993424C5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6224274"/>
            <a:ext cx="3811874" cy="313932"/>
          </a:xfrm>
          <a:prstGeom prst="rect">
            <a:avLst/>
          </a:prstGeom>
        </p:spPr>
        <p:txBody>
          <a:bodyPr wrap="square" lIns="73152" rIns="0" anchor="b">
            <a:spAutoFit/>
          </a:bodyPr>
          <a:lstStyle>
            <a:lvl1pPr marL="12700" marR="0" indent="-127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12700" marR="0" lvl="0" indent="-127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Optional subtitle goes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49AD6C-421A-2E3D-F648-B03EEB84FF43}"/>
              </a:ext>
            </a:extLst>
          </p:cNvPr>
          <p:cNvSpPr txBox="1"/>
          <p:nvPr/>
        </p:nvSpPr>
        <p:spPr>
          <a:xfrm>
            <a:off x="14737976" y="-618565"/>
            <a:ext cx="83164" cy="307777"/>
          </a:xfrm>
          <a:prstGeom prst="rect">
            <a:avLst/>
          </a:prstGeom>
        </p:spPr>
        <p:txBody>
          <a:bodyPr spcFirstLastPara="1" wrap="none" lIns="82296" tIns="45720" rIns="0" bIns="45720" rtlCol="0" anchor="t" anchorCtr="0">
            <a:spAutoFit/>
          </a:bodyPr>
          <a:lstStyle/>
          <a:p>
            <a:pPr marL="0" indent="0" algn="l">
              <a:buClr>
                <a:schemeClr val="dk1"/>
              </a:buClr>
              <a:buSzPts val="1100"/>
              <a:buFont typeface="Arial"/>
              <a:buNone/>
            </a:pPr>
            <a:endParaRPr lang="en-US" sz="1400" dirty="0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8B29DD-080A-CE13-DAD6-168F8A2A43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8000" contrast="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5555" t="5555"/>
          <a:stretch>
            <a:fillRect/>
          </a:stretch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AD317206-D91F-1336-CC8E-1F966C0D7D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19100" y="419100"/>
            <a:ext cx="1327152" cy="3365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DB8055-86D8-8523-039D-70EFE0ED66D1}"/>
              </a:ext>
            </a:extLst>
          </p:cNvPr>
          <p:cNvSpPr txBox="1"/>
          <p:nvPr/>
        </p:nvSpPr>
        <p:spPr>
          <a:xfrm>
            <a:off x="14737976" y="-618565"/>
            <a:ext cx="83164" cy="307777"/>
          </a:xfrm>
          <a:prstGeom prst="rect">
            <a:avLst/>
          </a:prstGeom>
        </p:spPr>
        <p:txBody>
          <a:bodyPr spcFirstLastPara="1" wrap="none" lIns="82296" tIns="45720" rIns="0" bIns="45720" rtlCol="0" anchor="t" anchorCtr="0">
            <a:spAutoFit/>
          </a:bodyPr>
          <a:lstStyle/>
          <a:p>
            <a:pPr marL="0" indent="0" algn="l">
              <a:buClr>
                <a:schemeClr val="dk1"/>
              </a:buClr>
              <a:buSzPts val="1100"/>
              <a:buFont typeface="Arial"/>
              <a:buNone/>
            </a:pPr>
            <a:endParaRPr lang="en-US" sz="1400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990013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vider Signal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oup 197" descr="preencoded.png">
            <a:extLst>
              <a:ext uri="{FF2B5EF4-FFF2-40B4-BE49-F238E27FC236}">
                <a16:creationId xmlns:a16="http://schemas.microsoft.com/office/drawing/2014/main" id="{51A8D2AF-7E0C-0AF4-43D7-6E68396E4D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4718050" cy="6858000"/>
          </a:xfrm>
          <a:prstGeom prst="rect">
            <a:avLst/>
          </a:prstGeom>
        </p:spPr>
      </p:pic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81A6D0E4-19D6-A8B1-AE88-0D5213F7E3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50C5E51-178B-176D-0130-2BE8EFF3DC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2892314"/>
            <a:ext cx="10480767" cy="1073371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D5BD7DCF-7E2A-1192-F4AA-30FB9E8B0299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7C2EB268-A146-B69B-39B1-B0DF171D2FBF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tx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81A61111-DE25-4C61-E0B4-6B599695291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Group 197" descr="preencoded.png">
            <a:extLst>
              <a:ext uri="{FF2B5EF4-FFF2-40B4-BE49-F238E27FC236}">
                <a16:creationId xmlns:a16="http://schemas.microsoft.com/office/drawing/2014/main" id="{4B8A1DC3-C7F2-0815-D274-288BE1E63E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0" y="0"/>
            <a:ext cx="4718050" cy="6858000"/>
          </a:xfrm>
          <a:prstGeom prst="rect">
            <a:avLst/>
          </a:prstGeom>
        </p:spPr>
      </p:pic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31E83117-2520-4E9C-E79D-5E07E8A7AF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0A8399F9-4C95-FE3A-F317-9812913D2A36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D226227E-BAEF-CDE3-90B0-7ECD14B3EF38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tx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WD Confidential">
            <a:extLst>
              <a:ext uri="{FF2B5EF4-FFF2-40B4-BE49-F238E27FC236}">
                <a16:creationId xmlns:a16="http://schemas.microsoft.com/office/drawing/2014/main" id="{28D55F3E-1E80-4BEF-005B-183FC593CC43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2140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vider Sync Gree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ttern 8" descr="preencoded.png">
            <a:extLst>
              <a:ext uri="{FF2B5EF4-FFF2-40B4-BE49-F238E27FC236}">
                <a16:creationId xmlns:a16="http://schemas.microsoft.com/office/drawing/2014/main" id="{492EA7CD-5111-530E-136C-AE4F91E2B1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4737100" cy="6858000"/>
          </a:xfrm>
          <a:prstGeom prst="rect">
            <a:avLst/>
          </a:prstGeom>
        </p:spPr>
      </p:pic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3CA8747C-2F9D-A88F-9F56-4F0E69FCC7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9F02862-025A-1C91-8D4A-A286A326F9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2892314"/>
            <a:ext cx="10480767" cy="1073371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7" name="2026 Western Digital Corporation All rights reserved">
            <a:extLst>
              <a:ext uri="{FF2B5EF4-FFF2-40B4-BE49-F238E27FC236}">
                <a16:creationId xmlns:a16="http://schemas.microsoft.com/office/drawing/2014/main" id="{43543C3C-242D-5BA5-F4DC-085A79D21018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7BEF80A2-97B3-E3B6-0390-74CF0FC4FFC8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tx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WD Confidential">
            <a:extLst>
              <a:ext uri="{FF2B5EF4-FFF2-40B4-BE49-F238E27FC236}">
                <a16:creationId xmlns:a16="http://schemas.microsoft.com/office/drawing/2014/main" id="{C851D4AA-FCD6-014E-71EE-98D35FB95ED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attern 8" descr="preencoded.png">
            <a:extLst>
              <a:ext uri="{FF2B5EF4-FFF2-40B4-BE49-F238E27FC236}">
                <a16:creationId xmlns:a16="http://schemas.microsoft.com/office/drawing/2014/main" id="{B8E80A6B-5BA5-70C0-B12B-3DC2E63FE9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4737100" cy="6858000"/>
          </a:xfrm>
          <a:prstGeom prst="rect">
            <a:avLst/>
          </a:prstGeom>
        </p:spPr>
      </p:pic>
      <p:pic>
        <p:nvPicPr>
          <p:cNvPr id="6" name="Logo" descr="preencoded.png">
            <a:extLst>
              <a:ext uri="{FF2B5EF4-FFF2-40B4-BE49-F238E27FC236}">
                <a16:creationId xmlns:a16="http://schemas.microsoft.com/office/drawing/2014/main" id="{C5000C53-B8E4-94E7-8D3D-447AC585A1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0E901877-029A-B0C5-675B-F28FE38053B7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7816F44E-91FA-4B17-32C7-B4FC86255156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tx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WD Confidential">
            <a:extLst>
              <a:ext uri="{FF2B5EF4-FFF2-40B4-BE49-F238E27FC236}">
                <a16:creationId xmlns:a16="http://schemas.microsoft.com/office/drawing/2014/main" id="{66F2E182-5788-561E-827E-2FE15A4958B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5286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" name="Title 2">
            <a:extLst>
              <a:ext uri="{FF2B5EF4-FFF2-40B4-BE49-F238E27FC236}">
                <a16:creationId xmlns:a16="http://schemas.microsoft.com/office/drawing/2014/main" id="{E1F49F80-97C1-A66E-2B5D-2D79ECAD15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298" y="334667"/>
            <a:ext cx="7623267" cy="911788"/>
          </a:xfrm>
          <a:prstGeom prst="rect">
            <a:avLst/>
          </a:prstGeom>
        </p:spPr>
        <p:txBody>
          <a:bodyPr wrap="square" lIns="27432" rIns="0">
            <a:spAutoFit/>
          </a:bodyPr>
          <a:lstStyle>
            <a:lvl1pPr>
              <a:lnSpc>
                <a:spcPct val="85000"/>
              </a:lnSpc>
              <a:defRPr sz="6000" b="0" i="0" spc="-17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2" name="2026 Western Digital Corporation All rights reserved">
            <a:extLst>
              <a:ext uri="{FF2B5EF4-FFF2-40B4-BE49-F238E27FC236}">
                <a16:creationId xmlns:a16="http://schemas.microsoft.com/office/drawing/2014/main" id="{B56F9E43-CC60-AD46-0771-B41F30E06271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E2FA0076-C2ED-8AE2-2269-A99AE3C564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WD Confidential">
            <a:extLst>
              <a:ext uri="{FF2B5EF4-FFF2-40B4-BE49-F238E27FC236}">
                <a16:creationId xmlns:a16="http://schemas.microsoft.com/office/drawing/2014/main" id="{A445F926-5EF7-039C-1FEA-3E71860713A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Logo" descr="preencoded.png">
            <a:extLst>
              <a:ext uri="{FF2B5EF4-FFF2-40B4-BE49-F238E27FC236}">
                <a16:creationId xmlns:a16="http://schemas.microsoft.com/office/drawing/2014/main" id="{8D5C5AA6-FEAB-3DD7-F35A-7501ACB099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7" name="2026 Western Digital Corporation All rights reserved">
            <a:extLst>
              <a:ext uri="{FF2B5EF4-FFF2-40B4-BE49-F238E27FC236}">
                <a16:creationId xmlns:a16="http://schemas.microsoft.com/office/drawing/2014/main" id="{1476D00D-D330-F4CE-4B89-C7CC0B66897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96DFFAB2-90C7-B619-D564-62E14EC6B43F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4478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294B6A9-B7FB-A2F8-725C-0C3085265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3473" cy="6858000"/>
          </a:xfrm>
          <a:prstGeom prst="rect">
            <a:avLst/>
          </a:prstGeom>
        </p:spPr>
      </p:pic>
      <p:pic>
        <p:nvPicPr>
          <p:cNvPr id="8" name="Rectangle" descr="preencoded.png">
            <a:extLst>
              <a:ext uri="{FF2B5EF4-FFF2-40B4-BE49-F238E27FC236}">
                <a16:creationId xmlns:a16="http://schemas.microsoft.com/office/drawing/2014/main" id="{9A9E5856-D20D-ACE0-68EA-E4FA4B643E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Logo" descr="preencoded.png">
            <a:extLst>
              <a:ext uri="{FF2B5EF4-FFF2-40B4-BE49-F238E27FC236}">
                <a16:creationId xmlns:a16="http://schemas.microsoft.com/office/drawing/2014/main" id="{9E2799DA-0768-9639-C65E-1ED02F8197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73442" cy="222250"/>
          </a:xfrm>
          <a:prstGeom prst="rect">
            <a:avLst/>
          </a:prstGeom>
        </p:spPr>
      </p:pic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14E6A3D2-A345-D628-2F66-1D46F055FD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6" y="333800"/>
            <a:ext cx="2872160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7CA18611-94F7-7119-2BBD-ED593743CB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1996845"/>
            <a:ext cx="9528175" cy="2171813"/>
          </a:xfrm>
          <a:prstGeom prst="rect">
            <a:avLst/>
          </a:prstGeom>
        </p:spPr>
        <p:txBody>
          <a:bodyPr wrap="square" lIns="27432" rIns="0">
            <a:spAutoFit/>
          </a:bodyPr>
          <a:lstStyle>
            <a:lvl1pPr marL="0" indent="0">
              <a:lnSpc>
                <a:spcPct val="75000"/>
              </a:lnSpc>
              <a:buNone/>
              <a:tabLst/>
              <a:defRPr sz="6000" b="0" i="0" spc="-17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700" indent="0">
              <a:buNone/>
              <a:tabLst/>
              <a:defRPr/>
            </a:lvl2pPr>
          </a:lstStyle>
          <a:p>
            <a:pPr lvl="0"/>
            <a:r>
              <a:rPr lang="en-US" dirty="0" err="1"/>
              <a:t>Neque</a:t>
            </a:r>
            <a:r>
              <a:rPr lang="en-US" dirty="0"/>
              <a:t> porro </a:t>
            </a:r>
            <a:r>
              <a:rPr lang="en-US" dirty="0" err="1"/>
              <a:t>quisquam</a:t>
            </a:r>
            <a:r>
              <a:rPr lang="en-US" dirty="0"/>
              <a:t>  lest, qui </a:t>
            </a:r>
            <a:r>
              <a:rPr lang="en-US" dirty="0" err="1"/>
              <a:t>dolorem</a:t>
            </a:r>
            <a:r>
              <a:rPr lang="en-US" dirty="0"/>
              <a:t> ipsum </a:t>
            </a:r>
            <a:r>
              <a:rPr lang="en-US" dirty="0" err="1"/>
              <a:t>mquia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nconsectetur</a:t>
            </a:r>
            <a:r>
              <a:rPr lang="en-US" dirty="0"/>
              <a:t>.</a:t>
            </a:r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1BAA1096-F8B4-4413-0738-4053B96B614C}"/>
              </a:ext>
            </a:extLst>
          </p:cNvPr>
          <p:cNvSpPr/>
          <p:nvPr/>
        </p:nvSpPr>
        <p:spPr>
          <a:xfrm>
            <a:off x="419100" y="6638989"/>
            <a:ext cx="2805217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0A8ED09C-4867-2EC6-26F9-085BAE7B12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61477" cy="215444"/>
          </a:xfrm>
          <a:prstGeom prst="rect">
            <a:avLst/>
          </a:prstGeom>
        </p:spPr>
        <p:txBody>
          <a:bodyPr vert="horz" wrap="square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WD Confidential">
            <a:extLst>
              <a:ext uri="{FF2B5EF4-FFF2-40B4-BE49-F238E27FC236}">
                <a16:creationId xmlns:a16="http://schemas.microsoft.com/office/drawing/2014/main" id="{7D4CEC89-40AA-1B5B-CE12-440B364A7BA9}"/>
              </a:ext>
            </a:extLst>
          </p:cNvPr>
          <p:cNvSpPr/>
          <p:nvPr/>
        </p:nvSpPr>
        <p:spPr>
          <a:xfrm>
            <a:off x="8991600" y="6638990"/>
            <a:ext cx="1249597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FA5448F-7CFF-8266-10E6-61DE5C655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3473" cy="6858000"/>
          </a:xfrm>
          <a:prstGeom prst="rect">
            <a:avLst/>
          </a:prstGeom>
        </p:spPr>
      </p:pic>
      <p:pic>
        <p:nvPicPr>
          <p:cNvPr id="3" name="Rectangle" descr="preencoded.png">
            <a:extLst>
              <a:ext uri="{FF2B5EF4-FFF2-40B4-BE49-F238E27FC236}">
                <a16:creationId xmlns:a16="http://schemas.microsoft.com/office/drawing/2014/main" id="{5D79DFEB-C225-1261-AFEB-F7442840C2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7117A0D9-97CF-05FE-83BB-8EC1958335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73442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616A89E2-9E9D-DCC1-A6A7-FACB9FB222B6}"/>
              </a:ext>
            </a:extLst>
          </p:cNvPr>
          <p:cNvSpPr/>
          <p:nvPr/>
        </p:nvSpPr>
        <p:spPr>
          <a:xfrm>
            <a:off x="419100" y="6638989"/>
            <a:ext cx="2805217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86E166A4-5F37-185C-6F42-2F705278EF3B}"/>
              </a:ext>
            </a:extLst>
          </p:cNvPr>
          <p:cNvSpPr/>
          <p:nvPr/>
        </p:nvSpPr>
        <p:spPr>
          <a:xfrm>
            <a:off x="8991600" y="6638990"/>
            <a:ext cx="1249597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6218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7C55D363-7694-CD53-29C0-725701C95B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541" y="3679"/>
            <a:ext cx="12185459" cy="6854320"/>
          </a:xfrm>
          <a:prstGeom prst="rect">
            <a:avLst/>
          </a:prstGeom>
        </p:spPr>
      </p:pic>
      <p:pic>
        <p:nvPicPr>
          <p:cNvPr id="44" name="Rectangle" descr="preencoded.png">
            <a:extLst>
              <a:ext uri="{FF2B5EF4-FFF2-40B4-BE49-F238E27FC236}">
                <a16:creationId xmlns:a16="http://schemas.microsoft.com/office/drawing/2014/main" id="{93A76456-5A83-44A5-396E-9B6B07335C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-6541" y="21640"/>
            <a:ext cx="12192000" cy="6858000"/>
          </a:xfrm>
          <a:prstGeom prst="rect">
            <a:avLst/>
          </a:prstGeom>
        </p:spPr>
      </p:pic>
      <p:sp>
        <p:nvSpPr>
          <p:cNvPr id="47" name="Title 2">
            <a:extLst>
              <a:ext uri="{FF2B5EF4-FFF2-40B4-BE49-F238E27FC236}">
                <a16:creationId xmlns:a16="http://schemas.microsoft.com/office/drawing/2014/main" id="{F4A4DB78-4158-E9DF-DB03-2DBF85B2F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725" y="2401795"/>
            <a:ext cx="8575674" cy="2097690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 b="0" i="0" spc="-2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Digital </a:t>
            </a:r>
            <a:br>
              <a:rPr lang="en-US" dirty="0"/>
            </a:br>
            <a:r>
              <a:rPr lang="en-US" dirty="0"/>
              <a:t>Campaigns</a:t>
            </a:r>
          </a:p>
        </p:txBody>
      </p:sp>
      <p:pic>
        <p:nvPicPr>
          <p:cNvPr id="49" name="Logo" descr="preencoded.png">
            <a:extLst>
              <a:ext uri="{FF2B5EF4-FFF2-40B4-BE49-F238E27FC236}">
                <a16:creationId xmlns:a16="http://schemas.microsoft.com/office/drawing/2014/main" id="{78EA91C3-11B6-12D0-336F-79203E70EF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00D627A0-30FA-A34F-7E8C-E42A1E8E88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8A6C3D5C-1D46-E951-0EEE-0C4E22F1C309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3AC8F0BD-A374-B680-2814-21AC8F94A83C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bg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8E9AEFF2-5CA9-3547-82F8-27FFCA36DFD7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9FCA6C-5E91-371E-F6D8-3BC784B462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541" y="3679"/>
            <a:ext cx="12185459" cy="6854320"/>
          </a:xfrm>
          <a:prstGeom prst="rect">
            <a:avLst/>
          </a:prstGeom>
        </p:spPr>
      </p:pic>
      <p:pic>
        <p:nvPicPr>
          <p:cNvPr id="3" name="Rectangle" descr="preencoded.png">
            <a:extLst>
              <a:ext uri="{FF2B5EF4-FFF2-40B4-BE49-F238E27FC236}">
                <a16:creationId xmlns:a16="http://schemas.microsoft.com/office/drawing/2014/main" id="{3667A855-22D6-A798-4ECC-D78A8C05B62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-6541" y="21640"/>
            <a:ext cx="12192000" cy="6858000"/>
          </a:xfrm>
          <a:prstGeom prst="rect">
            <a:avLst/>
          </a:prstGeom>
        </p:spPr>
      </p:pic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9E76867D-9CC8-F74B-C61C-695F1E8B7B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5536699C-5E35-4C3F-E47A-5D4264B2681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7A6491E-D2AE-28FB-61D1-982D84867254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bg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324C0605-140B-C7F0-FB36-D99ADFA7A6D2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5780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7C55D363-7694-CD53-29C0-725701C95B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4" name="Rectangle" descr="preencoded.png">
            <a:extLst>
              <a:ext uri="{FF2B5EF4-FFF2-40B4-BE49-F238E27FC236}">
                <a16:creationId xmlns:a16="http://schemas.microsoft.com/office/drawing/2014/main" id="{93A76456-5A83-44A5-396E-9B6B07335C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7" name="Title 2">
            <a:extLst>
              <a:ext uri="{FF2B5EF4-FFF2-40B4-BE49-F238E27FC236}">
                <a16:creationId xmlns:a16="http://schemas.microsoft.com/office/drawing/2014/main" id="{F4A4DB78-4158-E9DF-DB03-2DBF85B2F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725" y="2401795"/>
            <a:ext cx="8575674" cy="2097690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 b="0" i="0" spc="-2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Digital </a:t>
            </a:r>
            <a:br>
              <a:rPr lang="en-US" dirty="0"/>
            </a:br>
            <a:r>
              <a:rPr lang="en-US" dirty="0"/>
              <a:t>Campaigns</a:t>
            </a:r>
          </a:p>
        </p:txBody>
      </p:sp>
      <p:pic>
        <p:nvPicPr>
          <p:cNvPr id="49" name="Logo" descr="preencoded.png">
            <a:extLst>
              <a:ext uri="{FF2B5EF4-FFF2-40B4-BE49-F238E27FC236}">
                <a16:creationId xmlns:a16="http://schemas.microsoft.com/office/drawing/2014/main" id="{78EA91C3-11B6-12D0-336F-79203E70EF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00D627A0-30FA-A34F-7E8C-E42A1E8E88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D363C1E8-5089-B9FA-CE6E-836B104C7897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BF820EF3-2F7F-19FA-D6A9-D73972234C0B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bg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699DF058-C076-F33E-85A6-735C51323807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D76353-BD20-46D2-A72C-5C484B5513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ectangle" descr="preencoded.png">
            <a:extLst>
              <a:ext uri="{FF2B5EF4-FFF2-40B4-BE49-F238E27FC236}">
                <a16:creationId xmlns:a16="http://schemas.microsoft.com/office/drawing/2014/main" id="{9D0E6881-060A-AB9B-5A7C-27172765E9B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07D63953-6E28-D248-EEF7-4EF1AE9639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55F8251C-6E56-45F3-67C1-19338E462990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5DFB88CA-7BDD-C5D2-D0D9-42576E51CD3F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bg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B081D625-CB24-F79C-BCA5-9D73F71545B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3898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7C55D363-7694-CD53-29C0-725701C95B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44" name="Rectangle" descr="preencoded.png">
            <a:extLst>
              <a:ext uri="{FF2B5EF4-FFF2-40B4-BE49-F238E27FC236}">
                <a16:creationId xmlns:a16="http://schemas.microsoft.com/office/drawing/2014/main" id="{93A76456-5A83-44A5-396E-9B6B07335C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0" y="21640"/>
            <a:ext cx="12192000" cy="6858000"/>
          </a:xfrm>
          <a:prstGeom prst="rect">
            <a:avLst/>
          </a:prstGeom>
        </p:spPr>
      </p:pic>
      <p:sp>
        <p:nvSpPr>
          <p:cNvPr id="47" name="Title 2">
            <a:extLst>
              <a:ext uri="{FF2B5EF4-FFF2-40B4-BE49-F238E27FC236}">
                <a16:creationId xmlns:a16="http://schemas.microsoft.com/office/drawing/2014/main" id="{F4A4DB78-4158-E9DF-DB03-2DBF85B2F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725" y="2401795"/>
            <a:ext cx="8575674" cy="2097690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 b="0" i="0" spc="-2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Digital </a:t>
            </a:r>
            <a:br>
              <a:rPr lang="en-US" dirty="0"/>
            </a:br>
            <a:r>
              <a:rPr lang="en-US" dirty="0"/>
              <a:t>Campaigns</a:t>
            </a:r>
          </a:p>
        </p:txBody>
      </p:sp>
      <p:pic>
        <p:nvPicPr>
          <p:cNvPr id="49" name="Logo" descr="preencoded.png">
            <a:extLst>
              <a:ext uri="{FF2B5EF4-FFF2-40B4-BE49-F238E27FC236}">
                <a16:creationId xmlns:a16="http://schemas.microsoft.com/office/drawing/2014/main" id="{78EA91C3-11B6-12D0-336F-79203E70EF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00D627A0-30FA-A34F-7E8C-E42A1E8E88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6D8E48EE-FF4E-C7B4-43D5-60E5BCEA561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7099DFAC-E659-27B5-C5E0-9880EB7B67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67FD7E3D-698C-FAF6-DC44-1696CB6F75F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3EDA09F-2CAE-03F5-559E-7163E6F5D6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3" name="Rectangle" descr="preencoded.png">
            <a:extLst>
              <a:ext uri="{FF2B5EF4-FFF2-40B4-BE49-F238E27FC236}">
                <a16:creationId xmlns:a16="http://schemas.microsoft.com/office/drawing/2014/main" id="{DDDDCE1A-2BFE-3539-1DC7-03BCCBE2D68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0" y="21640"/>
            <a:ext cx="12192000" cy="6858000"/>
          </a:xfrm>
          <a:prstGeom prst="rect">
            <a:avLst/>
          </a:prstGeom>
        </p:spPr>
      </p:pic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5C13EDCC-C727-934F-B6F6-513EE85A15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8D453EB8-8FBB-E049-F733-858FB7188C0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WD Confidential">
            <a:extLst>
              <a:ext uri="{FF2B5EF4-FFF2-40B4-BE49-F238E27FC236}">
                <a16:creationId xmlns:a16="http://schemas.microsoft.com/office/drawing/2014/main" id="{09545377-FB9F-72DD-893C-D3A86AB45983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519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7C55D363-7694-CD53-29C0-725701C95B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44" name="Rectangle" descr="preencoded.png">
            <a:extLst>
              <a:ext uri="{FF2B5EF4-FFF2-40B4-BE49-F238E27FC236}">
                <a16:creationId xmlns:a16="http://schemas.microsoft.com/office/drawing/2014/main" id="{93A76456-5A83-44A5-396E-9B6B07335C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-1" y="21640"/>
            <a:ext cx="12192000" cy="6858000"/>
          </a:xfrm>
          <a:prstGeom prst="rect">
            <a:avLst/>
          </a:prstGeom>
        </p:spPr>
      </p:pic>
      <p:sp>
        <p:nvSpPr>
          <p:cNvPr id="47" name="Title 2">
            <a:extLst>
              <a:ext uri="{FF2B5EF4-FFF2-40B4-BE49-F238E27FC236}">
                <a16:creationId xmlns:a16="http://schemas.microsoft.com/office/drawing/2014/main" id="{F4A4DB78-4158-E9DF-DB03-2DBF85B2F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725" y="2401795"/>
            <a:ext cx="8575674" cy="2097690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 b="0" i="0" spc="-2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Digital </a:t>
            </a:r>
            <a:br>
              <a:rPr lang="en-US" dirty="0"/>
            </a:br>
            <a:r>
              <a:rPr lang="en-US" dirty="0"/>
              <a:t>Campaigns</a:t>
            </a:r>
          </a:p>
        </p:txBody>
      </p:sp>
      <p:pic>
        <p:nvPicPr>
          <p:cNvPr id="49" name="Logo" descr="preencoded.png">
            <a:extLst>
              <a:ext uri="{FF2B5EF4-FFF2-40B4-BE49-F238E27FC236}">
                <a16:creationId xmlns:a16="http://schemas.microsoft.com/office/drawing/2014/main" id="{78EA91C3-11B6-12D0-336F-79203E70EF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00D627A0-30FA-A34F-7E8C-E42A1E8E88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8638099B-E3D3-6B61-8A6B-303CA6565DE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EEF99012-CB8C-2F7F-43FE-C70F0E28E3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8ACCF60D-6F0F-F771-317A-2FB85FFF752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24E7A4-9F06-2FC4-53C2-8FD1F4117F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3" name="Rectangle" descr="preencoded.png">
            <a:extLst>
              <a:ext uri="{FF2B5EF4-FFF2-40B4-BE49-F238E27FC236}">
                <a16:creationId xmlns:a16="http://schemas.microsoft.com/office/drawing/2014/main" id="{0156C217-ED27-1987-3AAF-DCCCED2BA39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-1" y="21640"/>
            <a:ext cx="12192000" cy="6858000"/>
          </a:xfrm>
          <a:prstGeom prst="rect">
            <a:avLst/>
          </a:prstGeom>
        </p:spPr>
      </p:pic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4513BAE6-9B84-829F-360C-ED3D4CF96D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5BDE3458-FB1F-9B12-CBDE-37288940397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WD Confidential">
            <a:extLst>
              <a:ext uri="{FF2B5EF4-FFF2-40B4-BE49-F238E27FC236}">
                <a16:creationId xmlns:a16="http://schemas.microsoft.com/office/drawing/2014/main" id="{E5EDD19B-0B4C-B918-350E-613B80C3E33D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52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B5245493-1A64-E190-69B8-E76153C231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770" b="777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84968157-8C77-7C15-F9B5-A4CC286834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9725" y="5305900"/>
            <a:ext cx="7623175" cy="461665"/>
          </a:xfrm>
          <a:prstGeom prst="rect">
            <a:avLst/>
          </a:prstGeom>
        </p:spPr>
        <p:txBody>
          <a:bodyPr wrap="square" lIns="64008" rIns="0">
            <a:spAutoFit/>
          </a:bodyPr>
          <a:lstStyle>
            <a:lvl1pPr>
              <a:lnSpc>
                <a:spcPct val="100000"/>
              </a:lnSpc>
              <a:buNone/>
              <a:defRPr sz="2400" b="1" i="0" spc="-8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FirstName LastName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6852C012-816F-EC03-EDBA-71402F036E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9726" y="5824740"/>
            <a:ext cx="7641272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0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340C4934-5AC0-53B7-44F3-9390018CF5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7186C779-C1CA-D8EE-397A-BC47222544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1623008"/>
            <a:ext cx="9528175" cy="2920030"/>
          </a:xfrm>
          <a:prstGeom prst="rect">
            <a:avLst/>
          </a:prstGeom>
        </p:spPr>
        <p:txBody>
          <a:bodyPr wrap="square" lIns="27432" rIns="0">
            <a:spAutoFit/>
          </a:bodyPr>
          <a:lstStyle>
            <a:lvl1pPr marL="0" indent="0">
              <a:lnSpc>
                <a:spcPct val="75000"/>
              </a:lnSpc>
              <a:buNone/>
              <a:tabLst/>
              <a:defRPr sz="6000" b="0" i="0" spc="-17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700" indent="0">
              <a:buNone/>
              <a:tabLst/>
              <a:defRPr/>
            </a:lvl2pPr>
          </a:lstStyle>
          <a:p>
            <a:pPr lvl="0"/>
            <a:r>
              <a:rPr lang="en-US" dirty="0"/>
              <a:t>“</a:t>
            </a:r>
            <a:r>
              <a:rPr lang="en-US" dirty="0" err="1"/>
              <a:t>Neque</a:t>
            </a:r>
            <a:r>
              <a:rPr lang="en-US" dirty="0"/>
              <a:t> porro </a:t>
            </a:r>
            <a:r>
              <a:rPr lang="en-US" dirty="0" err="1"/>
              <a:t>quisquam</a:t>
            </a:r>
            <a:r>
              <a:rPr lang="en-US" dirty="0"/>
              <a:t>  lest, qui </a:t>
            </a:r>
            <a:r>
              <a:rPr lang="en-US" dirty="0" err="1"/>
              <a:t>dolorem</a:t>
            </a:r>
            <a:r>
              <a:rPr lang="en-US" dirty="0"/>
              <a:t> ipsum quia dolor sit </a:t>
            </a:r>
            <a:r>
              <a:rPr lang="en-US" dirty="0" err="1"/>
              <a:t>amet</a:t>
            </a:r>
            <a:r>
              <a:rPr lang="en-US" dirty="0"/>
              <a:t>, porro </a:t>
            </a:r>
            <a:r>
              <a:rPr lang="en-US" dirty="0" err="1"/>
              <a:t>quisquam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.”</a:t>
            </a:r>
          </a:p>
        </p:txBody>
      </p:sp>
      <p:pic>
        <p:nvPicPr>
          <p:cNvPr id="9" name="Logo" descr="preencoded.png">
            <a:extLst>
              <a:ext uri="{FF2B5EF4-FFF2-40B4-BE49-F238E27FC236}">
                <a16:creationId xmlns:a16="http://schemas.microsoft.com/office/drawing/2014/main" id="{04C03AE5-8148-BDEF-B92D-5D12D598A0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F50FBA37-7A2D-7DD6-6C01-859714C8BC1D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14F2F370-3FC8-55F0-1609-A5AB3B82F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WD Confidential">
            <a:extLst>
              <a:ext uri="{FF2B5EF4-FFF2-40B4-BE49-F238E27FC236}">
                <a16:creationId xmlns:a16="http://schemas.microsoft.com/office/drawing/2014/main" id="{E025AB58-C3AC-1C01-4DA3-22703B37449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1DEC582-4D3A-C5C6-7073-835D2B4867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770" b="777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Logo" descr="preencoded.png">
            <a:extLst>
              <a:ext uri="{FF2B5EF4-FFF2-40B4-BE49-F238E27FC236}">
                <a16:creationId xmlns:a16="http://schemas.microsoft.com/office/drawing/2014/main" id="{86F016A3-A12E-F2C3-BDDC-2BE61BCEAE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2" name="2026 Western Digital Corporation All rights reserved">
            <a:extLst>
              <a:ext uri="{FF2B5EF4-FFF2-40B4-BE49-F238E27FC236}">
                <a16:creationId xmlns:a16="http://schemas.microsoft.com/office/drawing/2014/main" id="{295767F6-1E66-CD1E-FF6D-A5AE18401522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WD Confidential">
            <a:extLst>
              <a:ext uri="{FF2B5EF4-FFF2-40B4-BE49-F238E27FC236}">
                <a16:creationId xmlns:a16="http://schemas.microsoft.com/office/drawing/2014/main" id="{07DADA49-B525-57A6-91BE-2DC7CB8B581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0188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Head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A3A4BF43-FA17-1E78-9155-FF2170E2D98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19100" y="4312598"/>
            <a:ext cx="1421916" cy="1428525"/>
          </a:xfrm>
          <a:prstGeom prst="ellipse">
            <a:avLst/>
          </a:prstGeom>
        </p:spPr>
        <p:txBody>
          <a:bodyPr rIns="0"/>
          <a:lstStyle>
            <a:lvl1pPr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1496A2C0-A45A-F093-4D48-BA745EAF70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47900" y="4566878"/>
            <a:ext cx="6667500" cy="461665"/>
          </a:xfrm>
          <a:prstGeom prst="rect">
            <a:avLst/>
          </a:prstGeom>
        </p:spPr>
        <p:txBody>
          <a:bodyPr wrap="square" lIns="64008" rIns="0">
            <a:spAutoFit/>
          </a:bodyPr>
          <a:lstStyle>
            <a:lvl1pPr>
              <a:lnSpc>
                <a:spcPct val="100000"/>
              </a:lnSpc>
              <a:buNone/>
              <a:defRPr sz="2400" b="1" i="0" spc="-8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FirstName LastName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5267AF25-EB0A-171B-BF9C-CF4006993E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47900" y="5033095"/>
            <a:ext cx="6667500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74D4219E-9330-ADE5-EFCC-3658425C6A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70720526-CAB2-3861-B8E1-2D8E2AB191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1517128"/>
            <a:ext cx="8575675" cy="1764714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 marL="0" indent="0">
              <a:lnSpc>
                <a:spcPct val="85000"/>
              </a:lnSpc>
              <a:buNone/>
              <a:tabLst/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700" indent="0">
              <a:buNone/>
              <a:tabLst/>
              <a:defRPr/>
            </a:lvl2pPr>
          </a:lstStyle>
          <a:p>
            <a:pPr lvl="0"/>
            <a:r>
              <a:rPr lang="en-US" dirty="0"/>
              <a:t>“</a:t>
            </a:r>
            <a:r>
              <a:rPr lang="en-US" dirty="0" err="1"/>
              <a:t>Neque</a:t>
            </a:r>
            <a:r>
              <a:rPr lang="en-US" dirty="0"/>
              <a:t> porro </a:t>
            </a:r>
            <a:r>
              <a:rPr lang="en-US" dirty="0" err="1"/>
              <a:t>quisquam</a:t>
            </a:r>
            <a:r>
              <a:rPr lang="en-US" dirty="0"/>
              <a:t> lest, qui </a:t>
            </a:r>
            <a:r>
              <a:rPr lang="en-US" dirty="0" err="1"/>
              <a:t>dolorem</a:t>
            </a:r>
            <a:r>
              <a:rPr lang="en-US" dirty="0"/>
              <a:t> ipsum quia dolor sit </a:t>
            </a:r>
            <a:r>
              <a:rPr lang="en-US" dirty="0" err="1"/>
              <a:t>amet</a:t>
            </a:r>
            <a:r>
              <a:rPr lang="en-US" dirty="0"/>
              <a:t>, porro </a:t>
            </a:r>
            <a:r>
              <a:rPr lang="en-US" dirty="0" err="1"/>
              <a:t>quisquam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.”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AAEF6174-DF81-F83B-C9AA-28AD5F9BAF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2E0086C7-2F0C-FD95-D8E2-6226CA777A5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E07FA23C-0F4B-8A50-6D21-74042CAC01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AD6554B1-AE61-D38C-BD62-C218B50E399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Logo" descr="preencoded.png">
            <a:extLst>
              <a:ext uri="{FF2B5EF4-FFF2-40B4-BE49-F238E27FC236}">
                <a16:creationId xmlns:a16="http://schemas.microsoft.com/office/drawing/2014/main" id="{239A6917-4E30-B879-02B5-AEEFBA0242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7" name="2026 Western Digital Corporation All rights reserved">
            <a:extLst>
              <a:ext uri="{FF2B5EF4-FFF2-40B4-BE49-F238E27FC236}">
                <a16:creationId xmlns:a16="http://schemas.microsoft.com/office/drawing/2014/main" id="{C0524158-9B67-8AD0-F8E0-97BD2414D34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1AB934B2-E209-40BE-E632-D5145F1B624D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8442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levator Pitch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0CB210FC-3307-99B1-72CD-8010E835D9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Elevator Pitch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1F03B5D0-B758-47A1-3768-821FE2623B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1576161"/>
            <a:ext cx="10480675" cy="3938001"/>
          </a:xfrm>
          <a:prstGeom prst="rect">
            <a:avLst/>
          </a:prstGeom>
        </p:spPr>
        <p:txBody>
          <a:bodyPr wrap="square" lIns="45720" rIns="0" anchor="ctr">
            <a:spAutoFit/>
          </a:bodyPr>
          <a:lstStyle>
            <a:lvl1pPr marL="0" indent="0">
              <a:lnSpc>
                <a:spcPct val="85000"/>
              </a:lnSpc>
              <a:buNone/>
              <a:tabLst/>
              <a:defRPr sz="4200" b="0" i="0" spc="-13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700" indent="0">
              <a:buNone/>
              <a:tabLst/>
              <a:defRPr/>
            </a:lvl2pPr>
          </a:lstStyle>
          <a:p>
            <a:pPr lvl="0"/>
            <a:r>
              <a:rPr lang="en-US" dirty="0"/>
              <a:t>WD is the storage foundation for everyone from consumers to cloud, AI, and OEM innovators operating at massive scale.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We drive certainty in the AI era by delivering purpose-built technology across all storage tiers from the data center to the home.</a:t>
            </a: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5B205C2D-29C3-59B4-D732-CF6763F75D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0C65699B-675C-A6DA-6834-E149883EE87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F30AB2D4-9E35-4760-0BDD-94E36B9B84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9CDEB3D1-E656-5D25-5029-59CABDA2239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82161E95-137C-762B-5401-06854DB244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E1340E75-D038-C64C-8C5B-2A1770AF9CB7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WD Confidential">
            <a:extLst>
              <a:ext uri="{FF2B5EF4-FFF2-40B4-BE49-F238E27FC236}">
                <a16:creationId xmlns:a16="http://schemas.microsoft.com/office/drawing/2014/main" id="{3D5FA6A9-756D-3BA7-7893-77FF13863011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88321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nifes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BCCFE563-A70F-E61A-800A-421C1912BE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Manifesto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0B1CE00F-0D9C-63DD-95F2-77D1F40633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1223646"/>
            <a:ext cx="8575767" cy="1696618"/>
          </a:xfrm>
          <a:prstGeom prst="rect">
            <a:avLst/>
          </a:prstGeom>
        </p:spPr>
        <p:txBody>
          <a:bodyPr wrap="square" lIns="27432" rIns="0">
            <a:spAutoFit/>
          </a:bodyPr>
          <a:lstStyle>
            <a:lvl1pPr>
              <a:lnSpc>
                <a:spcPct val="85000"/>
              </a:lnSpc>
              <a:defRPr sz="6000" b="0" i="0" spc="-17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WD drives certainty in the AI era.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6077F82-363E-A58F-19D4-34D42BB84F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9632" y="3148174"/>
            <a:ext cx="8575768" cy="1600438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 marL="12700" indent="-12700">
              <a:lnSpc>
                <a:spcPct val="100000"/>
              </a:lnSpc>
              <a:buNone/>
              <a:tabLst/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spc="-30"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defRPr sz="1400" spc="-30">
                <a:solidFill>
                  <a:schemeClr val="tx2"/>
                </a:solidFill>
              </a:defRPr>
            </a:lvl3pPr>
            <a:lvl4pPr>
              <a:lnSpc>
                <a:spcPct val="100000"/>
              </a:lnSpc>
              <a:defRPr sz="1400" spc="-3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defRPr sz="1400" spc="-3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We deliver performance without a premium. Infrastructure to keep pace with your AI models. And purpose-built storage designed for proven capacity, reliability, power-efficiency, and superior TCO.</a:t>
            </a:r>
            <a:br>
              <a:rPr lang="en-US" dirty="0"/>
            </a:br>
            <a:r>
              <a:rPr lang="en-US" dirty="0"/>
              <a:t>Developed through decades of engineering excellence, built on expertise from 40,000+ passionate individuals, and field-validated with customers at hyperscale, our storage technology evolves as your data demands grow.</a:t>
            </a:r>
            <a:br>
              <a:rPr lang="en-US" dirty="0"/>
            </a:br>
            <a:r>
              <a:rPr lang="en-US" dirty="0"/>
              <a:t>Always on. Always ready. Across the world’s largest data centers, at home, and everywhere in-between.</a:t>
            </a:r>
            <a:br>
              <a:rPr lang="en-US" dirty="0"/>
            </a:br>
            <a:r>
              <a:rPr lang="en-US" dirty="0"/>
              <a:t>Innovate with confidence. Scale with certainty.</a:t>
            </a:r>
            <a:br>
              <a:rPr lang="en-US" dirty="0"/>
            </a:br>
            <a:r>
              <a:rPr lang="en-US" dirty="0"/>
              <a:t>Only with WD.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99315058-3B5A-8A91-EE93-D7AC56C885E2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B942D230-5F44-4C6A-579D-EB0103DBE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8ED3B323-AA46-23F8-C142-6D014DD162B1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181FEDD9-F1FD-572D-9F17-F350B3EBD5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9" name="2026 Western Digital Corporation All rights reserved">
            <a:extLst>
              <a:ext uri="{FF2B5EF4-FFF2-40B4-BE49-F238E27FC236}">
                <a16:creationId xmlns:a16="http://schemas.microsoft.com/office/drawing/2014/main" id="{1F8B124D-8828-84D4-5D9B-69C9442BD2B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51F4AFAF-74BC-A3A1-D4C6-0F585EC0C73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4693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CD24FD7F-7349-F1F5-223D-7F65E42A02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1BFF3DBF-B6EF-B5B6-80ED-BD17007411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AF1085EB-B6B3-04CF-7847-B672F38F3F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2AA16F8E-B090-9642-F455-E7BE04B868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90A9618-A5C7-FFFF-717E-ADCB6EA53D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9632" y="2559700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DE871506-8FFF-28E8-C297-BB40956DA7B4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CD5E26EA-FFEC-E257-87F9-03D811537C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EACD8185-4A42-915C-0F2E-EB0FFDF1E503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BAD02CCE-AD68-2BCE-0C15-7A74D670CC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ED3A06A2-7A7E-987B-01CC-5C4AD26EEB02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AD57022B-3BF1-297F-C181-B4EED77A4F9F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5805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Title, Subtitle and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46944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12F7BBF-9C82-9666-15BB-66D848FA0F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0A2714-C0DF-0C80-9966-02DC68D5F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1CE56D40-6ADB-3A0A-0BDC-D6D00D929BE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9632" y="2156037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0050841B-5735-F2D5-0A78-51AD08F2F75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B811A320-08A4-EF41-715C-69759B0C4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E4D09478-3997-80B6-4C9B-67FA61E8D9B3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2C7A54E2-B4D1-D66F-983A-A5ACCE2AD4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AE5427FE-97B9-3B82-3231-E3AD69E57C1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1CEA0CE0-4606-19F8-44D7-6E7EF0F2BC5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1152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12F7BBF-9C82-9666-15BB-66D848FA0F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0A2714-C0DF-0C80-9966-02DC68D5F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1CE56D40-6ADB-3A0A-0BDC-D6D00D929BE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9632" y="2156037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1CED4B45-D08E-55A5-092B-654720B07F2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7E404687-BDF0-09F7-7955-7FED5A0663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8430F890-C0FF-20E6-617A-D6264C712F3D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C48B190A-417E-2438-D264-54D1C37BE4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D8ACB0CC-7B7C-BFE3-8EAC-D50C7EFBBD20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DA9AABEF-7A91-F2F3-4E38-0B3FBAB1010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20703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2-Column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2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D582C36-F359-A0D2-C216-FDD6A5565C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AA07F6F7-51BC-E719-98A2-B0A5961040EB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077697" y="2555421"/>
            <a:ext cx="4742703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A7E657F-2D84-5BAB-3CF6-E00EFFD7002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555421"/>
            <a:ext cx="4765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0583AAAC-E43F-7CB7-FCF3-DC40FBE10141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0DB9BB98-B022-71CA-6E27-0BC0608AEF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79654493-A604-7DF1-23A3-0683CB24E17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Logo" descr="preencoded.png">
            <a:extLst>
              <a:ext uri="{FF2B5EF4-FFF2-40B4-BE49-F238E27FC236}">
                <a16:creationId xmlns:a16="http://schemas.microsoft.com/office/drawing/2014/main" id="{FC52305F-34F0-B1D5-DE10-C1B2A0F549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2" name="2026 Western Digital Corporation All rights reserved">
            <a:extLst>
              <a:ext uri="{FF2B5EF4-FFF2-40B4-BE49-F238E27FC236}">
                <a16:creationId xmlns:a16="http://schemas.microsoft.com/office/drawing/2014/main" id="{667F37A6-5375-2A26-37E1-EAEA5974FF46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WD Confidential">
            <a:extLst>
              <a:ext uri="{FF2B5EF4-FFF2-40B4-BE49-F238E27FC236}">
                <a16:creationId xmlns:a16="http://schemas.microsoft.com/office/drawing/2014/main" id="{9A5B3A55-416D-1AC4-A8FA-C773B6E56CE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366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2-Column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2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D582C36-F359-A0D2-C216-FDD6A5565C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AA07F6F7-51BC-E719-98A2-B0A5961040EB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077697" y="2555421"/>
            <a:ext cx="4742703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A7E657F-2D84-5BAB-3CF6-E00EFFD7002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555421"/>
            <a:ext cx="4765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67323B64-9890-851C-CFCC-80AFAD1995B9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D4C19B1D-4D1D-464C-5A79-5EBBCB96EA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1B1A89FE-9F90-CCDF-AD06-574CC4F8AB3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Logo" descr="preencoded.png">
            <a:extLst>
              <a:ext uri="{FF2B5EF4-FFF2-40B4-BE49-F238E27FC236}">
                <a16:creationId xmlns:a16="http://schemas.microsoft.com/office/drawing/2014/main" id="{A5D4B26D-0920-FF79-8759-3773758CF3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2" name="2026 Western Digital Corporation All rights reserved">
            <a:extLst>
              <a:ext uri="{FF2B5EF4-FFF2-40B4-BE49-F238E27FC236}">
                <a16:creationId xmlns:a16="http://schemas.microsoft.com/office/drawing/2014/main" id="{45511307-062A-DA15-22F5-81926D9D6891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WD Confidential">
            <a:extLst>
              <a:ext uri="{FF2B5EF4-FFF2-40B4-BE49-F238E27FC236}">
                <a16:creationId xmlns:a16="http://schemas.microsoft.com/office/drawing/2014/main" id="{31C8ECDB-1801-DB70-024C-9B3DB3C6DFB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48028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2-Column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4" y="702407"/>
            <a:ext cx="6670766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31040B13-638F-A6E9-D729-9BB66691EC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223272"/>
            <a:ext cx="4765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993765A-531C-BA41-7134-707041754F96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077697" y="2223272"/>
            <a:ext cx="4742703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892F9820-3B54-5A27-B27A-73753286431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435C9CC-6B67-1112-DF24-9027C982F0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2F5C104B-2EB9-B56A-FFAC-319DA5A82928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" descr="preencoded.png">
            <a:extLst>
              <a:ext uri="{FF2B5EF4-FFF2-40B4-BE49-F238E27FC236}">
                <a16:creationId xmlns:a16="http://schemas.microsoft.com/office/drawing/2014/main" id="{D947F29C-9419-D3E9-F52A-A6944373AE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1" name="2026 Western Digital Corporation All rights reserved">
            <a:extLst>
              <a:ext uri="{FF2B5EF4-FFF2-40B4-BE49-F238E27FC236}">
                <a16:creationId xmlns:a16="http://schemas.microsoft.com/office/drawing/2014/main" id="{9DBC16B1-8E89-74E6-8043-3BCCD32C1A3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WD Confidential">
            <a:extLst>
              <a:ext uri="{FF2B5EF4-FFF2-40B4-BE49-F238E27FC236}">
                <a16:creationId xmlns:a16="http://schemas.microsoft.com/office/drawing/2014/main" id="{27504A2D-01C5-8B6B-7D97-9759CF68E04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132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2-Column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4" y="702407"/>
            <a:ext cx="6670766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31040B13-638F-A6E9-D729-9BB66691EC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223272"/>
            <a:ext cx="4765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993765A-531C-BA41-7134-707041754F96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077697" y="2223272"/>
            <a:ext cx="4742703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B3A79694-3F78-2EDB-C057-D866EDA8128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23EFA591-69A9-51C7-CD9E-FD0CCCDBD1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9861632B-3A19-FBB2-0EF1-A481FF7D539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" descr="preencoded.png">
            <a:extLst>
              <a:ext uri="{FF2B5EF4-FFF2-40B4-BE49-F238E27FC236}">
                <a16:creationId xmlns:a16="http://schemas.microsoft.com/office/drawing/2014/main" id="{48B9C272-85AD-AA13-4422-5D58F248B0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1" name="2026 Western Digital Corporation All rights reserved">
            <a:extLst>
              <a:ext uri="{FF2B5EF4-FFF2-40B4-BE49-F238E27FC236}">
                <a16:creationId xmlns:a16="http://schemas.microsoft.com/office/drawing/2014/main" id="{8CD410BF-CD02-A3B0-AFDC-220FCE620A8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WD Confidential">
            <a:extLst>
              <a:ext uri="{FF2B5EF4-FFF2-40B4-BE49-F238E27FC236}">
                <a16:creationId xmlns:a16="http://schemas.microsoft.com/office/drawing/2014/main" id="{4D613A87-A1A1-4610-D3D8-4B4AB121712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8309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3-Column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D582C36-F359-A0D2-C216-FDD6A5565C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3F1E54E-5BF2-A275-48ED-12E26430CAD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555421"/>
            <a:ext cx="3357840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BE3E7D6-0DDF-2433-3B44-9E5C4144EB4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166347" y="2555421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C7D7AF38-C09F-B2CF-757B-713AA6C51150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966636" y="2555421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FA8F56AB-CFA8-AC73-0BC3-459B01A36185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4FCCFFE2-A4FB-5234-F702-14B579F4BC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F2385D96-F468-4612-0122-FFAF043A2E09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Logo" descr="preencoded.png">
            <a:extLst>
              <a:ext uri="{FF2B5EF4-FFF2-40B4-BE49-F238E27FC236}">
                <a16:creationId xmlns:a16="http://schemas.microsoft.com/office/drawing/2014/main" id="{C5F2BAC4-4836-EB1A-0F89-3B87BFEA6F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9E014613-0972-8C4A-5199-4213D649F3A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WD Confidential">
            <a:extLst>
              <a:ext uri="{FF2B5EF4-FFF2-40B4-BE49-F238E27FC236}">
                <a16:creationId xmlns:a16="http://schemas.microsoft.com/office/drawing/2014/main" id="{A6BA411F-12FB-B835-9534-36616AB3334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3205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3-Column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D582C36-F359-A0D2-C216-FDD6A5565C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3F1E54E-5BF2-A275-48ED-12E26430CAD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555421"/>
            <a:ext cx="3357840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BE3E7D6-0DDF-2433-3B44-9E5C4144EB4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166347" y="2555421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C7D7AF38-C09F-B2CF-757B-713AA6C51150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966636" y="2555421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2CC8B5AC-F3AE-E094-B832-73394D434B0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7C940278-C6AD-2BD0-D693-03C926976F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35583BC5-2030-A571-E579-5FC24F25F6C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Logo" descr="preencoded.png">
            <a:extLst>
              <a:ext uri="{FF2B5EF4-FFF2-40B4-BE49-F238E27FC236}">
                <a16:creationId xmlns:a16="http://schemas.microsoft.com/office/drawing/2014/main" id="{269D2121-1907-D5ED-EDAE-F264C11E69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63F2FFB2-FD84-32DC-4166-1204CECBFF1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WD Confidential">
            <a:extLst>
              <a:ext uri="{FF2B5EF4-FFF2-40B4-BE49-F238E27FC236}">
                <a16:creationId xmlns:a16="http://schemas.microsoft.com/office/drawing/2014/main" id="{659C679A-2229-65A8-9311-81AC6CFFD47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93313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3-Column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3F1E54E-5BF2-A275-48ED-12E26430CAD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155810"/>
            <a:ext cx="3357840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BE3E7D6-0DDF-2433-3B44-9E5C4144EB4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166347" y="2155810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C7D7AF38-C09F-B2CF-757B-713AA6C51150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966636" y="2155810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7AA045E7-A44A-ACB8-AA34-0B261636B89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6F8C4D60-797F-6E5D-28C1-7806C56F6A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E6B9DE43-CB49-B21C-2E2E-7CDE82EDBB6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68D06372-A8B0-AC53-63C4-8062C472FA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9" name="2026 Western Digital Corporation All rights reserved">
            <a:extLst>
              <a:ext uri="{FF2B5EF4-FFF2-40B4-BE49-F238E27FC236}">
                <a16:creationId xmlns:a16="http://schemas.microsoft.com/office/drawing/2014/main" id="{0600352E-AC97-1129-81E2-C5A35EECECF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5DB10F33-31BD-6075-2644-E5685D595314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688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3-Column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3F1E54E-5BF2-A275-48ED-12E26430CAD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155810"/>
            <a:ext cx="3357840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BE3E7D6-0DDF-2433-3B44-9E5C4144EB4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166347" y="2155810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C7D7AF38-C09F-B2CF-757B-713AA6C51150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966636" y="2155810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5276F0D2-32B8-C7AC-B82A-C606D31FC7C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B0239A21-7BB6-C643-D84F-C232D1980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E8759531-8185-454D-6A95-FD805973061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2AD71202-B59D-AA51-CD7D-ADD5754CD5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9" name="2026 Western Digital Corporation All rights reserved">
            <a:extLst>
              <a:ext uri="{FF2B5EF4-FFF2-40B4-BE49-F238E27FC236}">
                <a16:creationId xmlns:a16="http://schemas.microsoft.com/office/drawing/2014/main" id="{FE1954F3-0FCB-4BCE-075F-59BB5C31FE6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2190B417-0548-595A-D7EB-AA1B43685C1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8981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69089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D7CC45D7-1BAA-BAFE-C00D-0F9E4834A4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312" y="1954332"/>
            <a:ext cx="4764088" cy="320088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93BC1FEF-E960-A249-9518-9C3E0D63E880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06D2DC00-EF0F-608A-74EB-8779CB4A16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ABAD58BC-78F9-B4F0-6B65-18C1CDC222D2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Logo" descr="preencoded.png">
            <a:extLst>
              <a:ext uri="{FF2B5EF4-FFF2-40B4-BE49-F238E27FC236}">
                <a16:creationId xmlns:a16="http://schemas.microsoft.com/office/drawing/2014/main" id="{227E8393-02B2-33C5-5862-BA9303C239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0407264D-7C82-B419-56CD-EE44AD07121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8D5E89F4-3B4B-17A7-F4EC-81BE741B670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8096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69089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D7CC45D7-1BAA-BAFE-C00D-0F9E4834A4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312" y="1954332"/>
            <a:ext cx="4764088" cy="320088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391D50C1-A731-51B6-C715-F0D945EC168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EB91A628-CC27-D7BB-57A2-EF12184D65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DC20F77F-3AA0-4B76-4250-0F2C0B243FF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Logo" descr="preencoded.png">
            <a:extLst>
              <a:ext uri="{FF2B5EF4-FFF2-40B4-BE49-F238E27FC236}">
                <a16:creationId xmlns:a16="http://schemas.microsoft.com/office/drawing/2014/main" id="{5967BE44-FE85-90B0-6A34-1D9E62743B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BBD8A698-2258-3FBA-D593-3DE31FE4283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7BD45D5B-4074-AECC-8CFE-B661E704842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71635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 (Right)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or Data Slide Headline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D1A82A6F-B32A-AE87-DB81-26831C56D4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702407"/>
            <a:ext cx="1908175" cy="757130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Optional subtitle or key takeaway goes here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E859BBAB-728B-1AD4-F240-65960E3235E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4FC36E1C-5DDB-DAD1-AE29-676A690FBD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4402B233-F83C-1F9A-4CCF-EBE07534953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E634490A-DB97-60E0-D7BD-A2D216CC2D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4DEB32EA-A240-BD84-565C-959A51FF146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5302E79D-A5FF-8BA0-A938-CD4C1E35D85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864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Subtitle (Right)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or Data Slide Headline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D1A82A6F-B32A-AE87-DB81-26831C56D4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702407"/>
            <a:ext cx="1908175" cy="757130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Optional subtitle or key takeaway goes here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1310BAEA-1179-6A57-1C60-48E419B2AF07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BF43CC62-22B1-1062-ACE0-78C1312121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E33C62C1-D9E5-2CF9-079C-6E54F23AA011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76F4FB81-4CBB-EE50-C79B-CD0230F165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62C4627D-9C10-8E70-10AD-C6FBDACBFDF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140EFB13-9E1C-9655-F7AB-65B8E9464BA3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31690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78A068A3-D3A0-DA36-A633-EED175D1E6A4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828AEF02-BEDA-1BFA-000F-033EF9D980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C3BE7781-CA5D-312E-8344-92F548C99709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ABDD950E-5DE5-AF2B-CE50-CE05D61932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9" name="2026 Western Digital Corporation All rights reserved">
            <a:extLst>
              <a:ext uri="{FF2B5EF4-FFF2-40B4-BE49-F238E27FC236}">
                <a16:creationId xmlns:a16="http://schemas.microsoft.com/office/drawing/2014/main" id="{8586C435-75F5-B056-DDA7-E2AF0C9279D9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2F5C06A2-9127-6A34-4605-B40F08F8D019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0276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2BE2CD35-6CE7-8F5F-6D39-972D4D561784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06CD89FA-F357-1792-1250-99BC3F2C78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3B1BC62A-5770-272A-7EFA-481370AAF3C8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98B23076-99A0-E3EB-80BE-DEF8AD5299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9" name="2026 Western Digital Corporation All rights reserved">
            <a:extLst>
              <a:ext uri="{FF2B5EF4-FFF2-40B4-BE49-F238E27FC236}">
                <a16:creationId xmlns:a16="http://schemas.microsoft.com/office/drawing/2014/main" id="{A264F1BF-E4DC-CC2D-01EA-E252D106CF6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B117BA73-2B38-2A8A-9A80-6ACD02EAB36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3420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(Bottom)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3CEFD179-CC6E-7D13-6450-355441A668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11300218-03BC-B777-07DF-B7C3E3BE69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480364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Data Slide – Bottom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B35C2A1F-FA1A-0E07-7768-85DC5F6C03D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13CF05D5-C0B3-2723-D54B-FF1C3E782D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72F0C9EA-888F-73F8-1FAA-2C393839607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Logo" descr="preencoded.png">
            <a:extLst>
              <a:ext uri="{FF2B5EF4-FFF2-40B4-BE49-F238E27FC236}">
                <a16:creationId xmlns:a16="http://schemas.microsoft.com/office/drawing/2014/main" id="{10B20E29-E654-2063-B781-47BEBC4590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9" name="2026 Western Digital Corporation All rights reserved">
            <a:extLst>
              <a:ext uri="{FF2B5EF4-FFF2-40B4-BE49-F238E27FC236}">
                <a16:creationId xmlns:a16="http://schemas.microsoft.com/office/drawing/2014/main" id="{5AFF22CB-D0F6-8D78-00FD-5292AFAED654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56F15737-163E-15D8-837B-392A067A91B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424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(Bottom)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3CEFD179-CC6E-7D13-6450-355441A668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11300218-03BC-B777-07DF-B7C3E3BE69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480364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Data Slide – Bottom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89A23E38-65E7-DD56-B4E5-8586783CF4D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DE448280-606D-19BF-53C0-F94BF2C70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30B9BA75-8CE2-0C9A-0039-48A3A72D41A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Logo" descr="preencoded.png">
            <a:extLst>
              <a:ext uri="{FF2B5EF4-FFF2-40B4-BE49-F238E27FC236}">
                <a16:creationId xmlns:a16="http://schemas.microsoft.com/office/drawing/2014/main" id="{F59CFC3C-A3FC-9613-B4C7-810735CFDC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9" name="2026 Western Digital Corporation All rights reserved">
            <a:extLst>
              <a:ext uri="{FF2B5EF4-FFF2-40B4-BE49-F238E27FC236}">
                <a16:creationId xmlns:a16="http://schemas.microsoft.com/office/drawing/2014/main" id="{8DDE42A7-3D15-660C-027E-176B5AC295B5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6DC8EB8D-C8F7-BF6E-07F9-3F408DFDC67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5466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Key Takeaway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or Data </a:t>
            </a:r>
            <a:br>
              <a:rPr lang="en-US" dirty="0"/>
            </a:br>
            <a:r>
              <a:rPr lang="en-US" dirty="0"/>
              <a:t>Slide Headline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D7CC45D7-1BAA-BAFE-C00D-0F9E4834A4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312" y="2122728"/>
            <a:ext cx="1908175" cy="757130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Optional subtitle or key takeaway goes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6CF7733-1DE9-9B58-4576-DA0FE39F7D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725" y="5198586"/>
            <a:ext cx="1908175" cy="738664"/>
          </a:xfrm>
          <a:prstGeom prst="rect">
            <a:avLst/>
          </a:prstGeom>
        </p:spPr>
        <p:txBody>
          <a:bodyPr wrap="square" lIns="82296" rIns="0" anchor="b">
            <a:spAutoFit/>
          </a:bodyPr>
          <a:lstStyle>
            <a:lvl1pPr marL="11113" indent="-11113">
              <a:lnSpc>
                <a:spcPct val="100000"/>
              </a:lnSpc>
              <a:buNone/>
              <a:tabLst/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0" dirty="0"/>
              <a:t>Optional additional (less important) text goes here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AABDCA64-0F1C-5EC0-64DA-CD1DEA2EC07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D038555D-587B-01AE-60D5-C9BEFE14E3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3AE7A749-92BC-EB07-E27C-08E0B85EDE4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Logo" descr="preencoded.png">
            <a:extLst>
              <a:ext uri="{FF2B5EF4-FFF2-40B4-BE49-F238E27FC236}">
                <a16:creationId xmlns:a16="http://schemas.microsoft.com/office/drawing/2014/main" id="{CEB8D14F-1C68-82BB-AFE1-459987D701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1CC8CA86-10A1-FB0C-34D3-EC8E64201B58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WD Confidential">
            <a:extLst>
              <a:ext uri="{FF2B5EF4-FFF2-40B4-BE49-F238E27FC236}">
                <a16:creationId xmlns:a16="http://schemas.microsoft.com/office/drawing/2014/main" id="{7C0CA1A1-4B4B-0A66-C20D-61A2B71697F4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1166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Key Takeaway Vault Nav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E9939BCF-4926-9BD3-1B08-CD2AABECE2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6A794357-5E34-54F0-6CE0-C841EB3D25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BA867570-91F0-1222-CAE7-9867B2C4A9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or Data </a:t>
            </a:r>
            <a:br>
              <a:rPr lang="en-US" dirty="0"/>
            </a:br>
            <a:r>
              <a:rPr lang="en-US" dirty="0"/>
              <a:t>Slide Headline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97D04FA1-D395-FF10-E1E5-9F29C071F23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312" y="2122728"/>
            <a:ext cx="1908175" cy="757130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Optional subtitle or key takeaway goes here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33D57A1A-BE1A-A50F-BA14-528DE7930ED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725" y="5198586"/>
            <a:ext cx="1908175" cy="738664"/>
          </a:xfrm>
          <a:prstGeom prst="rect">
            <a:avLst/>
          </a:prstGeom>
        </p:spPr>
        <p:txBody>
          <a:bodyPr wrap="square" lIns="82296" rIns="0" anchor="b">
            <a:spAutoFit/>
          </a:bodyPr>
          <a:lstStyle>
            <a:lvl1pPr marL="11113" indent="-11113">
              <a:lnSpc>
                <a:spcPct val="100000"/>
              </a:lnSpc>
              <a:buNone/>
              <a:tabLst/>
              <a:defRPr sz="1400" b="0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0" dirty="0"/>
              <a:t>Optional additional (less important) text goes here</a:t>
            </a:r>
          </a:p>
        </p:txBody>
      </p:sp>
      <p:sp>
        <p:nvSpPr>
          <p:cNvPr id="7" name="2026 Western Digital Corporation All rights reserved">
            <a:extLst>
              <a:ext uri="{FF2B5EF4-FFF2-40B4-BE49-F238E27FC236}">
                <a16:creationId xmlns:a16="http://schemas.microsoft.com/office/drawing/2014/main" id="{C7EA4804-4B5C-6645-4E21-96164F63FEE8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83EDC67A-ECC2-19CB-21C7-7194007B74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WD Confidential">
            <a:extLst>
              <a:ext uri="{FF2B5EF4-FFF2-40B4-BE49-F238E27FC236}">
                <a16:creationId xmlns:a16="http://schemas.microsoft.com/office/drawing/2014/main" id="{F339B6A8-73CC-E170-2B36-716394B6E1E7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Logo" descr="preencoded.png">
            <a:extLst>
              <a:ext uri="{FF2B5EF4-FFF2-40B4-BE49-F238E27FC236}">
                <a16:creationId xmlns:a16="http://schemas.microsoft.com/office/drawing/2014/main" id="{3F81A0F5-A999-DB90-9ED6-A4524D25EE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7036F6A1-090D-B176-1E81-46DDE7B2974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8CB18DD6-4C33-511C-EA0D-DF2F12BF6C09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752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Image (Right)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E974B86-CC47-E3A9-09B8-71351345FD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41529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2B5D790D-84F2-9DA7-31E1-91ADDEF35E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23C2038-0FB4-8A7A-D4C6-98B3F68964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5D2334D-E13A-AC3B-2B22-2888BA0516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D0B3BE4E-DD1F-327D-F922-BCCAD740366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FF9AF1F3-A435-4D15-F610-AFA97C4D5F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2ABEF0FC-8C0A-945E-EBCF-0BC5FBC7F03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Logo" descr="preencoded.png">
            <a:extLst>
              <a:ext uri="{FF2B5EF4-FFF2-40B4-BE49-F238E27FC236}">
                <a16:creationId xmlns:a16="http://schemas.microsoft.com/office/drawing/2014/main" id="{80390260-133C-0681-21B2-D2E9F604A4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B85A1E9E-DC90-C129-23AC-746952B2304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481374AE-A7AC-BED2-B935-9EABC4ECAB82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488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Image (Right)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E974B86-CC47-E3A9-09B8-71351345FD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41529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2B5D790D-84F2-9DA7-31E1-91ADDEF35E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23C2038-0FB4-8A7A-D4C6-98B3F68964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5D2334D-E13A-AC3B-2B22-2888BA0516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D3F04C5A-5742-1A1E-CA60-840BC18D6CCD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F1EF7B17-BD9C-D0B8-E419-FE329B1E17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E9C19F5F-3594-E4B9-2B41-9F70617EB292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Logo" descr="preencoded.png">
            <a:extLst>
              <a:ext uri="{FF2B5EF4-FFF2-40B4-BE49-F238E27FC236}">
                <a16:creationId xmlns:a16="http://schemas.microsoft.com/office/drawing/2014/main" id="{64A62BC5-D916-2CDD-687A-02DC9B2CDB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F7D263AA-DC77-F7BF-5DD2-83F7187007C8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1A84FD16-9925-85BB-D88F-8228B939FD0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49809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and Image (Right)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BB5D091-BEAD-9C35-8773-E2D117D7C41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41529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A9512FB9-F98A-8E5C-951C-4A2FCA238B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8B8EFC7E-41B7-8AFB-607B-3C302BBCD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2C4CDB26-05C0-90D4-FB52-F7EFA3B2BEA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9632" y="2156037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E2373215-143C-72E4-DB18-24A52224C547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B45CE4DF-8334-6E2C-DEBB-F484F0FCEE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WD Confidential">
            <a:extLst>
              <a:ext uri="{FF2B5EF4-FFF2-40B4-BE49-F238E27FC236}">
                <a16:creationId xmlns:a16="http://schemas.microsoft.com/office/drawing/2014/main" id="{F3FD56E7-5137-4D27-17D4-1DAAC934A15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D3C668C7-7EBC-6523-5D6D-4BFD686EBD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02FD642E-7DD5-F984-6F02-FB443B3A2989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007C6A82-5EEE-266E-329A-D7B3D2F5FD0F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865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Content and Image (Right) Whi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BB5D091-BEAD-9C35-8773-E2D117D7C41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41529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A9512FB9-F98A-8E5C-951C-4A2FCA238B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8B8EFC7E-41B7-8AFB-607B-3C302BBCD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Lorem Ipsum Headline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2C4CDB26-05C0-90D4-FB52-F7EFA3B2BEA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9632" y="2156037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A1754800-D91A-6F1E-1B60-80E239C599E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9A38803D-431A-9E7E-63D7-F4FDCD9CA1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WD Confidential">
            <a:extLst>
              <a:ext uri="{FF2B5EF4-FFF2-40B4-BE49-F238E27FC236}">
                <a16:creationId xmlns:a16="http://schemas.microsoft.com/office/drawing/2014/main" id="{E171678C-25FB-CE95-0F9A-9410318FDB1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046CDC01-57AD-5990-BF86-B1C67DA204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21F94EE5-4DC6-AD54-3F51-84B2F756529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5BC46434-69E9-9B2E-224F-A9E62D3D90D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6477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Reversed) and Image (Left)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E974B86-CC47-E3A9-09B8-71351345FD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51054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5CBFB3-5C63-E76A-81F6-352AF6A96AC7}"/>
              </a:ext>
            </a:extLst>
          </p:cNvPr>
          <p:cNvSpPr/>
          <p:nvPr/>
        </p:nvSpPr>
        <p:spPr>
          <a:xfrm>
            <a:off x="0" y="0"/>
            <a:ext cx="5105400" cy="6858000"/>
          </a:xfrm>
          <a:prstGeom prst="rect">
            <a:avLst/>
          </a:prstGeom>
          <a:gradFill flip="none" rotWithShape="1">
            <a:gsLst>
              <a:gs pos="50000">
                <a:schemeClr val="tx1">
                  <a:alpha val="0"/>
                </a:schemeClr>
              </a:gs>
              <a:gs pos="0">
                <a:schemeClr val="tx1"/>
              </a:gs>
              <a:gs pos="99000">
                <a:schemeClr val="tx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Logo" descr="preencoded.png">
            <a:extLst>
              <a:ext uri="{FF2B5EF4-FFF2-40B4-BE49-F238E27FC236}">
                <a16:creationId xmlns:a16="http://schemas.microsoft.com/office/drawing/2014/main" id="{6F697425-33B5-9D49-D509-9E59F4BC32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D739DB5F-A9FD-67F2-C5EA-D8FA35DDD4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D72B7712-95DC-7639-85F6-0FB9353841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Title Reversed</a:t>
            </a:r>
          </a:p>
        </p:txBody>
      </p:sp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FE7513F5-F1D9-336A-FCDC-4025CC657F1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5467E32F-C75B-80DF-09E8-A08F7B09E1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D6F95B93-2502-5684-FD9E-A3D22721EA1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706484-A416-5A9C-C472-D6312022A665}"/>
              </a:ext>
            </a:extLst>
          </p:cNvPr>
          <p:cNvSpPr/>
          <p:nvPr/>
        </p:nvSpPr>
        <p:spPr>
          <a:xfrm>
            <a:off x="0" y="0"/>
            <a:ext cx="5105400" cy="6858000"/>
          </a:xfrm>
          <a:prstGeom prst="rect">
            <a:avLst/>
          </a:prstGeom>
          <a:gradFill flip="none" rotWithShape="1">
            <a:gsLst>
              <a:gs pos="50000">
                <a:schemeClr val="tx1">
                  <a:alpha val="0"/>
                </a:schemeClr>
              </a:gs>
              <a:gs pos="0">
                <a:schemeClr val="tx1"/>
              </a:gs>
              <a:gs pos="99000">
                <a:schemeClr val="tx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555A276F-F759-FB6A-04DA-F4D16DBB6F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7" name="2026 Western Digital Corporation All rights reserved">
            <a:extLst>
              <a:ext uri="{FF2B5EF4-FFF2-40B4-BE49-F238E27FC236}">
                <a16:creationId xmlns:a16="http://schemas.microsoft.com/office/drawing/2014/main" id="{9AF21BF5-7529-4276-2DDB-82AF2B03FE7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WD Confidential">
            <a:extLst>
              <a:ext uri="{FF2B5EF4-FFF2-40B4-BE49-F238E27FC236}">
                <a16:creationId xmlns:a16="http://schemas.microsoft.com/office/drawing/2014/main" id="{7505C072-7B52-8059-881B-C89763D8F5B1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3539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Reversed) and Image (Left)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E974B86-CC47-E3A9-09B8-71351345FD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51054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5CBFB3-5C63-E76A-81F6-352AF6A96AC7}"/>
              </a:ext>
            </a:extLst>
          </p:cNvPr>
          <p:cNvSpPr/>
          <p:nvPr/>
        </p:nvSpPr>
        <p:spPr>
          <a:xfrm>
            <a:off x="0" y="0"/>
            <a:ext cx="5105400" cy="6858000"/>
          </a:xfrm>
          <a:prstGeom prst="rect">
            <a:avLst/>
          </a:prstGeom>
          <a:gradFill flip="none" rotWithShape="1">
            <a:gsLst>
              <a:gs pos="50000">
                <a:schemeClr val="tx1">
                  <a:alpha val="0"/>
                </a:schemeClr>
              </a:gs>
              <a:gs pos="0">
                <a:schemeClr val="bg1"/>
              </a:gs>
              <a:gs pos="99000">
                <a:schemeClr val="tx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Logo" descr="preencoded.png">
            <a:extLst>
              <a:ext uri="{FF2B5EF4-FFF2-40B4-BE49-F238E27FC236}">
                <a16:creationId xmlns:a16="http://schemas.microsoft.com/office/drawing/2014/main" id="{6F697425-33B5-9D49-D509-9E59F4BC32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D739DB5F-A9FD-67F2-C5EA-D8FA35DDD4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D72B7712-95DC-7639-85F6-0FB9353841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Title Reversed</a:t>
            </a:r>
          </a:p>
        </p:txBody>
      </p:sp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D4CE2AA7-6F6A-715E-2844-FD817473448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4E925586-E1A3-2711-4260-20ACB17F52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F1726C1D-A19D-40D2-D37D-1F82A06C2F31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B1B7FB-4D8B-4E38-6436-CC6A16C22EA7}"/>
              </a:ext>
            </a:extLst>
          </p:cNvPr>
          <p:cNvSpPr/>
          <p:nvPr/>
        </p:nvSpPr>
        <p:spPr>
          <a:xfrm>
            <a:off x="0" y="0"/>
            <a:ext cx="5105400" cy="6858000"/>
          </a:xfrm>
          <a:prstGeom prst="rect">
            <a:avLst/>
          </a:prstGeom>
          <a:gradFill flip="none" rotWithShape="1">
            <a:gsLst>
              <a:gs pos="50000">
                <a:schemeClr val="tx1">
                  <a:alpha val="0"/>
                </a:schemeClr>
              </a:gs>
              <a:gs pos="0">
                <a:schemeClr val="bg1"/>
              </a:gs>
              <a:gs pos="99000">
                <a:schemeClr val="tx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309E1E26-DD20-9126-5608-4FFA1EEC1F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7" name="2026 Western Digital Corporation All rights reserved">
            <a:extLst>
              <a:ext uri="{FF2B5EF4-FFF2-40B4-BE49-F238E27FC236}">
                <a16:creationId xmlns:a16="http://schemas.microsoft.com/office/drawing/2014/main" id="{BF6F5ED3-3984-89F9-F325-CE4CA2867F1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WD Confidential">
            <a:extLst>
              <a:ext uri="{FF2B5EF4-FFF2-40B4-BE49-F238E27FC236}">
                <a16:creationId xmlns:a16="http://schemas.microsoft.com/office/drawing/2014/main" id="{CF57352B-3910-B79A-FFD5-4614EAF3E558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42769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4-Image Grid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83F5FE23-B62A-7209-F6C5-B67C514CECD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39100" y="4565652"/>
            <a:ext cx="2074302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F941C6-2081-0AB0-9116-86BCA188C5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13402" y="4565652"/>
            <a:ext cx="2078598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4FA33BF-F5F6-FB1D-EAC2-F5D76DAC518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2292350"/>
            <a:ext cx="2074302" cy="227965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ECC1E6C9-8423-12CB-5772-49593569DF3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13402" y="2292350"/>
            <a:ext cx="2078598" cy="227965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2826824">
            <a:extLst>
              <a:ext uri="{FF2B5EF4-FFF2-40B4-BE49-F238E27FC236}">
                <a16:creationId xmlns:a16="http://schemas.microsoft.com/office/drawing/2014/main" id="{5EC1BC48-341B-CB94-03C8-5902DE0FAD6B}"/>
              </a:ext>
            </a:extLst>
          </p:cNvPr>
          <p:cNvSpPr/>
          <p:nvPr/>
        </p:nvSpPr>
        <p:spPr>
          <a:xfrm>
            <a:off x="8039100" y="0"/>
            <a:ext cx="4152900" cy="2292350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 sz="1200" b="0" i="0"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1F431622-C5BC-CC47-C470-C077A00D61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915400" y="1112229"/>
            <a:ext cx="1905001" cy="584775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1113" indent="-11113">
              <a:lnSpc>
                <a:spcPct val="100000"/>
              </a:lnSpc>
              <a:buNone/>
              <a:tabLst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14CDBCCB-6E01-8EA8-A691-D8E84C8E908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0B979888-354B-53BF-C7CE-C7976C7F8E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3859070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4-Image Grid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C0753B19-0E94-5E37-B9BD-A749DDE08A37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DA4129A0-2945-A3BA-951C-76C384057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B3471E69-DD52-0CA8-9CE0-38411AD35A3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2826824">
            <a:extLst>
              <a:ext uri="{FF2B5EF4-FFF2-40B4-BE49-F238E27FC236}">
                <a16:creationId xmlns:a16="http://schemas.microsoft.com/office/drawing/2014/main" id="{B9D75063-6B66-B15C-8A29-9A47ADA524CD}"/>
              </a:ext>
            </a:extLst>
          </p:cNvPr>
          <p:cNvSpPr/>
          <p:nvPr/>
        </p:nvSpPr>
        <p:spPr>
          <a:xfrm>
            <a:off x="8039100" y="0"/>
            <a:ext cx="4152900" cy="2292350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 sz="1200" b="0" i="0"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Logo" descr="preencoded.png">
            <a:extLst>
              <a:ext uri="{FF2B5EF4-FFF2-40B4-BE49-F238E27FC236}">
                <a16:creationId xmlns:a16="http://schemas.microsoft.com/office/drawing/2014/main" id="{FD786941-018B-9391-8892-CD974FD2DD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6" name="2026 Western Digital Corporation All rights reserved">
            <a:extLst>
              <a:ext uri="{FF2B5EF4-FFF2-40B4-BE49-F238E27FC236}">
                <a16:creationId xmlns:a16="http://schemas.microsoft.com/office/drawing/2014/main" id="{61EC6AD2-9A10-1C0F-5F19-A738F895296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WD Confidential">
            <a:extLst>
              <a:ext uri="{FF2B5EF4-FFF2-40B4-BE49-F238E27FC236}">
                <a16:creationId xmlns:a16="http://schemas.microsoft.com/office/drawing/2014/main" id="{FE644321-4AE5-C723-97B6-A9C20DE2A99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4483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4-Image Grid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83F5FE23-B62A-7209-F6C5-B67C514CECD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39100" y="4565652"/>
            <a:ext cx="2074302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F941C6-2081-0AB0-9116-86BCA188C5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13402" y="4565652"/>
            <a:ext cx="2078598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4FA33BF-F5F6-FB1D-EAC2-F5D76DAC518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2292350"/>
            <a:ext cx="2074302" cy="227965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ECC1E6C9-8423-12CB-5772-49593569DF3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13402" y="2292350"/>
            <a:ext cx="2078598" cy="227965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2826824">
            <a:extLst>
              <a:ext uri="{FF2B5EF4-FFF2-40B4-BE49-F238E27FC236}">
                <a16:creationId xmlns:a16="http://schemas.microsoft.com/office/drawing/2014/main" id="{5EC1BC48-341B-CB94-03C8-5902DE0FAD6B}"/>
              </a:ext>
            </a:extLst>
          </p:cNvPr>
          <p:cNvSpPr/>
          <p:nvPr/>
        </p:nvSpPr>
        <p:spPr>
          <a:xfrm>
            <a:off x="8039100" y="0"/>
            <a:ext cx="4152900" cy="2292350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 sz="1200" b="0" i="0"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1F431622-C5BC-CC47-C470-C077A00D61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915400" y="1112229"/>
            <a:ext cx="1905001" cy="584775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7938" indent="-7938">
              <a:lnSpc>
                <a:spcPct val="100000"/>
              </a:lnSpc>
              <a:buNone/>
              <a:tabLst/>
              <a:defRPr sz="1600" b="1" i="0" spc="-4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14CDBCCB-6E01-8EA8-A691-D8E84C8E908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0B979888-354B-53BF-C7CE-C7976C7F8E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4-Image Grid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DE66D1A0-6F87-7355-6FB5-EC2E50AF2BF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70795BE5-F45F-97D1-3174-2868FC6628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95D1F8EE-1A0F-2C96-FC1C-4FAAFAF4DD03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2826824">
            <a:extLst>
              <a:ext uri="{FF2B5EF4-FFF2-40B4-BE49-F238E27FC236}">
                <a16:creationId xmlns:a16="http://schemas.microsoft.com/office/drawing/2014/main" id="{AA05BC39-ED99-10F8-D89A-EC43BF57672E}"/>
              </a:ext>
            </a:extLst>
          </p:cNvPr>
          <p:cNvSpPr/>
          <p:nvPr/>
        </p:nvSpPr>
        <p:spPr>
          <a:xfrm>
            <a:off x="8039100" y="0"/>
            <a:ext cx="4152900" cy="2292350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 sz="1200" b="0" i="0"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Logo" descr="preencoded.png">
            <a:extLst>
              <a:ext uri="{FF2B5EF4-FFF2-40B4-BE49-F238E27FC236}">
                <a16:creationId xmlns:a16="http://schemas.microsoft.com/office/drawing/2014/main" id="{F7F990EF-1726-295A-4A45-52C95A7364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6" name="2026 Western Digital Corporation All rights reserved">
            <a:extLst>
              <a:ext uri="{FF2B5EF4-FFF2-40B4-BE49-F238E27FC236}">
                <a16:creationId xmlns:a16="http://schemas.microsoft.com/office/drawing/2014/main" id="{83462151-DDD5-3535-E24C-CACE267D6BE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WD Confidential">
            <a:extLst>
              <a:ext uri="{FF2B5EF4-FFF2-40B4-BE49-F238E27FC236}">
                <a16:creationId xmlns:a16="http://schemas.microsoft.com/office/drawing/2014/main" id="{5200B7ED-7C08-4D33-F9FD-CA07D604611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58322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6-Image Grid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8AC27782-1955-C093-91A2-B66C8851DC8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113402" y="4578924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32620FBD-9C59-F02A-9B9E-AF36773994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39100" y="2279652"/>
            <a:ext cx="2074302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84B0E93E-1612-874F-E295-1E4D1D1FC75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13402" y="2279652"/>
            <a:ext cx="2078598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22C06ADB-D1F7-ABF0-77DE-682B9728EC0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BAF1612D-EB63-F628-E9D5-63240969436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13402" y="0"/>
            <a:ext cx="2078598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CF7665F6-37BC-9BEC-34C4-36347A0FEFC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039100" y="4578924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4" name="Logo" descr="preencoded.png">
            <a:extLst>
              <a:ext uri="{FF2B5EF4-FFF2-40B4-BE49-F238E27FC236}">
                <a16:creationId xmlns:a16="http://schemas.microsoft.com/office/drawing/2014/main" id="{F841EFE1-E224-7CD3-5B8B-CFDCC366F5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984FB51-EB77-2DE4-DD54-69AE510EA9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1C113D96-4D97-155A-FE52-4BCE3F983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6-Image Grid</a:t>
            </a:r>
          </a:p>
        </p:txBody>
      </p:sp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F4FE30AF-42E6-416F-D8D5-C2D0A69F0D2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76035546-B7B7-BDD8-5283-C1931FC9EC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WD Confidential">
            <a:extLst>
              <a:ext uri="{FF2B5EF4-FFF2-40B4-BE49-F238E27FC236}">
                <a16:creationId xmlns:a16="http://schemas.microsoft.com/office/drawing/2014/main" id="{20D1837E-0062-8BF4-A963-96631D55F60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22B2C9AD-1215-CCF0-D5EF-06A7280E95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514C3B8C-41AF-112D-D4B1-46CB0C5B209D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837B7DF5-7F3F-B32B-EB9D-B2EB7EAA2A1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7118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6-Image Grid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72768E50-4F8A-707B-3B64-888A6D28154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113402" y="4578924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0FD63C80-67B9-0E70-C35A-2787A907D48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39100" y="2279652"/>
            <a:ext cx="2074302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BD2881D2-388F-598E-9A93-486A3B3B44C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13402" y="2279652"/>
            <a:ext cx="2078598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13883C4B-3946-CDDE-4891-33FD97E9178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2F7C217B-5411-1407-AB4D-0F331F01DB4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13402" y="0"/>
            <a:ext cx="2078598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5F37DA75-1BBE-A161-11E0-19C5909B0BC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039100" y="4578924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984FB51-EB77-2DE4-DD54-69AE510EA9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1C113D96-4D97-155A-FE52-4BCE3F983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6-Image Grid</a:t>
            </a:r>
          </a:p>
        </p:txBody>
      </p:sp>
      <p:pic>
        <p:nvPicPr>
          <p:cNvPr id="14" name="Logo" descr="preencoded.png">
            <a:extLst>
              <a:ext uri="{FF2B5EF4-FFF2-40B4-BE49-F238E27FC236}">
                <a16:creationId xmlns:a16="http://schemas.microsoft.com/office/drawing/2014/main" id="{F841EFE1-E224-7CD3-5B8B-CFDCC366F5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E1647B93-DF49-D676-AD9E-A527B023EA7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65971A0-9D80-6D26-5302-E6DEB09BE0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9A13EC03-5802-2E73-0FB5-1529BA715D69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D4C6FEE9-13DE-7A58-A374-A3BD460B92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259798D2-7D61-ADA0-D420-E589F19AF9D8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A22FEDC3-FF1E-53BE-215B-64F160804FCF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23840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3-Image Grid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2F7C217B-5411-1407-AB4D-0F331F01DB4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39100" y="0"/>
            <a:ext cx="4152900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72768E50-4F8A-707B-3B64-888A6D28154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043391" y="4572000"/>
            <a:ext cx="4144317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BD2881D2-388F-598E-9A93-486A3B3B44C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039100" y="2279652"/>
            <a:ext cx="4152900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4" name="Logo" descr="preencoded.png">
            <a:extLst>
              <a:ext uri="{FF2B5EF4-FFF2-40B4-BE49-F238E27FC236}">
                <a16:creationId xmlns:a16="http://schemas.microsoft.com/office/drawing/2014/main" id="{F841EFE1-E224-7CD3-5B8B-CFDCC366F5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984FB51-EB77-2DE4-DD54-69AE510EA9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1C113D96-4D97-155A-FE52-4BCE3F983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Sustainability Slide – </a:t>
            </a:r>
            <a:br>
              <a:rPr lang="en-US" dirty="0"/>
            </a:br>
            <a:r>
              <a:rPr lang="en-US" dirty="0"/>
              <a:t>3-Image Grid</a:t>
            </a:r>
          </a:p>
        </p:txBody>
      </p:sp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934001FE-6CE7-D2A2-F053-7C7E3B5E60C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E2CEA27B-D843-86C8-B9D4-1DFBA28F18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99E96AFD-C844-FEE5-4657-6C28E101288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5D0C2D6A-890B-374E-245A-DA8047D3A1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E67ECD0F-F281-264A-E965-FD4F716BADD9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1BF78BF5-76A5-258C-FF14-88CBCE9CC483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9103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3-Image Grid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113423BF-EFE6-1A11-3DD1-E7BAA3F849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39100" y="0"/>
            <a:ext cx="4152900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08CD47F8-4D14-72D0-8929-08E3F009C2B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043391" y="4572000"/>
            <a:ext cx="4144317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2144EC6D-5AE3-AA4B-1CBB-1B2575A065A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039100" y="2279652"/>
            <a:ext cx="4152900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984FB51-EB77-2DE4-DD54-69AE510EA9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1C113D96-4D97-155A-FE52-4BCE3F983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Sustainability Slide – </a:t>
            </a:r>
            <a:br>
              <a:rPr lang="en-US" dirty="0"/>
            </a:br>
            <a:r>
              <a:rPr lang="en-US" dirty="0"/>
              <a:t>3-Image Grid</a:t>
            </a:r>
          </a:p>
        </p:txBody>
      </p:sp>
      <p:pic>
        <p:nvPicPr>
          <p:cNvPr id="14" name="Logo" descr="preencoded.png">
            <a:extLst>
              <a:ext uri="{FF2B5EF4-FFF2-40B4-BE49-F238E27FC236}">
                <a16:creationId xmlns:a16="http://schemas.microsoft.com/office/drawing/2014/main" id="{F841EFE1-E224-7CD3-5B8B-CFDCC366F5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F92D6152-F703-9B45-7540-1A202F967102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DD1F341C-43A2-ACD7-92F2-ED96215B43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WD Confidential">
            <a:extLst>
              <a:ext uri="{FF2B5EF4-FFF2-40B4-BE49-F238E27FC236}">
                <a16:creationId xmlns:a16="http://schemas.microsoft.com/office/drawing/2014/main" id="{396F4B9B-2B50-C576-1387-3B079CC512E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A7EC1E02-BFF5-4B62-9631-07264D97E5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271666FD-2982-EDA5-3BEC-24FF84383FC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ED9ACDD5-3BCF-461A-5341-D50AFB04D5B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6878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Logo" descr="preencoded.png">
            <a:extLst>
              <a:ext uri="{FF2B5EF4-FFF2-40B4-BE49-F238E27FC236}">
                <a16:creationId xmlns:a16="http://schemas.microsoft.com/office/drawing/2014/main" id="{B4B9D2F9-5A96-F925-8611-62C83E7E0F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191A5D5C-7B08-F17B-C598-F8E1EBDFEFA8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53B2D08B-E918-937D-84CA-3D69DDA1FB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FA32F025-C9A1-AED8-7466-9706F9AAAEAD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0392836A-9AE1-683E-6919-75F33F3D17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643AF61C-BF0A-E731-06B9-FD65332AFF26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WD Confidential">
            <a:extLst>
              <a:ext uri="{FF2B5EF4-FFF2-40B4-BE49-F238E27FC236}">
                <a16:creationId xmlns:a16="http://schemas.microsoft.com/office/drawing/2014/main" id="{9DCBD6C5-2DF6-8B2A-E246-81D035C6EE0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9818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Vault Nav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 descr="preencoded.png">
            <a:extLst>
              <a:ext uri="{FF2B5EF4-FFF2-40B4-BE49-F238E27FC236}">
                <a16:creationId xmlns:a16="http://schemas.microsoft.com/office/drawing/2014/main" id="{CFD0F635-23F0-6005-05C6-A8FE4B835A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4" name="2026 Western Digital Corporation All rights reserved">
            <a:extLst>
              <a:ext uri="{FF2B5EF4-FFF2-40B4-BE49-F238E27FC236}">
                <a16:creationId xmlns:a16="http://schemas.microsoft.com/office/drawing/2014/main" id="{461D3CA5-88EF-0328-F997-2E9F47C61B15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EF3A8A3D-06A7-7AF4-7174-E6377F3DE9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69CBEC74-3B8B-056A-05B1-FD71ECD63031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95774346-FC6A-0919-B864-437FAC1F96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90B23A49-61D6-BB6C-7A95-63436DEFB872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BE740E97-D0CA-5B0B-9147-1704AFFA5FB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3241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(Small) Product Featur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F097115-7F61-E8CC-58FF-D9C801520C90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0" y="1951437"/>
            <a:ext cx="8915400" cy="4906563"/>
          </a:xfrm>
          <a:prstGeom prst="rect">
            <a:avLst/>
          </a:prstGeom>
        </p:spPr>
      </p:pic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1396905D-1B87-DFCE-F5F2-3A55043BDE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0A019DC-EDF0-29A1-971C-57AED63E27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F04E1E-B680-F453-BF2D-12E044E4F6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2" y="702407"/>
            <a:ext cx="6670767" cy="665952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Product Feature - Smaller</a:t>
            </a:r>
          </a:p>
        </p:txBody>
      </p:sp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4BCD7F94-D239-A34D-B21B-4D5045EC4B6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92B0277-C163-1361-A328-92DF3A8BB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0C0050B3-421C-437F-A3F6-F63B7B8E054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689375-8AC3-6EB2-9C73-137DC0CA5037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0" y="1951437"/>
            <a:ext cx="8915400" cy="4906563"/>
          </a:xfrm>
          <a:prstGeom prst="rect">
            <a:avLst/>
          </a:prstGeom>
        </p:spPr>
      </p:pic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F490A43A-C064-6271-F562-204A7CF3D6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23D27A07-6E37-2D4E-F9DA-30403603B6E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6335F38C-16ED-D0EE-9A3E-EEF2065015D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88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 Logo Vault Nav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BF542350-7CEC-CEE6-CD80-EC7531D732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59322" y="2836444"/>
            <a:ext cx="4673355" cy="1185111"/>
          </a:xfrm>
          <a:prstGeom prst="rect">
            <a:avLst/>
          </a:prstGeom>
        </p:spPr>
      </p:pic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A960B0CE-69E9-706E-C131-2596DBA61B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59322" y="2836444"/>
            <a:ext cx="4673355" cy="118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950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 Logo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4FBE187C-7342-D67B-D42B-17028FF6E5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30706" y="2628899"/>
            <a:ext cx="5081155" cy="16002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3D98BCAF-7667-31A8-2CA8-FBEC2A4B21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30706" y="2628899"/>
            <a:ext cx="5081155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38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Content and Image (Right)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BB5D091-BEAD-9C35-8773-E2D117D7C41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41529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A9512FB9-F98A-8E5C-951C-4A2FCA238B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8B8EFC7E-41B7-8AFB-607B-3C302BBCD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191095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Lorem Ipsum Headline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2C4CDB26-05C0-90D4-FB52-F7EFA3B2BEA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9632" y="2156037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885B0382-64EB-E2C0-C824-F203D46CD546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0F908C31-FDCA-5B80-F374-F8075AD99B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WD Confidential">
            <a:extLst>
              <a:ext uri="{FF2B5EF4-FFF2-40B4-BE49-F238E27FC236}">
                <a16:creationId xmlns:a16="http://schemas.microsoft.com/office/drawing/2014/main" id="{840A70F8-15E4-7077-46F5-FF5EA83DAF9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0FDB4B0F-D0F6-23BC-F2F1-20DCE6BB63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4C194275-5BCF-7837-A131-9EA072C58D8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3FD18241-2E7F-5BF1-E5FF-AB71CAF78B2D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12895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resentation Title,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D10952D-DE30-6FCD-1C26-B8C1FDB14C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8000" contrast="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5555" t="5555"/>
          <a:stretch>
            <a:fillRect/>
          </a:stretch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444D2225-0B72-F23D-3A3A-862838ED0D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19100" y="419100"/>
            <a:ext cx="1327152" cy="336551"/>
          </a:xfrm>
          <a:prstGeom prst="rect">
            <a:avLst/>
          </a:prstGeo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93BE6416-D41E-422A-CD46-E5463E33AC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725" y="3445344"/>
            <a:ext cx="5718175" cy="2446824"/>
          </a:xfrm>
          <a:prstGeom prst="rect">
            <a:avLst/>
          </a:prstGeom>
        </p:spPr>
        <p:txBody>
          <a:bodyPr wrap="square" lIns="27432" rIns="0" anchor="b">
            <a:spAutoFit/>
          </a:bodyPr>
          <a:lstStyle>
            <a:lvl1pPr>
              <a:lnSpc>
                <a:spcPct val="85000"/>
              </a:lnSpc>
              <a:defRPr sz="6000" b="0" i="0" spc="-17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Name or Title Goes Here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8BB7A67F-CD27-2F0E-FD90-0EFC6E6C0C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944100" y="6218118"/>
            <a:ext cx="1908175" cy="320088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 algn="r">
              <a:buNone/>
              <a:tabLst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Month 2026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42BCA8D2-68CB-4711-404F-19C993424C5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6224274"/>
            <a:ext cx="3811874" cy="313932"/>
          </a:xfrm>
          <a:prstGeom prst="rect">
            <a:avLst/>
          </a:prstGeom>
        </p:spPr>
        <p:txBody>
          <a:bodyPr wrap="square" lIns="73152" rIns="0" anchor="b">
            <a:spAutoFit/>
          </a:bodyPr>
          <a:lstStyle>
            <a:lvl1pPr marL="12700" marR="0" indent="-127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12700" marR="0" lvl="0" indent="-127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Optional subtitle goes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49AD6C-421A-2E3D-F648-B03EEB84FF43}"/>
              </a:ext>
            </a:extLst>
          </p:cNvPr>
          <p:cNvSpPr txBox="1"/>
          <p:nvPr/>
        </p:nvSpPr>
        <p:spPr>
          <a:xfrm>
            <a:off x="14737976" y="-618565"/>
            <a:ext cx="83164" cy="307777"/>
          </a:xfrm>
          <a:prstGeom prst="rect">
            <a:avLst/>
          </a:prstGeom>
        </p:spPr>
        <p:txBody>
          <a:bodyPr spcFirstLastPara="1" wrap="none" lIns="82296" tIns="45720" rIns="0" bIns="45720" rtlCol="0" anchor="t" anchorCtr="0">
            <a:spAutoFit/>
          </a:bodyPr>
          <a:lstStyle/>
          <a:p>
            <a:pPr marL="0" indent="0" algn="l">
              <a:buClr>
                <a:schemeClr val="dk1"/>
              </a:buClr>
              <a:buSzPts val="1100"/>
              <a:buFont typeface="Arial"/>
              <a:buNone/>
            </a:pPr>
            <a:endParaRPr lang="en-US" sz="1400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619006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ivider Signal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oup 197" descr="preencoded.png">
            <a:extLst>
              <a:ext uri="{FF2B5EF4-FFF2-40B4-BE49-F238E27FC236}">
                <a16:creationId xmlns:a16="http://schemas.microsoft.com/office/drawing/2014/main" id="{51A8D2AF-7E0C-0AF4-43D7-6E68396E4D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4718050" cy="6858000"/>
          </a:xfrm>
          <a:prstGeom prst="rect">
            <a:avLst/>
          </a:prstGeom>
        </p:spPr>
      </p:pic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81A6D0E4-19D6-A8B1-AE88-0D5213F7E3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50C5E51-178B-176D-0130-2BE8EFF3DC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2892314"/>
            <a:ext cx="10480767" cy="1073371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D5BD7DCF-7E2A-1192-F4AA-30FB9E8B0299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7C2EB268-A146-B69B-39B1-B0DF171D2FBF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tx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81A61111-DE25-4C61-E0B4-6B599695291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931275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ivider Sync Gree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ttern 8" descr="preencoded.png">
            <a:extLst>
              <a:ext uri="{FF2B5EF4-FFF2-40B4-BE49-F238E27FC236}">
                <a16:creationId xmlns:a16="http://schemas.microsoft.com/office/drawing/2014/main" id="{492EA7CD-5111-530E-136C-AE4F91E2B1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4737100" cy="6858000"/>
          </a:xfrm>
          <a:prstGeom prst="rect">
            <a:avLst/>
          </a:prstGeom>
        </p:spPr>
      </p:pic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3CA8747C-2F9D-A88F-9F56-4F0E69FCC7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9F02862-025A-1C91-8D4A-A286A326F9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2892314"/>
            <a:ext cx="10480767" cy="1073371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7" name="2026 Western Digital Corporation All rights reserved">
            <a:extLst>
              <a:ext uri="{FF2B5EF4-FFF2-40B4-BE49-F238E27FC236}">
                <a16:creationId xmlns:a16="http://schemas.microsoft.com/office/drawing/2014/main" id="{43543C3C-242D-5BA5-F4DC-085A79D21018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7BEF80A2-97B3-E3B6-0390-74CF0FC4FFC8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tx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WD Confidential">
            <a:extLst>
              <a:ext uri="{FF2B5EF4-FFF2-40B4-BE49-F238E27FC236}">
                <a16:creationId xmlns:a16="http://schemas.microsoft.com/office/drawing/2014/main" id="{C851D4AA-FCD6-014E-71EE-98D35FB95ED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41298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Agenda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" name="Title 2">
            <a:extLst>
              <a:ext uri="{FF2B5EF4-FFF2-40B4-BE49-F238E27FC236}">
                <a16:creationId xmlns:a16="http://schemas.microsoft.com/office/drawing/2014/main" id="{E1F49F80-97C1-A66E-2B5D-2D79ECAD15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298" y="334667"/>
            <a:ext cx="7623267" cy="911788"/>
          </a:xfrm>
          <a:prstGeom prst="rect">
            <a:avLst/>
          </a:prstGeom>
        </p:spPr>
        <p:txBody>
          <a:bodyPr wrap="square" lIns="27432" rIns="0">
            <a:spAutoFit/>
          </a:bodyPr>
          <a:lstStyle>
            <a:lvl1pPr>
              <a:lnSpc>
                <a:spcPct val="85000"/>
              </a:lnSpc>
              <a:defRPr sz="6000" b="0" i="0" spc="-17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2" name="2026 Western Digital Corporation All rights reserved">
            <a:extLst>
              <a:ext uri="{FF2B5EF4-FFF2-40B4-BE49-F238E27FC236}">
                <a16:creationId xmlns:a16="http://schemas.microsoft.com/office/drawing/2014/main" id="{B56F9E43-CC60-AD46-0771-B41F30E06271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E2FA0076-C2ED-8AE2-2269-A99AE3C564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WD Confidential">
            <a:extLst>
              <a:ext uri="{FF2B5EF4-FFF2-40B4-BE49-F238E27FC236}">
                <a16:creationId xmlns:a16="http://schemas.microsoft.com/office/drawing/2014/main" id="{A445F926-5EF7-039C-1FEA-3E71860713A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6266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294B6A9-B7FB-A2F8-725C-0C3085265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3473" cy="6858000"/>
          </a:xfrm>
          <a:prstGeom prst="rect">
            <a:avLst/>
          </a:prstGeom>
        </p:spPr>
      </p:pic>
      <p:pic>
        <p:nvPicPr>
          <p:cNvPr id="8" name="Rectangle" descr="preencoded.png">
            <a:extLst>
              <a:ext uri="{FF2B5EF4-FFF2-40B4-BE49-F238E27FC236}">
                <a16:creationId xmlns:a16="http://schemas.microsoft.com/office/drawing/2014/main" id="{9A9E5856-D20D-ACE0-68EA-E4FA4B643E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Logo" descr="preencoded.png">
            <a:extLst>
              <a:ext uri="{FF2B5EF4-FFF2-40B4-BE49-F238E27FC236}">
                <a16:creationId xmlns:a16="http://schemas.microsoft.com/office/drawing/2014/main" id="{9E2799DA-0768-9639-C65E-1ED02F8197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73442" cy="222250"/>
          </a:xfrm>
          <a:prstGeom prst="rect">
            <a:avLst/>
          </a:prstGeom>
        </p:spPr>
      </p:pic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14E6A3D2-A345-D628-2F66-1D46F055FD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6" y="333800"/>
            <a:ext cx="2872160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7CA18611-94F7-7119-2BBD-ED593743CB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1996845"/>
            <a:ext cx="9528175" cy="2171813"/>
          </a:xfrm>
          <a:prstGeom prst="rect">
            <a:avLst/>
          </a:prstGeom>
        </p:spPr>
        <p:txBody>
          <a:bodyPr wrap="square" lIns="27432" rIns="0">
            <a:spAutoFit/>
          </a:bodyPr>
          <a:lstStyle>
            <a:lvl1pPr marL="0" indent="0">
              <a:lnSpc>
                <a:spcPct val="75000"/>
              </a:lnSpc>
              <a:buNone/>
              <a:tabLst/>
              <a:defRPr sz="6000" b="0" i="0" spc="-17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700" indent="0">
              <a:buNone/>
              <a:tabLst/>
              <a:defRPr/>
            </a:lvl2pPr>
          </a:lstStyle>
          <a:p>
            <a:pPr lvl="0"/>
            <a:r>
              <a:rPr lang="en-US" dirty="0" err="1"/>
              <a:t>Neque</a:t>
            </a:r>
            <a:r>
              <a:rPr lang="en-US" dirty="0"/>
              <a:t> porro </a:t>
            </a:r>
            <a:r>
              <a:rPr lang="en-US" dirty="0" err="1"/>
              <a:t>quisquam</a:t>
            </a:r>
            <a:r>
              <a:rPr lang="en-US" dirty="0"/>
              <a:t>  lest, qui </a:t>
            </a:r>
            <a:r>
              <a:rPr lang="en-US" dirty="0" err="1"/>
              <a:t>dolorem</a:t>
            </a:r>
            <a:r>
              <a:rPr lang="en-US" dirty="0"/>
              <a:t> ipsum </a:t>
            </a:r>
            <a:r>
              <a:rPr lang="en-US" dirty="0" err="1"/>
              <a:t>mquia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nconsectetur</a:t>
            </a:r>
            <a:r>
              <a:rPr lang="en-US" dirty="0"/>
              <a:t>.</a:t>
            </a:r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1BAA1096-F8B4-4413-0738-4053B96B614C}"/>
              </a:ext>
            </a:extLst>
          </p:cNvPr>
          <p:cNvSpPr/>
          <p:nvPr/>
        </p:nvSpPr>
        <p:spPr>
          <a:xfrm>
            <a:off x="419100" y="6638989"/>
            <a:ext cx="2805217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0A8ED09C-4867-2EC6-26F9-085BAE7B12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61477" cy="215444"/>
          </a:xfrm>
          <a:prstGeom prst="rect">
            <a:avLst/>
          </a:prstGeom>
        </p:spPr>
        <p:txBody>
          <a:bodyPr vert="horz" wrap="square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WD Confidential">
            <a:extLst>
              <a:ext uri="{FF2B5EF4-FFF2-40B4-BE49-F238E27FC236}">
                <a16:creationId xmlns:a16="http://schemas.microsoft.com/office/drawing/2014/main" id="{7D4CEC89-40AA-1B5B-CE12-440B364A7BA9}"/>
              </a:ext>
            </a:extLst>
          </p:cNvPr>
          <p:cNvSpPr/>
          <p:nvPr/>
        </p:nvSpPr>
        <p:spPr>
          <a:xfrm>
            <a:off x="8991600" y="6638990"/>
            <a:ext cx="1249597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6721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7C55D363-7694-CD53-29C0-725701C95B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541" y="3679"/>
            <a:ext cx="12185459" cy="6854320"/>
          </a:xfrm>
          <a:prstGeom prst="rect">
            <a:avLst/>
          </a:prstGeom>
        </p:spPr>
      </p:pic>
      <p:pic>
        <p:nvPicPr>
          <p:cNvPr id="44" name="Rectangle" descr="preencoded.png">
            <a:extLst>
              <a:ext uri="{FF2B5EF4-FFF2-40B4-BE49-F238E27FC236}">
                <a16:creationId xmlns:a16="http://schemas.microsoft.com/office/drawing/2014/main" id="{93A76456-5A83-44A5-396E-9B6B07335C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-6541" y="21640"/>
            <a:ext cx="12192000" cy="6858000"/>
          </a:xfrm>
          <a:prstGeom prst="rect">
            <a:avLst/>
          </a:prstGeom>
        </p:spPr>
      </p:pic>
      <p:sp>
        <p:nvSpPr>
          <p:cNvPr id="47" name="Title 2">
            <a:extLst>
              <a:ext uri="{FF2B5EF4-FFF2-40B4-BE49-F238E27FC236}">
                <a16:creationId xmlns:a16="http://schemas.microsoft.com/office/drawing/2014/main" id="{F4A4DB78-4158-E9DF-DB03-2DBF85B2F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725" y="2401795"/>
            <a:ext cx="8575674" cy="2097690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 b="0" i="0" spc="-2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Digital </a:t>
            </a:r>
            <a:br>
              <a:rPr lang="en-US" dirty="0"/>
            </a:br>
            <a:r>
              <a:rPr lang="en-US" dirty="0"/>
              <a:t>Campaigns</a:t>
            </a:r>
          </a:p>
        </p:txBody>
      </p:sp>
      <p:pic>
        <p:nvPicPr>
          <p:cNvPr id="49" name="Logo" descr="preencoded.png">
            <a:extLst>
              <a:ext uri="{FF2B5EF4-FFF2-40B4-BE49-F238E27FC236}">
                <a16:creationId xmlns:a16="http://schemas.microsoft.com/office/drawing/2014/main" id="{78EA91C3-11B6-12D0-336F-79203E70EF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00D627A0-30FA-A34F-7E8C-E42A1E8E88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8A6C3D5C-1D46-E951-0EEE-0C4E22F1C309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3AC8F0BD-A374-B680-2814-21AC8F94A83C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bg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8E9AEFF2-5CA9-3547-82F8-27FFCA36DFD7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0211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hap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7C55D363-7694-CD53-29C0-725701C95B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4" name="Rectangle" descr="preencoded.png">
            <a:extLst>
              <a:ext uri="{FF2B5EF4-FFF2-40B4-BE49-F238E27FC236}">
                <a16:creationId xmlns:a16="http://schemas.microsoft.com/office/drawing/2014/main" id="{93A76456-5A83-44A5-396E-9B6B07335C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7" name="Title 2">
            <a:extLst>
              <a:ext uri="{FF2B5EF4-FFF2-40B4-BE49-F238E27FC236}">
                <a16:creationId xmlns:a16="http://schemas.microsoft.com/office/drawing/2014/main" id="{F4A4DB78-4158-E9DF-DB03-2DBF85B2F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725" y="2401795"/>
            <a:ext cx="8575674" cy="2097690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 b="0" i="0" spc="-2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Digital </a:t>
            </a:r>
            <a:br>
              <a:rPr lang="en-US" dirty="0"/>
            </a:br>
            <a:r>
              <a:rPr lang="en-US" dirty="0"/>
              <a:t>Campaigns</a:t>
            </a:r>
          </a:p>
        </p:txBody>
      </p:sp>
      <p:pic>
        <p:nvPicPr>
          <p:cNvPr id="49" name="Logo" descr="preencoded.png">
            <a:extLst>
              <a:ext uri="{FF2B5EF4-FFF2-40B4-BE49-F238E27FC236}">
                <a16:creationId xmlns:a16="http://schemas.microsoft.com/office/drawing/2014/main" id="{78EA91C3-11B6-12D0-336F-79203E70EF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00D627A0-30FA-A34F-7E8C-E42A1E8E88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D363C1E8-5089-B9FA-CE6E-836B104C7897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BF820EF3-2F7F-19FA-D6A9-D73972234C0B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bg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699DF058-C076-F33E-85A6-735C51323807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3320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hap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7C55D363-7694-CD53-29C0-725701C95B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44" name="Rectangle" descr="preencoded.png">
            <a:extLst>
              <a:ext uri="{FF2B5EF4-FFF2-40B4-BE49-F238E27FC236}">
                <a16:creationId xmlns:a16="http://schemas.microsoft.com/office/drawing/2014/main" id="{93A76456-5A83-44A5-396E-9B6B07335C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0" y="21640"/>
            <a:ext cx="12192000" cy="6858000"/>
          </a:xfrm>
          <a:prstGeom prst="rect">
            <a:avLst/>
          </a:prstGeom>
        </p:spPr>
      </p:pic>
      <p:sp>
        <p:nvSpPr>
          <p:cNvPr id="47" name="Title 2">
            <a:extLst>
              <a:ext uri="{FF2B5EF4-FFF2-40B4-BE49-F238E27FC236}">
                <a16:creationId xmlns:a16="http://schemas.microsoft.com/office/drawing/2014/main" id="{F4A4DB78-4158-E9DF-DB03-2DBF85B2F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725" y="2401795"/>
            <a:ext cx="8575674" cy="2097690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 b="0" i="0" spc="-2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Digital </a:t>
            </a:r>
            <a:br>
              <a:rPr lang="en-US" dirty="0"/>
            </a:br>
            <a:r>
              <a:rPr lang="en-US" dirty="0"/>
              <a:t>Campaigns</a:t>
            </a:r>
          </a:p>
        </p:txBody>
      </p:sp>
      <p:pic>
        <p:nvPicPr>
          <p:cNvPr id="49" name="Logo" descr="preencoded.png">
            <a:extLst>
              <a:ext uri="{FF2B5EF4-FFF2-40B4-BE49-F238E27FC236}">
                <a16:creationId xmlns:a16="http://schemas.microsoft.com/office/drawing/2014/main" id="{78EA91C3-11B6-12D0-336F-79203E70EF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00D627A0-30FA-A34F-7E8C-E42A1E8E88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6D8E48EE-FF4E-C7B4-43D5-60E5BCEA561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7099DFAC-E659-27B5-C5E0-9880EB7B67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67FD7E3D-698C-FAF6-DC44-1696CB6F75F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0029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hapt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7C55D363-7694-CD53-29C0-725701C95B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44" name="Rectangle" descr="preencoded.png">
            <a:extLst>
              <a:ext uri="{FF2B5EF4-FFF2-40B4-BE49-F238E27FC236}">
                <a16:creationId xmlns:a16="http://schemas.microsoft.com/office/drawing/2014/main" id="{93A76456-5A83-44A5-396E-9B6B07335C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-1" y="21640"/>
            <a:ext cx="12192000" cy="6858000"/>
          </a:xfrm>
          <a:prstGeom prst="rect">
            <a:avLst/>
          </a:prstGeom>
        </p:spPr>
      </p:pic>
      <p:sp>
        <p:nvSpPr>
          <p:cNvPr id="47" name="Title 2">
            <a:extLst>
              <a:ext uri="{FF2B5EF4-FFF2-40B4-BE49-F238E27FC236}">
                <a16:creationId xmlns:a16="http://schemas.microsoft.com/office/drawing/2014/main" id="{F4A4DB78-4158-E9DF-DB03-2DBF85B2F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725" y="2401795"/>
            <a:ext cx="8575674" cy="2097690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 b="0" i="0" spc="-2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Digital </a:t>
            </a:r>
            <a:br>
              <a:rPr lang="en-US" dirty="0"/>
            </a:br>
            <a:r>
              <a:rPr lang="en-US" dirty="0"/>
              <a:t>Campaigns</a:t>
            </a:r>
          </a:p>
        </p:txBody>
      </p:sp>
      <p:pic>
        <p:nvPicPr>
          <p:cNvPr id="49" name="Logo" descr="preencoded.png">
            <a:extLst>
              <a:ext uri="{FF2B5EF4-FFF2-40B4-BE49-F238E27FC236}">
                <a16:creationId xmlns:a16="http://schemas.microsoft.com/office/drawing/2014/main" id="{78EA91C3-11B6-12D0-336F-79203E70EF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00D627A0-30FA-A34F-7E8C-E42A1E8E88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8638099B-E3D3-6B61-8A6B-303CA6565DE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EEF99012-CB8C-2F7F-43FE-C70F0E28E3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8ACCF60D-6F0F-F771-317A-2FB85FFF752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7893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Quote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B5245493-1A64-E190-69B8-E76153C231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770" b="777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84968157-8C77-7C15-F9B5-A4CC286834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9725" y="5305900"/>
            <a:ext cx="7623175" cy="461665"/>
          </a:xfrm>
          <a:prstGeom prst="rect">
            <a:avLst/>
          </a:prstGeom>
        </p:spPr>
        <p:txBody>
          <a:bodyPr wrap="square" lIns="64008" rIns="0">
            <a:spAutoFit/>
          </a:bodyPr>
          <a:lstStyle>
            <a:lvl1pPr>
              <a:lnSpc>
                <a:spcPct val="100000"/>
              </a:lnSpc>
              <a:buNone/>
              <a:defRPr sz="2400" b="1" i="0" spc="-8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FirstName LastName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6852C012-816F-EC03-EDBA-71402F036E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9726" y="5824740"/>
            <a:ext cx="7641272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0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340C4934-5AC0-53B7-44F3-9390018CF5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7186C779-C1CA-D8EE-397A-BC47222544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1623008"/>
            <a:ext cx="9528175" cy="2920030"/>
          </a:xfrm>
          <a:prstGeom prst="rect">
            <a:avLst/>
          </a:prstGeom>
        </p:spPr>
        <p:txBody>
          <a:bodyPr wrap="square" lIns="27432" rIns="0">
            <a:spAutoFit/>
          </a:bodyPr>
          <a:lstStyle>
            <a:lvl1pPr marL="0" indent="0">
              <a:lnSpc>
                <a:spcPct val="75000"/>
              </a:lnSpc>
              <a:buNone/>
              <a:tabLst/>
              <a:defRPr sz="6000" b="0" i="0" spc="-17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700" indent="0">
              <a:buNone/>
              <a:tabLst/>
              <a:defRPr/>
            </a:lvl2pPr>
          </a:lstStyle>
          <a:p>
            <a:pPr lvl="0"/>
            <a:r>
              <a:rPr lang="en-US" dirty="0"/>
              <a:t>“</a:t>
            </a:r>
            <a:r>
              <a:rPr lang="en-US" dirty="0" err="1"/>
              <a:t>Neque</a:t>
            </a:r>
            <a:r>
              <a:rPr lang="en-US" dirty="0"/>
              <a:t> porro </a:t>
            </a:r>
            <a:r>
              <a:rPr lang="en-US" dirty="0" err="1"/>
              <a:t>quisquam</a:t>
            </a:r>
            <a:r>
              <a:rPr lang="en-US" dirty="0"/>
              <a:t>  lest, qui </a:t>
            </a:r>
            <a:r>
              <a:rPr lang="en-US" dirty="0" err="1"/>
              <a:t>dolorem</a:t>
            </a:r>
            <a:r>
              <a:rPr lang="en-US" dirty="0"/>
              <a:t> ipsum quia dolor sit </a:t>
            </a:r>
            <a:r>
              <a:rPr lang="en-US" dirty="0" err="1"/>
              <a:t>amet</a:t>
            </a:r>
            <a:r>
              <a:rPr lang="en-US" dirty="0"/>
              <a:t>, porro </a:t>
            </a:r>
            <a:r>
              <a:rPr lang="en-US" dirty="0" err="1"/>
              <a:t>quisquam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.”</a:t>
            </a:r>
          </a:p>
        </p:txBody>
      </p:sp>
      <p:pic>
        <p:nvPicPr>
          <p:cNvPr id="9" name="Logo" descr="preencoded.png">
            <a:extLst>
              <a:ext uri="{FF2B5EF4-FFF2-40B4-BE49-F238E27FC236}">
                <a16:creationId xmlns:a16="http://schemas.microsoft.com/office/drawing/2014/main" id="{04C03AE5-8148-BDEF-B92D-5D12D598A0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F50FBA37-7A2D-7DD6-6C01-859714C8BC1D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14F2F370-3FC8-55F0-1609-A5AB3B82F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WD Confidential">
            <a:extLst>
              <a:ext uri="{FF2B5EF4-FFF2-40B4-BE49-F238E27FC236}">
                <a16:creationId xmlns:a16="http://schemas.microsoft.com/office/drawing/2014/main" id="{E025AB58-C3AC-1C01-4DA3-22703B37449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0169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Quote Head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A3A4BF43-FA17-1E78-9155-FF2170E2D98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19100" y="4312598"/>
            <a:ext cx="1421916" cy="1428525"/>
          </a:xfrm>
          <a:prstGeom prst="ellipse">
            <a:avLst/>
          </a:prstGeom>
        </p:spPr>
        <p:txBody>
          <a:bodyPr rIns="0"/>
          <a:lstStyle>
            <a:lvl1pPr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1496A2C0-A45A-F093-4D48-BA745EAF70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47900" y="4566878"/>
            <a:ext cx="6667500" cy="461665"/>
          </a:xfrm>
          <a:prstGeom prst="rect">
            <a:avLst/>
          </a:prstGeom>
        </p:spPr>
        <p:txBody>
          <a:bodyPr wrap="square" lIns="64008" rIns="0">
            <a:spAutoFit/>
          </a:bodyPr>
          <a:lstStyle>
            <a:lvl1pPr>
              <a:lnSpc>
                <a:spcPct val="100000"/>
              </a:lnSpc>
              <a:buNone/>
              <a:defRPr sz="2400" b="1" i="0" spc="-8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FirstName LastName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5267AF25-EB0A-171B-BF9C-CF4006993E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47900" y="5033095"/>
            <a:ext cx="6667500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74D4219E-9330-ADE5-EFCC-3658425C6A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70720526-CAB2-3861-B8E1-2D8E2AB191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1517128"/>
            <a:ext cx="8575675" cy="1764714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 marL="0" indent="0">
              <a:lnSpc>
                <a:spcPct val="85000"/>
              </a:lnSpc>
              <a:buNone/>
              <a:tabLst/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700" indent="0">
              <a:buNone/>
              <a:tabLst/>
              <a:defRPr/>
            </a:lvl2pPr>
          </a:lstStyle>
          <a:p>
            <a:pPr lvl="0"/>
            <a:r>
              <a:rPr lang="en-US" dirty="0"/>
              <a:t>“</a:t>
            </a:r>
            <a:r>
              <a:rPr lang="en-US" dirty="0" err="1"/>
              <a:t>Neque</a:t>
            </a:r>
            <a:r>
              <a:rPr lang="en-US" dirty="0"/>
              <a:t> porro </a:t>
            </a:r>
            <a:r>
              <a:rPr lang="en-US" dirty="0" err="1"/>
              <a:t>quisquam</a:t>
            </a:r>
            <a:r>
              <a:rPr lang="en-US" dirty="0"/>
              <a:t> lest, qui </a:t>
            </a:r>
            <a:r>
              <a:rPr lang="en-US" dirty="0" err="1"/>
              <a:t>dolorem</a:t>
            </a:r>
            <a:r>
              <a:rPr lang="en-US" dirty="0"/>
              <a:t> ipsum quia dolor sit </a:t>
            </a:r>
            <a:r>
              <a:rPr lang="en-US" dirty="0" err="1"/>
              <a:t>amet</a:t>
            </a:r>
            <a:r>
              <a:rPr lang="en-US" dirty="0"/>
              <a:t>, porro </a:t>
            </a:r>
            <a:r>
              <a:rPr lang="en-US" dirty="0" err="1"/>
              <a:t>quisquam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.”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AAEF6174-DF81-F83B-C9AA-28AD5F9BAF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2E0086C7-2F0C-FD95-D8E2-6226CA777A5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E07FA23C-0F4B-8A50-6D21-74042CAC01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AD6554B1-AE61-D38C-BD62-C218B50E399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660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Elevator Pitch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0CB210FC-3307-99B1-72CD-8010E835D9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Elevator Pitch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1F03B5D0-B758-47A1-3768-821FE2623B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1576161"/>
            <a:ext cx="10480675" cy="3938001"/>
          </a:xfrm>
          <a:prstGeom prst="rect">
            <a:avLst/>
          </a:prstGeom>
        </p:spPr>
        <p:txBody>
          <a:bodyPr wrap="square" lIns="45720" rIns="0" anchor="ctr">
            <a:spAutoFit/>
          </a:bodyPr>
          <a:lstStyle>
            <a:lvl1pPr marL="0" indent="0">
              <a:lnSpc>
                <a:spcPct val="85000"/>
              </a:lnSpc>
              <a:buNone/>
              <a:tabLst/>
              <a:defRPr sz="4200" b="0" i="0" spc="-13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700" indent="0">
              <a:buNone/>
              <a:tabLst/>
              <a:defRPr/>
            </a:lvl2pPr>
          </a:lstStyle>
          <a:p>
            <a:pPr lvl="0"/>
            <a:r>
              <a:rPr lang="en-US" dirty="0"/>
              <a:t>WD is the storage foundation for everyone from consumers to cloud, AI, and OEM innovators operating at massive scale.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We drive certainty in the AI era by delivering purpose-built technology across all storage tiers from the data center to the home.</a:t>
            </a: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5B205C2D-29C3-59B4-D732-CF6763F75D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0C65699B-675C-A6DA-6834-E149883EE87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F30AB2D4-9E35-4760-0BDD-94E36B9B84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9CDEB3D1-E656-5D25-5029-59CABDA2239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50099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anifes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BCCFE563-A70F-E61A-800A-421C1912BE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Manifesto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0B1CE00F-0D9C-63DD-95F2-77D1F40633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1223646"/>
            <a:ext cx="8575767" cy="1696618"/>
          </a:xfrm>
          <a:prstGeom prst="rect">
            <a:avLst/>
          </a:prstGeom>
        </p:spPr>
        <p:txBody>
          <a:bodyPr wrap="square" lIns="27432" rIns="0">
            <a:spAutoFit/>
          </a:bodyPr>
          <a:lstStyle>
            <a:lvl1pPr>
              <a:lnSpc>
                <a:spcPct val="85000"/>
              </a:lnSpc>
              <a:defRPr sz="6000" b="0" i="0" spc="-17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WD drives certainty in the AI era.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6077F82-363E-A58F-19D4-34D42BB84F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9632" y="3148174"/>
            <a:ext cx="8575768" cy="1600438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 marL="12700" indent="-12700">
              <a:lnSpc>
                <a:spcPct val="100000"/>
              </a:lnSpc>
              <a:buNone/>
              <a:tabLst/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spc="-30"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defRPr sz="1400" spc="-30">
                <a:solidFill>
                  <a:schemeClr val="tx2"/>
                </a:solidFill>
              </a:defRPr>
            </a:lvl3pPr>
            <a:lvl4pPr>
              <a:lnSpc>
                <a:spcPct val="100000"/>
              </a:lnSpc>
              <a:defRPr sz="1400" spc="-3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defRPr sz="1400" spc="-3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We deliver performance without a premium. Infrastructure to keep pace with your AI models. And purpose-built storage designed for proven capacity, reliability, power-efficiency, and superior TCO.</a:t>
            </a:r>
            <a:br>
              <a:rPr lang="en-US" dirty="0"/>
            </a:br>
            <a:r>
              <a:rPr lang="en-US" dirty="0"/>
              <a:t>Developed through decades of engineering excellence, built on expertise from 40,000+ passionate individuals, and field-validated with customers at hyperscale, our storage technology evolves as your data demands grow.</a:t>
            </a:r>
            <a:br>
              <a:rPr lang="en-US" dirty="0"/>
            </a:br>
            <a:r>
              <a:rPr lang="en-US" dirty="0"/>
              <a:t>Always on. Always ready. Across the world’s largest data centers, at home, and everywhere in-between.</a:t>
            </a:r>
            <a:br>
              <a:rPr lang="en-US" dirty="0"/>
            </a:br>
            <a:r>
              <a:rPr lang="en-US" dirty="0"/>
              <a:t>Innovate with confidence. Scale with certainty.</a:t>
            </a:r>
            <a:br>
              <a:rPr lang="en-US" dirty="0"/>
            </a:br>
            <a:r>
              <a:rPr lang="en-US" dirty="0"/>
              <a:t>Only with WD.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99315058-3B5A-8A91-EE93-D7AC56C885E2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B942D230-5F44-4C6A-579D-EB0103DBE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8ED3B323-AA46-23F8-C142-6D014DD162B1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29829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Subtitle and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CD24FD7F-7349-F1F5-223D-7F65E42A02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1BFF3DBF-B6EF-B5B6-80ED-BD17007411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AF1085EB-B6B3-04CF-7847-B672F38F3F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2AA16F8E-B090-9642-F455-E7BE04B868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90A9618-A5C7-FFFF-717E-ADCB6EA53D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9632" y="2559700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DE871506-8FFF-28E8-C297-BB40956DA7B4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CD5E26EA-FFEC-E257-87F9-03D811537C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EACD8185-4A42-915C-0F2E-EB0FFDF1E503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6518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Subtitle and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CD24FD7F-7349-F1F5-223D-7F65E42A02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1BFF3DBF-B6EF-B5B6-80ED-BD17007411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AF1085EB-B6B3-04CF-7847-B672F38F3F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2AA16F8E-B090-9642-F455-E7BE04B868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Lorem Ipsum Headline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90A9618-A5C7-FFFF-717E-ADCB6EA53D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9632" y="2559700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1E894E91-1ADF-7A36-EBEA-795B7EF9CAF1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EF431CF9-6649-9BA9-2E27-DEF006649F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7AA75334-B0E2-9798-0EAA-428DA461AE37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52619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12F7BBF-9C82-9666-15BB-66D848FA0F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0A2714-C0DF-0C80-9966-02DC68D5F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1CE56D40-6ADB-3A0A-0BDC-D6D00D929BE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9632" y="2156037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0050841B-5735-F2D5-0A78-51AD08F2F75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B811A320-08A4-EF41-715C-69759B0C4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E4D09478-3997-80B6-4C9B-67FA61E8D9B3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1488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12F7BBF-9C82-9666-15BB-66D848FA0F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0A2714-C0DF-0C80-9966-02DC68D5F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1CE56D40-6ADB-3A0A-0BDC-D6D00D929BE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9632" y="2156037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1CED4B45-D08E-55A5-092B-654720B07F2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7E404687-BDF0-09F7-7955-7FED5A0663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8430F890-C0FF-20E6-617A-D6264C712F3D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87023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Subtitle and 2-Column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2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D582C36-F359-A0D2-C216-FDD6A5565C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AA07F6F7-51BC-E719-98A2-B0A5961040EB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077697" y="2555421"/>
            <a:ext cx="4742703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A7E657F-2D84-5BAB-3CF6-E00EFFD7002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555421"/>
            <a:ext cx="4765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0583AAAC-E43F-7CB7-FCF3-DC40FBE10141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0DB9BB98-B022-71CA-6E27-0BC0608AEF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79654493-A604-7DF1-23A3-0683CB24E17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3848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Subtitle and 2-Column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2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D582C36-F359-A0D2-C216-FDD6A5565C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AA07F6F7-51BC-E719-98A2-B0A5961040EB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077697" y="2555421"/>
            <a:ext cx="4742703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A7E657F-2D84-5BAB-3CF6-E00EFFD7002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555421"/>
            <a:ext cx="4765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67323B64-9890-851C-CFCC-80AFAD1995B9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D4C19B1D-4D1D-464C-5A79-5EBBCB96EA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1B1A89FE-9F90-CCDF-AD06-574CC4F8AB3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5276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2-Column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4" y="702407"/>
            <a:ext cx="6670766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31040B13-638F-A6E9-D729-9BB66691EC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223272"/>
            <a:ext cx="4765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993765A-531C-BA41-7134-707041754F96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077697" y="2223272"/>
            <a:ext cx="4742703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892F9820-3B54-5A27-B27A-73753286431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435C9CC-6B67-1112-DF24-9027C982F0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2F5C104B-2EB9-B56A-FFAC-319DA5A82928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4394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2-Column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4" y="702407"/>
            <a:ext cx="6670766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31040B13-638F-A6E9-D729-9BB66691EC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223272"/>
            <a:ext cx="4765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993765A-531C-BA41-7134-707041754F96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077697" y="2223272"/>
            <a:ext cx="4742703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B3A79694-3F78-2EDB-C057-D866EDA8128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23EFA591-69A9-51C7-CD9E-FD0CCCDBD1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9861632B-3A19-FBB2-0EF1-A481FF7D539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23696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Subtitle and 3-Column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D582C36-F359-A0D2-C216-FDD6A5565C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3F1E54E-5BF2-A275-48ED-12E26430CAD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555421"/>
            <a:ext cx="3357840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BE3E7D6-0DDF-2433-3B44-9E5C4144EB4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166347" y="2555421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C7D7AF38-C09F-B2CF-757B-713AA6C51150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966636" y="2555421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FA8F56AB-CFA8-AC73-0BC3-459B01A36185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4FCCFFE2-A4FB-5234-F702-14B579F4BC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F2385D96-F468-4612-0122-FFAF043A2E09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2773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Subtitle and 3-Column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D582C36-F359-A0D2-C216-FDD6A5565C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3F1E54E-5BF2-A275-48ED-12E26430CAD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555421"/>
            <a:ext cx="3357840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BE3E7D6-0DDF-2433-3B44-9E5C4144EB4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166347" y="2555421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C7D7AF38-C09F-B2CF-757B-713AA6C51150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966636" y="2555421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2CC8B5AC-F3AE-E094-B832-73394D434B0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7C940278-C6AD-2BD0-D693-03C926976F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35583BC5-2030-A571-E579-5FC24F25F6C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324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3-Column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3F1E54E-5BF2-A275-48ED-12E26430CAD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155810"/>
            <a:ext cx="3357840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BE3E7D6-0DDF-2433-3B44-9E5C4144EB4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166347" y="2155810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C7D7AF38-C09F-B2CF-757B-713AA6C51150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966636" y="2155810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7AA045E7-A44A-ACB8-AA34-0B261636B89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6F8C4D60-797F-6E5D-28C1-7806C56F6A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E6B9DE43-CB49-B21C-2E2E-7CDE82EDBB6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735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3-Column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3F1E54E-5BF2-A275-48ED-12E26430CAD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155810"/>
            <a:ext cx="3357840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BE3E7D6-0DDF-2433-3B44-9E5C4144EB4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166347" y="2155810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C7D7AF38-C09F-B2CF-757B-713AA6C51150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966636" y="2155810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5276F0D2-32B8-C7AC-B82A-C606D31FC7C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B0239A21-7BB6-C643-D84F-C232D1980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E8759531-8185-454D-6A95-FD805973061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35919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Subtitl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69089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D7CC45D7-1BAA-BAFE-C00D-0F9E4834A4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312" y="1954332"/>
            <a:ext cx="4764088" cy="320088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93BC1FEF-E960-A249-9518-9C3E0D63E880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06D2DC00-EF0F-608A-74EB-8779CB4A16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ABAD58BC-78F9-B4F0-6B65-18C1CDC222D2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1027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Subtitle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69089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D7CC45D7-1BAA-BAFE-C00D-0F9E4834A4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312" y="1954332"/>
            <a:ext cx="4764088" cy="320088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391D50C1-A731-51B6-C715-F0D945EC168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EB91A628-CC27-D7BB-57A2-EF12184D65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DC20F77F-3AA0-4B76-4250-0F2C0B243FF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47386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Subtitle (Right)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or Data Slide Headline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D1A82A6F-B32A-AE87-DB81-26831C56D4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702407"/>
            <a:ext cx="1908175" cy="757130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Optional subtitle or key takeaway goes here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E859BBAB-728B-1AD4-F240-65960E3235E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4FC36E1C-5DDB-DAD1-AE29-676A690FBD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4402B233-F83C-1F9A-4CCF-EBE07534953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3357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and Subtitle (Right)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or Data Slide Headline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D1A82A6F-B32A-AE87-DB81-26831C56D4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702407"/>
            <a:ext cx="1908175" cy="757130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Optional subtitle or key takeaway goes here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1310BAEA-1179-6A57-1C60-48E419B2AF07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BF43CC62-22B1-1062-ACE0-78C1312121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E33C62C1-D9E5-2CF9-079C-6E54F23AA011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21270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78A068A3-D3A0-DA36-A633-EED175D1E6A4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828AEF02-BEDA-1BFA-000F-033EF9D980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C3BE7781-CA5D-312E-8344-92F548C99709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0830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2BE2CD35-6CE7-8F5F-6D39-972D4D561784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06CD89FA-F357-1792-1250-99BC3F2C78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3B1BC62A-5770-272A-7EFA-481370AAF3C8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13535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(Bottom)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3CEFD179-CC6E-7D13-6450-355441A668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11300218-03BC-B777-07DF-B7C3E3BE69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480364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Data Slide – Bottom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B35C2A1F-FA1A-0E07-7768-85DC5F6C03D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13CF05D5-C0B3-2723-D54B-FF1C3E782D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72F0C9EA-888F-73F8-1FAA-2C393839607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2492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(Bottom)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3CEFD179-CC6E-7D13-6450-355441A668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11300218-03BC-B777-07DF-B7C3E3BE69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480364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Data Slide – Bottom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89A23E38-65E7-DD56-B4E5-8586783CF4D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DE448280-606D-19BF-53C0-F94BF2C70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30B9BA75-8CE2-0C9A-0039-48A3A72D41A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15270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Key Takeaway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or Data </a:t>
            </a:r>
            <a:br>
              <a:rPr lang="en-US" dirty="0"/>
            </a:br>
            <a:r>
              <a:rPr lang="en-US" dirty="0"/>
              <a:t>Slide Headline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D7CC45D7-1BAA-BAFE-C00D-0F9E4834A4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312" y="2122728"/>
            <a:ext cx="1908175" cy="757130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Optional subtitle or key takeaway goes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6CF7733-1DE9-9B58-4576-DA0FE39F7D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725" y="5198586"/>
            <a:ext cx="1908175" cy="738664"/>
          </a:xfrm>
          <a:prstGeom prst="rect">
            <a:avLst/>
          </a:prstGeom>
        </p:spPr>
        <p:txBody>
          <a:bodyPr wrap="square" lIns="82296" rIns="0" anchor="b">
            <a:spAutoFit/>
          </a:bodyPr>
          <a:lstStyle>
            <a:lvl1pPr marL="11113" indent="-11113">
              <a:lnSpc>
                <a:spcPct val="100000"/>
              </a:lnSpc>
              <a:buNone/>
              <a:tabLst/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0" dirty="0"/>
              <a:t>Optional additional (less important) text goes here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AABDCA64-0F1C-5EC0-64DA-CD1DEA2EC07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D038555D-587B-01AE-60D5-C9BEFE14E3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3AE7A749-92BC-EB07-E27C-08E0B85EDE4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2396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Key Takeaway Vault Nav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E9939BCF-4926-9BD3-1B08-CD2AABECE2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6A794357-5E34-54F0-6CE0-C841EB3D25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BA867570-91F0-1222-CAE7-9867B2C4A9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or Data </a:t>
            </a:r>
            <a:br>
              <a:rPr lang="en-US" dirty="0"/>
            </a:br>
            <a:r>
              <a:rPr lang="en-US" dirty="0"/>
              <a:t>Slide Headline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97D04FA1-D395-FF10-E1E5-9F29C071F23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312" y="2122728"/>
            <a:ext cx="1908175" cy="757130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Optional subtitle or key takeaway goes here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33D57A1A-BE1A-A50F-BA14-528DE7930ED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725" y="5198586"/>
            <a:ext cx="1908175" cy="738664"/>
          </a:xfrm>
          <a:prstGeom prst="rect">
            <a:avLst/>
          </a:prstGeom>
        </p:spPr>
        <p:txBody>
          <a:bodyPr wrap="square" lIns="82296" rIns="0" anchor="b">
            <a:spAutoFit/>
          </a:bodyPr>
          <a:lstStyle>
            <a:lvl1pPr marL="11113" indent="-11113">
              <a:lnSpc>
                <a:spcPct val="100000"/>
              </a:lnSpc>
              <a:buNone/>
              <a:tabLst/>
              <a:defRPr sz="1400" b="0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0" dirty="0"/>
              <a:t>Optional additional (less important) text goes here</a:t>
            </a:r>
          </a:p>
        </p:txBody>
      </p:sp>
      <p:sp>
        <p:nvSpPr>
          <p:cNvPr id="7" name="2026 Western Digital Corporation All rights reserved">
            <a:extLst>
              <a:ext uri="{FF2B5EF4-FFF2-40B4-BE49-F238E27FC236}">
                <a16:creationId xmlns:a16="http://schemas.microsoft.com/office/drawing/2014/main" id="{C7EA4804-4B5C-6645-4E21-96164F63FEE8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83EDC67A-ECC2-19CB-21C7-7194007B74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WD Confidential">
            <a:extLst>
              <a:ext uri="{FF2B5EF4-FFF2-40B4-BE49-F238E27FC236}">
                <a16:creationId xmlns:a16="http://schemas.microsoft.com/office/drawing/2014/main" id="{F339B6A8-73CC-E170-2B36-716394B6E1E7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444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Image (Right)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E974B86-CC47-E3A9-09B8-71351345FD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41529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2B5D790D-84F2-9DA7-31E1-91ADDEF35E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23C2038-0FB4-8A7A-D4C6-98B3F68964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5D2334D-E13A-AC3B-2B22-2888BA0516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D0B3BE4E-DD1F-327D-F922-BCCAD740366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FF9AF1F3-A435-4D15-F610-AFA97C4D5F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2ABEF0FC-8C0A-945E-EBCF-0BC5FBC7F03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5694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Image (Right)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E974B86-CC47-E3A9-09B8-71351345FD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41529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2B5D790D-84F2-9DA7-31E1-91ADDEF35E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23C2038-0FB4-8A7A-D4C6-98B3F68964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5D2334D-E13A-AC3B-2B22-2888BA0516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D3F04C5A-5742-1A1E-CA60-840BC18D6CCD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F1EF7B17-BD9C-D0B8-E419-FE329B1E17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E9C19F5F-3594-E4B9-2B41-9F70617EB292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0069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, Content and Image (Right)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BB5D091-BEAD-9C35-8773-E2D117D7C41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41529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A9512FB9-F98A-8E5C-951C-4A2FCA238B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8B8EFC7E-41B7-8AFB-607B-3C302BBCD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2C4CDB26-05C0-90D4-FB52-F7EFA3B2BEA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9632" y="2156037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E2373215-143C-72E4-DB18-24A52224C547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B45CE4DF-8334-6E2C-DEBB-F484F0FCEE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WD Confidential">
            <a:extLst>
              <a:ext uri="{FF2B5EF4-FFF2-40B4-BE49-F238E27FC236}">
                <a16:creationId xmlns:a16="http://schemas.microsoft.com/office/drawing/2014/main" id="{F3FD56E7-5137-4D27-17D4-1DAAC934A15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6008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, Content and Image (Right) Whi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BB5D091-BEAD-9C35-8773-E2D117D7C41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41529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A9512FB9-F98A-8E5C-951C-4A2FCA238B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8B8EFC7E-41B7-8AFB-607B-3C302BBCD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Lorem Ipsum Headline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2C4CDB26-05C0-90D4-FB52-F7EFA3B2BEA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9632" y="2156037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A1754800-D91A-6F1E-1B60-80E239C599E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9A38803D-431A-9E7E-63D7-F4FDCD9CA1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WD Confidential">
            <a:extLst>
              <a:ext uri="{FF2B5EF4-FFF2-40B4-BE49-F238E27FC236}">
                <a16:creationId xmlns:a16="http://schemas.microsoft.com/office/drawing/2014/main" id="{E171678C-25FB-CE95-0F9A-9410318FDB1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56571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Reversed) and Image (Left)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E974B86-CC47-E3A9-09B8-71351345FD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51054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5CBFB3-5C63-E76A-81F6-352AF6A96AC7}"/>
              </a:ext>
            </a:extLst>
          </p:cNvPr>
          <p:cNvSpPr/>
          <p:nvPr/>
        </p:nvSpPr>
        <p:spPr>
          <a:xfrm>
            <a:off x="0" y="0"/>
            <a:ext cx="5105400" cy="6858000"/>
          </a:xfrm>
          <a:prstGeom prst="rect">
            <a:avLst/>
          </a:prstGeom>
          <a:gradFill flip="none" rotWithShape="1">
            <a:gsLst>
              <a:gs pos="50000">
                <a:schemeClr val="tx1">
                  <a:alpha val="0"/>
                </a:schemeClr>
              </a:gs>
              <a:gs pos="0">
                <a:schemeClr val="tx1"/>
              </a:gs>
              <a:gs pos="99000">
                <a:schemeClr val="tx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Logo" descr="preencoded.png">
            <a:extLst>
              <a:ext uri="{FF2B5EF4-FFF2-40B4-BE49-F238E27FC236}">
                <a16:creationId xmlns:a16="http://schemas.microsoft.com/office/drawing/2014/main" id="{6F697425-33B5-9D49-D509-9E59F4BC32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D739DB5F-A9FD-67F2-C5EA-D8FA35DDD4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D72B7712-95DC-7639-85F6-0FB9353841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Title Reversed</a:t>
            </a:r>
          </a:p>
        </p:txBody>
      </p:sp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FE7513F5-F1D9-336A-FCDC-4025CC657F1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5467E32F-C75B-80DF-09E8-A08F7B09E1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D6F95B93-2502-5684-FD9E-A3D22721EA1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670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Reversed) and Image (Left)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E974B86-CC47-E3A9-09B8-71351345FD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51054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5CBFB3-5C63-E76A-81F6-352AF6A96AC7}"/>
              </a:ext>
            </a:extLst>
          </p:cNvPr>
          <p:cNvSpPr/>
          <p:nvPr/>
        </p:nvSpPr>
        <p:spPr>
          <a:xfrm>
            <a:off x="0" y="0"/>
            <a:ext cx="5105400" cy="6858000"/>
          </a:xfrm>
          <a:prstGeom prst="rect">
            <a:avLst/>
          </a:prstGeom>
          <a:gradFill flip="none" rotWithShape="1">
            <a:gsLst>
              <a:gs pos="50000">
                <a:schemeClr val="tx1">
                  <a:alpha val="0"/>
                </a:schemeClr>
              </a:gs>
              <a:gs pos="0">
                <a:schemeClr val="bg1"/>
              </a:gs>
              <a:gs pos="99000">
                <a:schemeClr val="tx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Logo" descr="preencoded.png">
            <a:extLst>
              <a:ext uri="{FF2B5EF4-FFF2-40B4-BE49-F238E27FC236}">
                <a16:creationId xmlns:a16="http://schemas.microsoft.com/office/drawing/2014/main" id="{6F697425-33B5-9D49-D509-9E59F4BC32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D739DB5F-A9FD-67F2-C5EA-D8FA35DDD4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D72B7712-95DC-7639-85F6-0FB9353841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Title Reversed</a:t>
            </a:r>
          </a:p>
        </p:txBody>
      </p:sp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D4CE2AA7-6F6A-715E-2844-FD817473448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4E925586-E1A3-2711-4260-20ACB17F52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F1726C1D-A19D-40D2-D37D-1F82A06C2F31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02533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4-Image Grid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83F5FE23-B62A-7209-F6C5-B67C514CECD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39100" y="4565652"/>
            <a:ext cx="2074302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F941C6-2081-0AB0-9116-86BCA188C5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13402" y="4565652"/>
            <a:ext cx="2078598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4FA33BF-F5F6-FB1D-EAC2-F5D76DAC518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2292350"/>
            <a:ext cx="2074302" cy="227965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ECC1E6C9-8423-12CB-5772-49593569DF3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13402" y="2292350"/>
            <a:ext cx="2078598" cy="227965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2826824">
            <a:extLst>
              <a:ext uri="{FF2B5EF4-FFF2-40B4-BE49-F238E27FC236}">
                <a16:creationId xmlns:a16="http://schemas.microsoft.com/office/drawing/2014/main" id="{5EC1BC48-341B-CB94-03C8-5902DE0FAD6B}"/>
              </a:ext>
            </a:extLst>
          </p:cNvPr>
          <p:cNvSpPr/>
          <p:nvPr/>
        </p:nvSpPr>
        <p:spPr>
          <a:xfrm>
            <a:off x="8039100" y="0"/>
            <a:ext cx="4152900" cy="2292350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 sz="1200" b="0" i="0"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1F431622-C5BC-CC47-C470-C077A00D61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915400" y="1112229"/>
            <a:ext cx="1905001" cy="584775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1113" indent="-11113">
              <a:lnSpc>
                <a:spcPct val="100000"/>
              </a:lnSpc>
              <a:buNone/>
              <a:tabLst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14CDBCCB-6E01-8EA8-A691-D8E84C8E908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0B979888-354B-53BF-C7CE-C7976C7F8E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3859070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4-Image Grid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C0753B19-0E94-5E37-B9BD-A749DDE08A37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DA4129A0-2945-A3BA-951C-76C384057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B3471E69-DD52-0CA8-9CE0-38411AD35A3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7570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4-Image Grid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83F5FE23-B62A-7209-F6C5-B67C514CECD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39100" y="4565652"/>
            <a:ext cx="2074302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F941C6-2081-0AB0-9116-86BCA188C5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13402" y="4565652"/>
            <a:ext cx="2078598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4FA33BF-F5F6-FB1D-EAC2-F5D76DAC518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2292350"/>
            <a:ext cx="2074302" cy="227965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ECC1E6C9-8423-12CB-5772-49593569DF3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13402" y="2292350"/>
            <a:ext cx="2078598" cy="227965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2826824">
            <a:extLst>
              <a:ext uri="{FF2B5EF4-FFF2-40B4-BE49-F238E27FC236}">
                <a16:creationId xmlns:a16="http://schemas.microsoft.com/office/drawing/2014/main" id="{5EC1BC48-341B-CB94-03C8-5902DE0FAD6B}"/>
              </a:ext>
            </a:extLst>
          </p:cNvPr>
          <p:cNvSpPr/>
          <p:nvPr/>
        </p:nvSpPr>
        <p:spPr>
          <a:xfrm>
            <a:off x="8039100" y="0"/>
            <a:ext cx="4152900" cy="2292350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 sz="1200" b="0" i="0"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1F431622-C5BC-CC47-C470-C077A00D61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915400" y="1112229"/>
            <a:ext cx="1905001" cy="584775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7938" indent="-7938">
              <a:lnSpc>
                <a:spcPct val="100000"/>
              </a:lnSpc>
              <a:buNone/>
              <a:tabLst/>
              <a:defRPr sz="1600" b="1" i="0" spc="-4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14CDBCCB-6E01-8EA8-A691-D8E84C8E908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0B979888-354B-53BF-C7CE-C7976C7F8E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4-Image Grid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DE66D1A0-6F87-7355-6FB5-EC2E50AF2BF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70795BE5-F45F-97D1-3174-2868FC6628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95D1F8EE-1A0F-2C96-FC1C-4FAAFAF4DD03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18748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6-Image Grid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8AC27782-1955-C093-91A2-B66C8851DC8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113402" y="4578924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32620FBD-9C59-F02A-9B9E-AF36773994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39100" y="2279652"/>
            <a:ext cx="2074302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84B0E93E-1612-874F-E295-1E4D1D1FC75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13402" y="2279652"/>
            <a:ext cx="2078598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22C06ADB-D1F7-ABF0-77DE-682B9728EC0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BAF1612D-EB63-F628-E9D5-63240969436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13402" y="0"/>
            <a:ext cx="2078598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CF7665F6-37BC-9BEC-34C4-36347A0FEFC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039100" y="4578924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4" name="Logo" descr="preencoded.png">
            <a:extLst>
              <a:ext uri="{FF2B5EF4-FFF2-40B4-BE49-F238E27FC236}">
                <a16:creationId xmlns:a16="http://schemas.microsoft.com/office/drawing/2014/main" id="{F841EFE1-E224-7CD3-5B8B-CFDCC366F5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984FB51-EB77-2DE4-DD54-69AE510EA9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1C113D96-4D97-155A-FE52-4BCE3F983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6-Image Grid</a:t>
            </a:r>
          </a:p>
        </p:txBody>
      </p:sp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F4FE30AF-42E6-416F-D8D5-C2D0A69F0D2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76035546-B7B7-BDD8-5283-C1931FC9EC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WD Confidential">
            <a:extLst>
              <a:ext uri="{FF2B5EF4-FFF2-40B4-BE49-F238E27FC236}">
                <a16:creationId xmlns:a16="http://schemas.microsoft.com/office/drawing/2014/main" id="{20D1837E-0062-8BF4-A963-96631D55F60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4217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6-Image Grid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72768E50-4F8A-707B-3B64-888A6D28154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113402" y="4578924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0FD63C80-67B9-0E70-C35A-2787A907D48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39100" y="2279652"/>
            <a:ext cx="2074302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BD2881D2-388F-598E-9A93-486A3B3B44C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13402" y="2279652"/>
            <a:ext cx="2078598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13883C4B-3946-CDDE-4891-33FD97E9178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2F7C217B-5411-1407-AB4D-0F331F01DB4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13402" y="0"/>
            <a:ext cx="2078598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5F37DA75-1BBE-A161-11E0-19C5909B0BC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039100" y="4578924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984FB51-EB77-2DE4-DD54-69AE510EA9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1C113D96-4D97-155A-FE52-4BCE3F983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6-Image Grid</a:t>
            </a:r>
          </a:p>
        </p:txBody>
      </p:sp>
      <p:pic>
        <p:nvPicPr>
          <p:cNvPr id="14" name="Logo" descr="preencoded.png">
            <a:extLst>
              <a:ext uri="{FF2B5EF4-FFF2-40B4-BE49-F238E27FC236}">
                <a16:creationId xmlns:a16="http://schemas.microsoft.com/office/drawing/2014/main" id="{F841EFE1-E224-7CD3-5B8B-CFDCC366F5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E1647B93-DF49-D676-AD9E-A527B023EA7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65971A0-9D80-6D26-5302-E6DEB09BE0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9A13EC03-5802-2E73-0FB5-1529BA715D69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62013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3-Image Grid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2F7C217B-5411-1407-AB4D-0F331F01DB4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39100" y="0"/>
            <a:ext cx="4152900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72768E50-4F8A-707B-3B64-888A6D28154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043391" y="4572000"/>
            <a:ext cx="4144317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BD2881D2-388F-598E-9A93-486A3B3B44C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039100" y="2279652"/>
            <a:ext cx="4152900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4" name="Logo" descr="preencoded.png">
            <a:extLst>
              <a:ext uri="{FF2B5EF4-FFF2-40B4-BE49-F238E27FC236}">
                <a16:creationId xmlns:a16="http://schemas.microsoft.com/office/drawing/2014/main" id="{F841EFE1-E224-7CD3-5B8B-CFDCC366F5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984FB51-EB77-2DE4-DD54-69AE510EA9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1C113D96-4D97-155A-FE52-4BCE3F983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Sustainability Slide – </a:t>
            </a:r>
            <a:br>
              <a:rPr lang="en-US" dirty="0"/>
            </a:br>
            <a:r>
              <a:rPr lang="en-US" dirty="0"/>
              <a:t>3-Image Grid</a:t>
            </a:r>
          </a:p>
        </p:txBody>
      </p:sp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934001FE-6CE7-D2A2-F053-7C7E3B5E60C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E2CEA27B-D843-86C8-B9D4-1DFBA28F18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99E96AFD-C844-FEE5-4657-6C28E101288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094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3-Image Grid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113423BF-EFE6-1A11-3DD1-E7BAA3F849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39100" y="0"/>
            <a:ext cx="4152900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08CD47F8-4D14-72D0-8929-08E3F009C2B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043391" y="4572000"/>
            <a:ext cx="4144317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2144EC6D-5AE3-AA4B-1CBB-1B2575A065A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039100" y="2279652"/>
            <a:ext cx="4152900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984FB51-EB77-2DE4-DD54-69AE510EA9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1C113D96-4D97-155A-FE52-4BCE3F983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Sustainability Slide – </a:t>
            </a:r>
            <a:br>
              <a:rPr lang="en-US" dirty="0"/>
            </a:br>
            <a:r>
              <a:rPr lang="en-US" dirty="0"/>
              <a:t>3-Image Grid</a:t>
            </a:r>
          </a:p>
        </p:txBody>
      </p:sp>
      <p:pic>
        <p:nvPicPr>
          <p:cNvPr id="14" name="Logo" descr="preencoded.png">
            <a:extLst>
              <a:ext uri="{FF2B5EF4-FFF2-40B4-BE49-F238E27FC236}">
                <a16:creationId xmlns:a16="http://schemas.microsoft.com/office/drawing/2014/main" id="{F841EFE1-E224-7CD3-5B8B-CFDCC366F5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F92D6152-F703-9B45-7540-1A202F967102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DD1F341C-43A2-ACD7-92F2-ED96215B43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WD Confidential">
            <a:extLst>
              <a:ext uri="{FF2B5EF4-FFF2-40B4-BE49-F238E27FC236}">
                <a16:creationId xmlns:a16="http://schemas.microsoft.com/office/drawing/2014/main" id="{396F4B9B-2B50-C576-1387-3B079CC512E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65574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Logo" descr="preencoded.png">
            <a:extLst>
              <a:ext uri="{FF2B5EF4-FFF2-40B4-BE49-F238E27FC236}">
                <a16:creationId xmlns:a16="http://schemas.microsoft.com/office/drawing/2014/main" id="{B4B9D2F9-5A96-F925-8611-62C83E7E0F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191A5D5C-7B08-F17B-C598-F8E1EBDFEFA8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53B2D08B-E918-937D-84CA-3D69DDA1FB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FA32F025-C9A1-AED8-7466-9706F9AAAEAD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384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 Vault Nav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 descr="preencoded.png">
            <a:extLst>
              <a:ext uri="{FF2B5EF4-FFF2-40B4-BE49-F238E27FC236}">
                <a16:creationId xmlns:a16="http://schemas.microsoft.com/office/drawing/2014/main" id="{CFD0F635-23F0-6005-05C6-A8FE4B835A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4" name="2026 Western Digital Corporation All rights reserved">
            <a:extLst>
              <a:ext uri="{FF2B5EF4-FFF2-40B4-BE49-F238E27FC236}">
                <a16:creationId xmlns:a16="http://schemas.microsoft.com/office/drawing/2014/main" id="{461D3CA5-88EF-0328-F997-2E9F47C61B15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EF3A8A3D-06A7-7AF4-7174-E6377F3DE9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69CBEC74-3B8B-056A-05B1-FD71ECD63031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7210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(Small) Product Featur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F097115-7F61-E8CC-58FF-D9C801520C90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0" y="1951437"/>
            <a:ext cx="8915400" cy="4906563"/>
          </a:xfrm>
          <a:prstGeom prst="rect">
            <a:avLst/>
          </a:prstGeom>
        </p:spPr>
      </p:pic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1396905D-1B87-DFCE-F5F2-3A55043BDE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0A019DC-EDF0-29A1-971C-57AED63E27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F04E1E-B680-F453-BF2D-12E044E4F6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2" y="702407"/>
            <a:ext cx="6670767" cy="665952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Product Feature - Smaller</a:t>
            </a:r>
          </a:p>
        </p:txBody>
      </p:sp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4BCD7F94-D239-A34D-B21B-4D5045EC4B6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92B0277-C163-1361-A328-92DF3A8BB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0C0050B3-421C-437F-A3F6-F63B7B8E054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9267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losing Slide Logo Vault Nav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BF542350-7CEC-CEE6-CD80-EC7531D732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59322" y="2836444"/>
            <a:ext cx="4673355" cy="118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605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losing Slide Logo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4FBE187C-7342-D67B-D42B-17028FF6E5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30706" y="2628899"/>
            <a:ext cx="5081155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78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, Content and Image (Right)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BB5D091-BEAD-9C35-8773-E2D117D7C41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41529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A9512FB9-F98A-8E5C-951C-4A2FCA238B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8B8EFC7E-41B7-8AFB-607B-3C302BBCD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191095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Lorem Ipsum Headline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2C4CDB26-05C0-90D4-FB52-F7EFA3B2BEA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9632" y="2156037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885B0382-64EB-E2C0-C824-F203D46CD546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0F908C31-FDCA-5B80-F374-F8075AD99B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WD Confidential">
            <a:extLst>
              <a:ext uri="{FF2B5EF4-FFF2-40B4-BE49-F238E27FC236}">
                <a16:creationId xmlns:a16="http://schemas.microsoft.com/office/drawing/2014/main" id="{840A70F8-15E4-7077-46F5-FF5EA83DAF9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30988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7E2DD-39EB-6F14-53F0-36CA56E93C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6BC7AE-1CAD-1819-1135-BC8F925C1A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1DE84-655A-CC43-8010-AE80D02D2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5640E-9FFF-4CBB-BB82-6DC04795C58D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5B6AB-451B-781D-1DDD-6746219FE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D5DA29-AD02-FC6F-23A4-41A81EF46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6475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slideLayout" Target="../slideLayouts/slideLayout71.xml"/><Relationship Id="rId72" Type="http://schemas.openxmlformats.org/officeDocument/2006/relationships/slideLayout" Target="../slideLayouts/slideLayout72.xml"/><Relationship Id="rId73" Type="http://schemas.openxmlformats.org/officeDocument/2006/relationships/slideLayout" Target="../slideLayouts/slideLayout73.xml"/><Relationship Id="rId74" Type="http://schemas.openxmlformats.org/officeDocument/2006/relationships/slideLayout" Target="../slideLayouts/slideLayout74.xml"/><Relationship Id="rId75" Type="http://schemas.openxmlformats.org/officeDocument/2006/relationships/slideLayout" Target="../slideLayouts/slideLayout75.xml"/><Relationship Id="rId76" Type="http://schemas.openxmlformats.org/officeDocument/2006/relationships/slideLayout" Target="../slideLayouts/slideLayout76.xml"/><Relationship Id="rId77" Type="http://schemas.openxmlformats.org/officeDocument/2006/relationships/slideLayout" Target="../slideLayouts/slideLayout77.xml"/><Relationship Id="rId78" Type="http://schemas.openxmlformats.org/officeDocument/2006/relationships/slideLayout" Target="../slideLayouts/slideLayout78.xml"/><Relationship Id="rId79" Type="http://schemas.openxmlformats.org/officeDocument/2006/relationships/slideLayout" Target="../slideLayouts/slideLayout79.xml"/><Relationship Id="rId80" Type="http://schemas.openxmlformats.org/officeDocument/2006/relationships/slideLayout" Target="../slideLayouts/slideLayout80.xml"/><Relationship Id="rId81" Type="http://schemas.openxmlformats.org/officeDocument/2006/relationships/slideLayout" Target="../slideLayouts/slideLayout81.xml"/><Relationship Id="rId82" Type="http://schemas.openxmlformats.org/officeDocument/2006/relationships/slideLayout" Target="../slideLayouts/slideLayout82.xml"/><Relationship Id="rId83" Type="http://schemas.openxmlformats.org/officeDocument/2006/relationships/slideLayout" Target="../slideLayouts/slideLayout83.xml"/><Relationship Id="rId84" Type="http://schemas.openxmlformats.org/officeDocument/2006/relationships/slideLayout" Target="../slideLayouts/slideLayout84.xml"/><Relationship Id="rId85" Type="http://schemas.openxmlformats.org/officeDocument/2006/relationships/slideLayout" Target="../slideLayouts/slideLayout85.xml"/><Relationship Id="rId86" Type="http://schemas.openxmlformats.org/officeDocument/2006/relationships/slideLayout" Target="../slideLayouts/slideLayout86.xml"/><Relationship Id="rId87" Type="http://schemas.openxmlformats.org/officeDocument/2006/relationships/slideLayout" Target="../slideLayouts/slideLayout87.xml"/><Relationship Id="rId88" Type="http://schemas.openxmlformats.org/officeDocument/2006/relationships/slideLayout" Target="../slideLayouts/slideLayout88.xml"/><Relationship Id="rId89" Type="http://schemas.openxmlformats.org/officeDocument/2006/relationships/slideLayout" Target="../slideLayouts/slideLayout89.xml"/><Relationship Id="rId90" Type="http://schemas.openxmlformats.org/officeDocument/2006/relationships/slideLayout" Target="../slideLayouts/slideLayout90.xml"/><Relationship Id="rId91" Type="http://schemas.openxmlformats.org/officeDocument/2006/relationships/slideLayout" Target="../slideLayouts/slideLayout91.xml"/><Relationship Id="rId92" Type="http://schemas.openxmlformats.org/officeDocument/2006/relationships/slideLayout" Target="../slideLayouts/slideLayout92.xml"/><Relationship Id="rId93" Type="http://schemas.openxmlformats.org/officeDocument/2006/relationships/slideLayout" Target="../slideLayouts/slideLayout93.xml"/><Relationship Id="rId94" Type="http://schemas.openxmlformats.org/officeDocument/2006/relationships/slideLayout" Target="../slideLayouts/slideLayout94.xml"/><Relationship Id="rId95" Type="http://schemas.openxmlformats.org/officeDocument/2006/relationships/slideLayout" Target="../slideLayouts/slideLayout95.xml"/><Relationship Id="rId96" Type="http://schemas.openxmlformats.org/officeDocument/2006/relationships/slideLayout" Target="../slideLayouts/slideLayout96.xml"/><Relationship Id="rId97" Type="http://schemas.openxmlformats.org/officeDocument/2006/relationships/slideLayout" Target="../slideLayouts/slideLayout97.xml"/><Relationship Id="rId98" Type="http://schemas.openxmlformats.org/officeDocument/2006/relationships/slideLayout" Target="../slideLayouts/slideLayout98.xml"/><Relationship Id="rId99" Type="http://schemas.openxmlformats.org/officeDocument/2006/relationships/slideLayout" Target="../slideLayouts/slideLayout99.xml"/><Relationship Id="rId100" Type="http://schemas.openxmlformats.org/officeDocument/2006/relationships/slideLayout" Target="../slideLayouts/slideLayout100.xml"/><Relationship Id="rId101" Type="http://schemas.openxmlformats.org/officeDocument/2006/relationships/slideLayout" Target="../slideLayouts/slideLayout101.xml"/><Relationship Id="rId102" Type="http://schemas.openxmlformats.org/officeDocument/2006/relationships/slideLayout" Target="../slideLayouts/slideLayout102.xml"/><Relationship Id="rId103" Type="http://schemas.openxmlformats.org/officeDocument/2006/relationships/slideLayout" Target="../slideLayouts/slideLayout103.xml"/><Relationship Id="rId104" Type="http://schemas.openxmlformats.org/officeDocument/2006/relationships/slideLayout" Target="../slideLayouts/slideLayout104.xml"/><Relationship Id="rId105" Type="http://schemas.openxmlformats.org/officeDocument/2006/relationships/slideLayout" Target="../slideLayouts/slideLayout105.xml"/><Relationship Id="rId106" Type="http://schemas.openxmlformats.org/officeDocument/2006/relationships/slideLayout" Target="../slideLayouts/slideLayout106.xml"/><Relationship Id="rId107" Type="http://schemas.openxmlformats.org/officeDocument/2006/relationships/slideLayout" Target="../slideLayouts/slideLayout107.xml"/><Relationship Id="rId10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64F0F728-9286-1DF2-1258-099E58F6EE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51939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149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  <p:sldLayoutId id="2147483732" r:id="rId72"/>
    <p:sldLayoutId id="2147483733" r:id="rId73"/>
    <p:sldLayoutId id="2147483734" r:id="rId74"/>
    <p:sldLayoutId id="2147483735" r:id="rId75"/>
    <p:sldLayoutId id="2147483736" r:id="rId76"/>
    <p:sldLayoutId id="2147483737" r:id="rId77"/>
    <p:sldLayoutId id="2147483738" r:id="rId78"/>
    <p:sldLayoutId id="2147483739" r:id="rId79"/>
    <p:sldLayoutId id="2147483740" r:id="rId80"/>
    <p:sldLayoutId id="2147483741" r:id="rId81"/>
    <p:sldLayoutId id="2147483742" r:id="rId82"/>
    <p:sldLayoutId id="2147483743" r:id="rId83"/>
    <p:sldLayoutId id="2147483744" r:id="rId84"/>
    <p:sldLayoutId id="2147483745" r:id="rId85"/>
    <p:sldLayoutId id="2147483746" r:id="rId86"/>
    <p:sldLayoutId id="2147483747" r:id="rId87"/>
    <p:sldLayoutId id="2147483748" r:id="rId88"/>
    <p:sldLayoutId id="2147483749" r:id="rId89"/>
    <p:sldLayoutId id="2147483750" r:id="rId90"/>
    <p:sldLayoutId id="2147483751" r:id="rId91"/>
    <p:sldLayoutId id="2147483752" r:id="rId92"/>
    <p:sldLayoutId id="2147483753" r:id="rId93"/>
    <p:sldLayoutId id="2147483754" r:id="rId94"/>
    <p:sldLayoutId id="2147483755" r:id="rId95"/>
    <p:sldLayoutId id="2147483756" r:id="rId96"/>
    <p:sldLayoutId id="2147483757" r:id="rId97"/>
    <p:sldLayoutId id="2147483758" r:id="rId98"/>
    <p:sldLayoutId id="2147483759" r:id="rId99"/>
    <p:sldLayoutId id="2147483760" r:id="rId100"/>
    <p:sldLayoutId id="2147483761" r:id="rId101"/>
    <p:sldLayoutId id="2147483762" r:id="rId102"/>
    <p:sldLayoutId id="2147483763" r:id="rId103"/>
    <p:sldLayoutId id="2147483764" r:id="rId104"/>
    <p:sldLayoutId id="2147483765" r:id="rId105"/>
    <p:sldLayoutId id="2147483766" r:id="rId106"/>
    <p:sldLayoutId id="2147483767" r:id="rId10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64">
          <p15:clr>
            <a:srgbClr val="547EBF"/>
          </p15:clr>
        </p15:guide>
        <p15:guide id="2" pos="7416">
          <p15:clr>
            <a:srgbClr val="547EBF"/>
          </p15:clr>
        </p15:guide>
        <p15:guide id="3" pos="264">
          <p15:clr>
            <a:srgbClr val="547EBF"/>
          </p15:clr>
        </p15:guide>
        <p15:guide id="4" orient="horz" pos="4056">
          <p15:clr>
            <a:srgbClr val="547EBF"/>
          </p15:clr>
        </p15:guide>
        <p15:guide id="5" pos="1464">
          <p15:clr>
            <a:srgbClr val="5ACBF0"/>
          </p15:clr>
        </p15:guide>
        <p15:guide id="6" pos="864">
          <p15:clr>
            <a:srgbClr val="5ACBF0"/>
          </p15:clr>
        </p15:guide>
        <p15:guide id="7" pos="2064">
          <p15:clr>
            <a:srgbClr val="5ACBF0"/>
          </p15:clr>
        </p15:guide>
        <p15:guide id="8" pos="2016">
          <p15:clr>
            <a:srgbClr val="5ACBF0"/>
          </p15:clr>
        </p15:guide>
        <p15:guide id="9" pos="3864">
          <p15:clr>
            <a:srgbClr val="5ACBF0"/>
          </p15:clr>
        </p15:guide>
        <p15:guide id="10" pos="4464">
          <p15:clr>
            <a:srgbClr val="5ACBF0"/>
          </p15:clr>
        </p15:guide>
        <p15:guide id="11" pos="5064">
          <p15:clr>
            <a:srgbClr val="5ACBF0"/>
          </p15:clr>
        </p15:guide>
        <p15:guide id="12" pos="5664">
          <p15:clr>
            <a:srgbClr val="5ACBF0"/>
          </p15:clr>
        </p15:guide>
        <p15:guide id="13" pos="6264">
          <p15:clr>
            <a:srgbClr val="5ACBF0"/>
          </p15:clr>
        </p15:guide>
        <p15:guide id="14" pos="6216">
          <p15:clr>
            <a:srgbClr val="5ACBF0"/>
          </p15:clr>
        </p15:guide>
        <p15:guide id="15" pos="6864">
          <p15:clr>
            <a:srgbClr val="5ACBF0"/>
          </p15:clr>
        </p15:guide>
        <p15:guide id="17" pos="5616">
          <p15:clr>
            <a:srgbClr val="5ACBF0"/>
          </p15:clr>
        </p15:guide>
        <p15:guide id="18" pos="5016">
          <p15:clr>
            <a:srgbClr val="5ACBF0"/>
          </p15:clr>
        </p15:guide>
        <p15:guide id="19" pos="4416">
          <p15:clr>
            <a:srgbClr val="5ACBF0"/>
          </p15:clr>
        </p15:guide>
        <p15:guide id="20" pos="3816">
          <p15:clr>
            <a:srgbClr val="5ACBF0"/>
          </p15:clr>
        </p15:guide>
        <p15:guide id="21" pos="3216">
          <p15:clr>
            <a:srgbClr val="5ACBF0"/>
          </p15:clr>
        </p15:guide>
        <p15:guide id="22" pos="3264">
          <p15:clr>
            <a:srgbClr val="5ACBF0"/>
          </p15:clr>
        </p15:guide>
        <p15:guide id="23" pos="2616">
          <p15:clr>
            <a:srgbClr val="5ACBF0"/>
          </p15:clr>
        </p15:guide>
        <p15:guide id="24" pos="2664">
          <p15:clr>
            <a:srgbClr val="5ACBF0"/>
          </p15:clr>
        </p15:guide>
        <p15:guide id="25" pos="1416">
          <p15:clr>
            <a:srgbClr val="5ACBF0"/>
          </p15:clr>
        </p15:guide>
        <p15:guide id="26" pos="816">
          <p15:clr>
            <a:srgbClr val="5ACBF0"/>
          </p15:clr>
        </p15:guide>
        <p15:guide id="27" pos="6816">
          <p15:clr>
            <a:srgbClr val="5ACBF0"/>
          </p15:clr>
        </p15:guide>
        <p15:guide id="28" orient="horz" pos="4224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Relationship Id="rId11" Type="http://schemas.openxmlformats.org/officeDocument/2006/relationships/image" Target="../media/image32.png"/><Relationship Id="rId12" Type="http://schemas.openxmlformats.org/officeDocument/2006/relationships/image" Target="../media/image33.png"/><Relationship Id="rId1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26.png"/><Relationship Id="rId7" Type="http://schemas.openxmlformats.org/officeDocument/2006/relationships/image" Target="../media/image28.png"/><Relationship Id="rId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6.png"/><Relationship Id="rId6" Type="http://schemas.openxmlformats.org/officeDocument/2006/relationships/image" Target="../media/image26.png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image" Target="../media/image39.png"/><Relationship Id="rId4" Type="http://schemas.openxmlformats.org/officeDocument/2006/relationships/image" Target="../media/image38.png"/><Relationship Id="rId5" Type="http://schemas.openxmlformats.org/officeDocument/2006/relationships/image" Target="../media/image36.pn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61A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nector | 1"/>
          <p:cNvSpPr/>
          <p:nvPr/>
        </p:nvSpPr>
        <p:spPr>
          <a:xfrm>
            <a:off x="8572500" y="0"/>
            <a:ext cx="3213100" cy="565150"/>
          </a:xfrm>
          <a:custGeom>
            <a:avLst/>
            <a:gdLst/>
            <a:ahLst/>
            <a:cxnLst/>
            <a:rect l="0" t="0" r="r" b="b"/>
            <a:pathLst>
              <a:path w="50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50600" y="8900"/>
                </a:lnTo>
              </a:path>
            </a:pathLst>
          </a:custGeom>
          <a:noFill/>
          <a:ln w="6350" cap="rnd">
            <a:solidFill>
              <a:srgbClr val="28516A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le | 1"/>
          <p:cNvSpPr/>
          <p:nvPr/>
        </p:nvSpPr>
        <p:spPr>
          <a:xfrm>
            <a:off x="8832850" y="546100"/>
            <a:ext cx="38100" cy="38100"/>
          </a:xfrm>
          <a:prstGeom prst="ellipse">
            <a:avLst/>
          </a:prstGeom>
          <a:solidFill>
            <a:srgbClr val="285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nnector | 2"/>
          <p:cNvSpPr/>
          <p:nvPr/>
        </p:nvSpPr>
        <p:spPr>
          <a:xfrm>
            <a:off x="9588500" y="0"/>
            <a:ext cx="2197100" cy="565150"/>
          </a:xfrm>
          <a:custGeom>
            <a:avLst/>
            <a:gdLst/>
            <a:ahLst/>
            <a:cxnLst/>
            <a:rect l="0" t="0" r="r" b="b"/>
            <a:pathLst>
              <a:path w="34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34600" y="8900"/>
                </a:lnTo>
              </a:path>
            </a:pathLst>
          </a:custGeom>
          <a:noFill/>
          <a:ln w="6350" cap="rnd">
            <a:solidFill>
              <a:srgbClr val="28516A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ircle | 2"/>
          <p:cNvSpPr/>
          <p:nvPr/>
        </p:nvSpPr>
        <p:spPr>
          <a:xfrm>
            <a:off x="9848850" y="546100"/>
            <a:ext cx="38100" cy="38100"/>
          </a:xfrm>
          <a:prstGeom prst="ellipse">
            <a:avLst/>
          </a:prstGeom>
          <a:solidFill>
            <a:srgbClr val="285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nector | 3"/>
          <p:cNvSpPr/>
          <p:nvPr/>
        </p:nvSpPr>
        <p:spPr>
          <a:xfrm>
            <a:off x="10604500" y="0"/>
            <a:ext cx="1181100" cy="565150"/>
          </a:xfrm>
          <a:custGeom>
            <a:avLst/>
            <a:gdLst/>
            <a:ahLst/>
            <a:cxnLst/>
            <a:rect l="0" t="0" r="r" b="b"/>
            <a:pathLst>
              <a:path w="18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18600" y="8900"/>
                </a:lnTo>
              </a:path>
            </a:pathLst>
          </a:custGeom>
          <a:noFill/>
          <a:ln w="6350" cap="rnd">
            <a:solidFill>
              <a:srgbClr val="28516A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ircle | 3"/>
          <p:cNvSpPr/>
          <p:nvPr/>
        </p:nvSpPr>
        <p:spPr>
          <a:xfrm>
            <a:off x="10864850" y="546100"/>
            <a:ext cx="38100" cy="38100"/>
          </a:xfrm>
          <a:prstGeom prst="ellipse">
            <a:avLst/>
          </a:prstGeom>
          <a:solidFill>
            <a:srgbClr val="285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 | 1"/>
          <p:cNvSpPr/>
          <p:nvPr/>
        </p:nvSpPr>
        <p:spPr>
          <a:xfrm>
            <a:off x="406400" y="34290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59D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 | HAWKEYEPLUS  /  INDUSTRIAL VISION AI"/>
          <p:cNvSpPr txBox="1"/>
          <p:nvPr/>
        </p:nvSpPr>
        <p:spPr>
          <a:xfrm>
            <a:off x="546100" y="356680"/>
            <a:ext cx="76200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en-US">
                <a:solidFill>
                  <a:srgbClr val="ACC7DA"/>
                </a:solidFill>
                <a:latin typeface="Arial"/>
                <a:ea typeface="SimHei"/>
              </a:rPr>
              <a:t>HAWKEYEPLUS  /  INDUSTRIAL VISION AI</a:t>
            </a:r>
          </a:p>
        </p:txBody>
      </p:sp>
      <p:pic>
        <p:nvPicPr>
          <p:cNvPr id="10" name="Picture | Independent image" descr="e017beb952387d30090e1fda3144c761a93fb625fd3ee9841457bf2c4c7476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325755"/>
            <a:ext cx="704850" cy="281940"/>
          </a:xfrm>
          <a:prstGeom prst="rect">
            <a:avLst/>
          </a:prstGeom>
        </p:spPr>
      </p:pic>
      <p:sp>
        <p:nvSpPr>
          <p:cNvPr id="11" name="Text | HawkeyePlus Platform Architecture"/>
          <p:cNvSpPr txBox="1"/>
          <p:nvPr/>
        </p:nvSpPr>
        <p:spPr>
          <a:xfrm>
            <a:off x="406400" y="593662"/>
            <a:ext cx="10858500" cy="58191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567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en-US">
                <a:solidFill>
                  <a:srgbClr val="F2F8FF"/>
                </a:solidFill>
                <a:latin typeface="Arial"/>
                <a:ea typeface="SimHei"/>
              </a:rPr>
              <a:t>HawkeyePlus Platform Architecture</a:t>
            </a:r>
          </a:p>
        </p:txBody>
      </p:sp>
      <p:sp>
        <p:nvSpPr>
          <p:cNvPr id="12" name="Text | Connect industrial images, model training, validation and release in one platform"/>
          <p:cNvSpPr txBox="1"/>
          <p:nvPr/>
        </p:nvSpPr>
        <p:spPr>
          <a:xfrm>
            <a:off x="425450" y="1064578"/>
            <a:ext cx="11049000" cy="28092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en-US">
                <a:solidFill>
                  <a:srgbClr val="ACC7DA"/>
                </a:solidFill>
                <a:latin typeface="Arial"/>
                <a:ea typeface="SimHei"/>
              </a:rPr>
              <a:t>Connect industrial images, model training, validation and release in one platform</a:t>
            </a:r>
          </a:p>
        </p:txBody>
      </p:sp>
      <p:cxnSp>
        <p:nvCxnSpPr>
          <p:cNvPr id="13" name="Connector | 4"/>
          <p:cNvCxnSpPr/>
          <p:nvPr/>
        </p:nvCxnSpPr>
        <p:spPr>
          <a:xfrm>
            <a:off x="406400" y="6521450"/>
            <a:ext cx="11379200" cy="0"/>
          </a:xfrm>
          <a:prstGeom prst="line">
            <a:avLst/>
          </a:prstGeom>
          <a:ln w="6350" cap="rnd">
            <a:solidFill>
              <a:srgbClr val="28516A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| HawkeyePlus  ·  AI Model Training Platform"/>
          <p:cNvSpPr txBox="1"/>
          <p:nvPr/>
        </p:nvSpPr>
        <p:spPr>
          <a:xfrm>
            <a:off x="412750" y="6607238"/>
            <a:ext cx="66675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ACC7DA"/>
                </a:solidFill>
                <a:latin typeface="Arial"/>
                <a:ea typeface="SimHei"/>
              </a:rPr>
              <a:t>HawkeyePlus  ·  AI Model Training Platform</a:t>
            </a:r>
          </a:p>
        </p:txBody>
      </p:sp>
      <p:sp>
        <p:nvSpPr>
          <p:cNvPr id="15" name="Text | WD CONFIDENTIAL"/>
          <p:cNvSpPr txBox="1"/>
          <p:nvPr/>
        </p:nvSpPr>
        <p:spPr>
          <a:xfrm>
            <a:off x="8559800" y="6613017"/>
            <a:ext cx="2540000" cy="1504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en-US">
                <a:solidFill>
                  <a:srgbClr val="ACC7DA"/>
                </a:solidFill>
                <a:latin typeface="Arial"/>
                <a:ea typeface="SimHei"/>
              </a:rPr>
              <a:t>WD CONFIDENTIAL</a:t>
            </a:r>
          </a:p>
        </p:txBody>
      </p:sp>
      <p:sp>
        <p:nvSpPr>
          <p:cNvPr id="16" name="Text | 01"/>
          <p:cNvSpPr txBox="1"/>
          <p:nvPr/>
        </p:nvSpPr>
        <p:spPr>
          <a:xfrm>
            <a:off x="11455400" y="6607238"/>
            <a:ext cx="3175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ACC7DA"/>
                </a:solidFill>
                <a:latin typeface="Arial"/>
                <a:ea typeface="SimHei"/>
              </a:rPr>
              <a:t>01</a:t>
            </a:r>
          </a:p>
        </p:txBody>
      </p:sp>
      <p:grpSp>
        <p:nvGrpSpPr>
          <p:cNvPr id="17" name="Node | Data &amp; Annotations"/>
          <p:cNvGrpSpPr/>
          <p:nvPr/>
        </p:nvGrpSpPr>
        <p:grpSpPr>
          <a:xfrm>
            <a:off x="406400" y="1504950"/>
            <a:ext cx="2997200" cy="2781300"/>
            <a:chOff x="406400" y="1504950"/>
            <a:chExt cx="2997200" cy="2781300"/>
          </a:xfrm>
        </p:grpSpPr>
        <p:sp>
          <p:nvSpPr>
            <p:cNvPr id="18" name="Panel | 2"/>
            <p:cNvSpPr/>
            <p:nvPr/>
          </p:nvSpPr>
          <p:spPr>
            <a:xfrm>
              <a:off x="406400" y="1504950"/>
              <a:ext cx="2997200" cy="2781300"/>
            </a:xfrm>
            <a:prstGeom prst="roundRect">
              <a:avLst>
                <a:gd name="adj" fmla="val 5022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 | 01"/>
            <p:cNvSpPr txBox="1"/>
            <p:nvPr/>
          </p:nvSpPr>
          <p:spPr>
            <a:xfrm>
              <a:off x="577850" y="1651508"/>
              <a:ext cx="381000" cy="22072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3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 lang="en-US">
                  <a:solidFill>
                    <a:srgbClr val="59DAF5"/>
                  </a:solidFill>
                  <a:latin typeface="Arial"/>
                  <a:ea typeface="SimHei"/>
                </a:rPr>
                <a:t>01</a:t>
              </a:r>
            </a:p>
          </p:txBody>
        </p:sp>
        <p:sp>
          <p:nvSpPr>
            <p:cNvPr id="20" name="Text | Data &amp; Annotations"/>
            <p:cNvSpPr txBox="1"/>
            <p:nvPr/>
          </p:nvSpPr>
          <p:spPr>
            <a:xfrm>
              <a:off x="920750" y="1606740"/>
              <a:ext cx="231775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en-US">
                  <a:solidFill>
                    <a:srgbClr val="F2F8FF"/>
                  </a:solidFill>
                  <a:latin typeface="Arial"/>
                  <a:ea typeface="SimHei"/>
                </a:rPr>
                <a:t>Data &amp; Annotations</a:t>
              </a:r>
            </a:p>
          </p:txBody>
        </p:sp>
        <p:pic>
          <p:nvPicPr>
            <p:cNvPr id="21" name="Picture | Independent image" descr="c9164a9d238ab969a3f7f88077820ec28c99002403f32e71ad9c8f82c54e36e5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5856" y="1924050"/>
              <a:ext cx="2718288" cy="1682750"/>
            </a:xfrm>
            <a:prstGeom prst="rect">
              <a:avLst/>
            </a:prstGeom>
          </p:spPr>
        </p:pic>
        <p:sp>
          <p:nvSpPr>
            <p:cNvPr id="22" name="Text | Images + Labels / Masks"/>
            <p:cNvSpPr txBox="1"/>
            <p:nvPr/>
          </p:nvSpPr>
          <p:spPr>
            <a:xfrm>
              <a:off x="571500" y="3540442"/>
              <a:ext cx="26670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en-US">
                  <a:solidFill>
                    <a:srgbClr val="F2F8FF"/>
                  </a:solidFill>
                  <a:latin typeface="Arial"/>
                  <a:ea typeface="SimHei"/>
                </a:rPr>
                <a:t>Images + Labels / Masks</a:t>
              </a:r>
            </a:p>
          </p:txBody>
        </p:sp>
        <p:sp>
          <p:nvSpPr>
            <p:cNvPr id="23" name="Panel | 3"/>
            <p:cNvSpPr/>
            <p:nvPr/>
          </p:nvSpPr>
          <p:spPr>
            <a:xfrm>
              <a:off x="577850" y="3835400"/>
              <a:ext cx="806450" cy="241300"/>
            </a:xfrm>
            <a:prstGeom prst="roundRect">
              <a:avLst>
                <a:gd name="adj" fmla="val 26315"/>
              </a:avLst>
            </a:prstGeom>
            <a:solidFill>
              <a:srgbClr val="153F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 | Import"/>
            <p:cNvSpPr txBox="1"/>
            <p:nvPr/>
          </p:nvSpPr>
          <p:spPr>
            <a:xfrm>
              <a:off x="615950" y="3868229"/>
              <a:ext cx="73025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59DAF5"/>
                  </a:solidFill>
                  <a:latin typeface="Arial"/>
                  <a:ea typeface="SimHei"/>
                </a:rPr>
                <a:t>Import</a:t>
              </a:r>
            </a:p>
          </p:txBody>
        </p:sp>
        <p:sp>
          <p:nvSpPr>
            <p:cNvPr id="25" name="Panel | 4"/>
            <p:cNvSpPr/>
            <p:nvPr/>
          </p:nvSpPr>
          <p:spPr>
            <a:xfrm>
              <a:off x="1498600" y="3835400"/>
              <a:ext cx="806450" cy="241300"/>
            </a:xfrm>
            <a:prstGeom prst="roundRect">
              <a:avLst>
                <a:gd name="adj" fmla="val 26315"/>
              </a:avLst>
            </a:prstGeom>
            <a:solidFill>
              <a:srgbClr val="153F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 | Annotate"/>
            <p:cNvSpPr txBox="1"/>
            <p:nvPr/>
          </p:nvSpPr>
          <p:spPr>
            <a:xfrm>
              <a:off x="1536700" y="3868229"/>
              <a:ext cx="73025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59DAF5"/>
                  </a:solidFill>
                  <a:latin typeface="Arial"/>
                  <a:ea typeface="SimHei"/>
                </a:rPr>
                <a:t>Annotate</a:t>
              </a:r>
            </a:p>
          </p:txBody>
        </p:sp>
        <p:sp>
          <p:nvSpPr>
            <p:cNvPr id="27" name="Panel | 5"/>
            <p:cNvSpPr/>
            <p:nvPr/>
          </p:nvSpPr>
          <p:spPr>
            <a:xfrm>
              <a:off x="2419350" y="3835400"/>
              <a:ext cx="806450" cy="241300"/>
            </a:xfrm>
            <a:prstGeom prst="roundRect">
              <a:avLst>
                <a:gd name="adj" fmla="val 26315"/>
              </a:avLst>
            </a:prstGeom>
            <a:solidFill>
              <a:srgbClr val="153F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 | Preview"/>
            <p:cNvSpPr txBox="1"/>
            <p:nvPr/>
          </p:nvSpPr>
          <p:spPr>
            <a:xfrm>
              <a:off x="2457450" y="3868229"/>
              <a:ext cx="73025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59DAF5"/>
                  </a:solidFill>
                  <a:latin typeface="Arial"/>
                  <a:ea typeface="SimHei"/>
                </a:rPr>
                <a:t>Preview</a:t>
              </a:r>
            </a:p>
          </p:txBody>
        </p:sp>
      </p:grpSp>
      <p:grpSp>
        <p:nvGrpSpPr>
          <p:cNvPr id="29" name="Node | Visual Training Hub"/>
          <p:cNvGrpSpPr/>
          <p:nvPr/>
        </p:nvGrpSpPr>
        <p:grpSpPr>
          <a:xfrm>
            <a:off x="3689350" y="1504950"/>
            <a:ext cx="4552950" cy="2781300"/>
            <a:chOff x="3689350" y="1504950"/>
            <a:chExt cx="4552950" cy="2781300"/>
          </a:xfrm>
        </p:grpSpPr>
        <p:sp>
          <p:nvSpPr>
            <p:cNvPr id="30" name="Panel | 6"/>
            <p:cNvSpPr/>
            <p:nvPr/>
          </p:nvSpPr>
          <p:spPr>
            <a:xfrm>
              <a:off x="3689350" y="1504950"/>
              <a:ext cx="4552950" cy="2781300"/>
            </a:xfrm>
            <a:prstGeom prst="roundRect">
              <a:avLst>
                <a:gd name="adj" fmla="val 5022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Panel | 7"/>
            <p:cNvSpPr/>
            <p:nvPr/>
          </p:nvSpPr>
          <p:spPr>
            <a:xfrm>
              <a:off x="5048250" y="1504950"/>
              <a:ext cx="1828800" cy="19050"/>
            </a:xfrm>
            <a:prstGeom prst="roundRect">
              <a:avLst>
                <a:gd name="adj" fmla="val 33333"/>
              </a:avLst>
            </a:prstGeom>
            <a:solidFill>
              <a:srgbClr val="59DA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 | Visual Training Hub"/>
            <p:cNvSpPr txBox="1"/>
            <p:nvPr/>
          </p:nvSpPr>
          <p:spPr>
            <a:xfrm>
              <a:off x="3905250" y="1583754"/>
              <a:ext cx="4127500" cy="36118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22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lang="en-US">
                  <a:solidFill>
                    <a:srgbClr val="F2F8FF"/>
                  </a:solidFill>
                  <a:latin typeface="Arial"/>
                  <a:ea typeface="SimHei"/>
                </a:rPr>
                <a:t>Visual Training Hub</a:t>
              </a:r>
            </a:p>
          </p:txBody>
        </p:sp>
        <p:sp>
          <p:nvSpPr>
            <p:cNvPr id="33" name="Panel | 8"/>
            <p:cNvSpPr/>
            <p:nvPr/>
          </p:nvSpPr>
          <p:spPr>
            <a:xfrm>
              <a:off x="3930650" y="1974850"/>
              <a:ext cx="1289050" cy="311150"/>
            </a:xfrm>
            <a:prstGeom prst="roundRect">
              <a:avLst>
                <a:gd name="adj" fmla="val 20408"/>
              </a:avLst>
            </a:prstGeom>
            <a:solidFill>
              <a:srgbClr val="12364F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 | Dataset"/>
            <p:cNvSpPr txBox="1"/>
            <p:nvPr/>
          </p:nvSpPr>
          <p:spPr>
            <a:xfrm>
              <a:off x="3968750" y="2034921"/>
              <a:ext cx="121285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en-US">
                  <a:solidFill>
                    <a:srgbClr val="F2F8FF"/>
                  </a:solidFill>
                  <a:latin typeface="Arial"/>
                  <a:ea typeface="SimHei"/>
                </a:rPr>
                <a:t>Dataset</a:t>
              </a:r>
            </a:p>
          </p:txBody>
        </p:sp>
        <p:sp>
          <p:nvSpPr>
            <p:cNvPr id="35" name="Panel | 9"/>
            <p:cNvSpPr/>
            <p:nvPr/>
          </p:nvSpPr>
          <p:spPr>
            <a:xfrm>
              <a:off x="5321300" y="1974850"/>
              <a:ext cx="1289050" cy="311150"/>
            </a:xfrm>
            <a:prstGeom prst="roundRect">
              <a:avLst>
                <a:gd name="adj" fmla="val 20408"/>
              </a:avLst>
            </a:prstGeom>
            <a:solidFill>
              <a:srgbClr val="12364F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 | Model"/>
            <p:cNvSpPr txBox="1"/>
            <p:nvPr/>
          </p:nvSpPr>
          <p:spPr>
            <a:xfrm>
              <a:off x="5359400" y="2034921"/>
              <a:ext cx="121285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en-US">
                  <a:solidFill>
                    <a:srgbClr val="F2F8FF"/>
                  </a:solidFill>
                  <a:latin typeface="Arial"/>
                  <a:ea typeface="SimHei"/>
                </a:rPr>
                <a:t>Model</a:t>
              </a:r>
            </a:p>
          </p:txBody>
        </p:sp>
        <p:sp>
          <p:nvSpPr>
            <p:cNvPr id="37" name="Panel | 10"/>
            <p:cNvSpPr/>
            <p:nvPr/>
          </p:nvSpPr>
          <p:spPr>
            <a:xfrm>
              <a:off x="6711950" y="1974850"/>
              <a:ext cx="1289050" cy="311150"/>
            </a:xfrm>
            <a:prstGeom prst="roundRect">
              <a:avLst>
                <a:gd name="adj" fmla="val 20408"/>
              </a:avLst>
            </a:prstGeom>
            <a:solidFill>
              <a:srgbClr val="12364F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 | Training"/>
            <p:cNvSpPr txBox="1"/>
            <p:nvPr/>
          </p:nvSpPr>
          <p:spPr>
            <a:xfrm>
              <a:off x="6750050" y="2034921"/>
              <a:ext cx="121285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en-US">
                  <a:solidFill>
                    <a:srgbClr val="F2F8FF"/>
                  </a:solidFill>
                  <a:latin typeface="Arial"/>
                  <a:ea typeface="SimHei"/>
                </a:rPr>
                <a:t>Training</a:t>
              </a:r>
            </a:p>
          </p:txBody>
        </p:sp>
        <p:sp>
          <p:nvSpPr>
            <p:cNvPr id="39" name="Connector | 5"/>
            <p:cNvSpPr/>
            <p:nvPr/>
          </p:nvSpPr>
          <p:spPr>
            <a:xfrm>
              <a:off x="4572000" y="2298700"/>
              <a:ext cx="2781300" cy="234950"/>
            </a:xfrm>
            <a:custGeom>
              <a:avLst/>
              <a:gdLst/>
              <a:ahLst/>
              <a:cxnLst/>
              <a:rect l="0" t="0" r="r" b="b"/>
              <a:pathLst>
                <a:path w="43800" h="3700" fill="none">
                  <a:moveTo>
                    <a:pt x="0" y="0"/>
                  </a:moveTo>
                  <a:lnTo>
                    <a:pt x="0" y="1800"/>
                  </a:lnTo>
                  <a:lnTo>
                    <a:pt x="43800" y="1800"/>
                  </a:lnTo>
                  <a:lnTo>
                    <a:pt x="43800" y="0"/>
                  </a:lnTo>
                  <a:moveTo>
                    <a:pt x="22000" y="0"/>
                  </a:moveTo>
                  <a:lnTo>
                    <a:pt x="22000" y="3700"/>
                  </a:lnTo>
                </a:path>
              </a:pathLst>
            </a:custGeom>
            <a:noFill/>
            <a:ln w="11430" cap="rnd">
              <a:solidFill>
                <a:srgbClr val="59DAF5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0" name="Picture | Independent image" descr="ad5365710f284a592c51a5ce0707c16cedb1de23481e2f7d1bdd72ac30ed4a29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15732" y="2400300"/>
              <a:ext cx="3306536" cy="1543050"/>
            </a:xfrm>
            <a:prstGeom prst="rect">
              <a:avLst/>
            </a:prstGeom>
          </p:spPr>
        </p:pic>
        <p:sp>
          <p:nvSpPr>
            <p:cNvPr id="41" name="Panel | 11"/>
            <p:cNvSpPr/>
            <p:nvPr/>
          </p:nvSpPr>
          <p:spPr>
            <a:xfrm>
              <a:off x="3873500" y="3937000"/>
              <a:ext cx="1270000" cy="241300"/>
            </a:xfrm>
            <a:prstGeom prst="roundRect">
              <a:avLst>
                <a:gd name="adj" fmla="val 26315"/>
              </a:avLst>
            </a:prstGeom>
            <a:solidFill>
              <a:srgbClr val="153F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Text | Job Setup"/>
            <p:cNvSpPr txBox="1"/>
            <p:nvPr/>
          </p:nvSpPr>
          <p:spPr>
            <a:xfrm>
              <a:off x="3911600" y="3969829"/>
              <a:ext cx="11938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59DAF5"/>
                  </a:solidFill>
                  <a:latin typeface="Arial"/>
                  <a:ea typeface="SimHei"/>
                </a:rPr>
                <a:t>Job Setup</a:t>
              </a:r>
            </a:p>
          </p:txBody>
        </p:sp>
        <p:sp>
          <p:nvSpPr>
            <p:cNvPr id="43" name="Panel | 12"/>
            <p:cNvSpPr/>
            <p:nvPr/>
          </p:nvSpPr>
          <p:spPr>
            <a:xfrm>
              <a:off x="5334000" y="3937000"/>
              <a:ext cx="1270000" cy="241300"/>
            </a:xfrm>
            <a:prstGeom prst="roundRect">
              <a:avLst>
                <a:gd name="adj" fmla="val 26315"/>
              </a:avLst>
            </a:prstGeom>
            <a:solidFill>
              <a:srgbClr val="153F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Text | GPU Selection"/>
            <p:cNvSpPr txBox="1"/>
            <p:nvPr/>
          </p:nvSpPr>
          <p:spPr>
            <a:xfrm>
              <a:off x="5372100" y="3969829"/>
              <a:ext cx="11938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59DAF5"/>
                  </a:solidFill>
                  <a:latin typeface="Arial"/>
                  <a:ea typeface="SimHei"/>
                </a:rPr>
                <a:t>GPU Selection</a:t>
              </a:r>
            </a:p>
          </p:txBody>
        </p:sp>
        <p:sp>
          <p:nvSpPr>
            <p:cNvPr id="45" name="Panel | 13"/>
            <p:cNvSpPr/>
            <p:nvPr/>
          </p:nvSpPr>
          <p:spPr>
            <a:xfrm>
              <a:off x="6794500" y="3937000"/>
              <a:ext cx="1270000" cy="241300"/>
            </a:xfrm>
            <a:prstGeom prst="roundRect">
              <a:avLst>
                <a:gd name="adj" fmla="val 26315"/>
              </a:avLst>
            </a:prstGeom>
            <a:solidFill>
              <a:srgbClr val="153F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Text | Training Monitor"/>
            <p:cNvSpPr txBox="1"/>
            <p:nvPr/>
          </p:nvSpPr>
          <p:spPr>
            <a:xfrm>
              <a:off x="6832600" y="3970782"/>
              <a:ext cx="1193800" cy="22915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0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2" b="1" lang="en-US">
                  <a:solidFill>
                    <a:srgbClr val="59DAF5"/>
                  </a:solidFill>
                  <a:latin typeface="Arial"/>
                  <a:ea typeface="SimHei"/>
                </a:rPr>
                <a:t>Training Monitor</a:t>
              </a:r>
            </a:p>
          </p:txBody>
        </p:sp>
      </p:grpSp>
      <p:grpSp>
        <p:nvGrpSpPr>
          <p:cNvPr id="47" name="Node | Validation &amp; Delivery"/>
          <p:cNvGrpSpPr/>
          <p:nvPr/>
        </p:nvGrpSpPr>
        <p:grpSpPr>
          <a:xfrm>
            <a:off x="8528050" y="1504950"/>
            <a:ext cx="3257550" cy="2781300"/>
            <a:chOff x="8528050" y="1504950"/>
            <a:chExt cx="3257550" cy="2781300"/>
          </a:xfrm>
        </p:grpSpPr>
        <p:sp>
          <p:nvSpPr>
            <p:cNvPr id="48" name="Panel | 14"/>
            <p:cNvSpPr/>
            <p:nvPr/>
          </p:nvSpPr>
          <p:spPr>
            <a:xfrm>
              <a:off x="8528050" y="1504950"/>
              <a:ext cx="3257550" cy="2781300"/>
            </a:xfrm>
            <a:prstGeom prst="roundRect">
              <a:avLst>
                <a:gd name="adj" fmla="val 5022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 | 02"/>
            <p:cNvSpPr txBox="1"/>
            <p:nvPr/>
          </p:nvSpPr>
          <p:spPr>
            <a:xfrm>
              <a:off x="8699500" y="1651508"/>
              <a:ext cx="381000" cy="22072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3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 lang="en-US">
                  <a:solidFill>
                    <a:srgbClr val="59DAF5"/>
                  </a:solidFill>
                  <a:latin typeface="Arial"/>
                  <a:ea typeface="SimHei"/>
                </a:rPr>
                <a:t>02</a:t>
              </a:r>
            </a:p>
          </p:txBody>
        </p:sp>
        <p:sp>
          <p:nvSpPr>
            <p:cNvPr id="50" name="Text | Validation &amp; Delivery"/>
            <p:cNvSpPr txBox="1"/>
            <p:nvPr/>
          </p:nvSpPr>
          <p:spPr>
            <a:xfrm>
              <a:off x="9042400" y="1606740"/>
              <a:ext cx="254000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en-US">
                  <a:solidFill>
                    <a:srgbClr val="F2F8FF"/>
                  </a:solidFill>
                  <a:latin typeface="Arial"/>
                  <a:ea typeface="SimHei"/>
                </a:rPr>
                <a:t>Validation &amp; Delivery</a:t>
              </a:r>
            </a:p>
          </p:txBody>
        </p:sp>
        <p:pic>
          <p:nvPicPr>
            <p:cNvPr id="51" name="Picture | Independent image" descr="2be565438e37f3aa8be93ff686b7c11740c134cef8eb4f4e3ca62663aed7847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674389" y="1955800"/>
              <a:ext cx="755073" cy="692150"/>
            </a:xfrm>
            <a:prstGeom prst="rect">
              <a:avLst/>
            </a:prstGeom>
          </p:spPr>
        </p:pic>
        <p:sp>
          <p:nvSpPr>
            <p:cNvPr id="52" name="Text | Evaluate &amp; Infer"/>
            <p:cNvSpPr txBox="1"/>
            <p:nvPr/>
          </p:nvSpPr>
          <p:spPr>
            <a:xfrm>
              <a:off x="9512300" y="2043049"/>
              <a:ext cx="2082800" cy="29095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en-US">
                  <a:solidFill>
                    <a:srgbClr val="F2F8FF"/>
                  </a:solidFill>
                  <a:latin typeface="Arial"/>
                  <a:ea typeface="SimHei"/>
                </a:rPr>
                <a:t>Evaluate &amp; Infer</a:t>
              </a:r>
            </a:p>
          </p:txBody>
        </p:sp>
        <p:sp>
          <p:nvSpPr>
            <p:cNvPr id="53" name="Text | Metrics · Prediction preview"/>
            <p:cNvSpPr txBox="1"/>
            <p:nvPr/>
          </p:nvSpPr>
          <p:spPr>
            <a:xfrm>
              <a:off x="9512300" y="2325180"/>
              <a:ext cx="20828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en-US">
                  <a:solidFill>
                    <a:srgbClr val="ACC7DA"/>
                  </a:solidFill>
                  <a:latin typeface="Arial"/>
                  <a:ea typeface="SimHei"/>
                </a:rPr>
                <a:t>Metrics · Prediction preview</a:t>
              </a:r>
            </a:p>
          </p:txBody>
        </p:sp>
        <p:cxnSp>
          <p:nvCxnSpPr>
            <p:cNvPr id="54" name="Connector | 6"/>
            <p:cNvCxnSpPr/>
            <p:nvPr/>
          </p:nvCxnSpPr>
          <p:spPr>
            <a:xfrm>
              <a:off x="9512300" y="2590800"/>
              <a:ext cx="2089150" cy="0"/>
            </a:xfrm>
            <a:prstGeom prst="line">
              <a:avLst/>
            </a:prstGeom>
            <a:ln w="6350" cap="rnd">
              <a:solidFill>
                <a:srgbClr val="28516A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5" name="Picture | Independent image" descr="b418b74bd7f607f66ccbaa366ffc37930d8c183c416862c7b7d5207fccec448f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74389" y="2673350"/>
              <a:ext cx="755073" cy="692150"/>
            </a:xfrm>
            <a:prstGeom prst="rect">
              <a:avLst/>
            </a:prstGeom>
          </p:spPr>
        </p:pic>
        <p:sp>
          <p:nvSpPr>
            <p:cNvPr id="56" name="Text | Model Export"/>
            <p:cNvSpPr txBox="1"/>
            <p:nvPr/>
          </p:nvSpPr>
          <p:spPr>
            <a:xfrm>
              <a:off x="9512300" y="2760599"/>
              <a:ext cx="2082800" cy="29095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en-US">
                  <a:solidFill>
                    <a:srgbClr val="F2F8FF"/>
                  </a:solidFill>
                  <a:latin typeface="Arial"/>
                  <a:ea typeface="SimHei"/>
                </a:rPr>
                <a:t>Model Export</a:t>
              </a:r>
            </a:p>
          </p:txBody>
        </p:sp>
        <p:sp>
          <p:nvSpPr>
            <p:cNvPr id="57" name="Text | Convert · Package · Download"/>
            <p:cNvSpPr txBox="1"/>
            <p:nvPr/>
          </p:nvSpPr>
          <p:spPr>
            <a:xfrm>
              <a:off x="9512300" y="3042730"/>
              <a:ext cx="20828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en-US">
                  <a:solidFill>
                    <a:srgbClr val="ACC7DA"/>
                  </a:solidFill>
                  <a:latin typeface="Arial"/>
                  <a:ea typeface="SimHei"/>
                </a:rPr>
                <a:t>Convert · Package · Download</a:t>
              </a:r>
            </a:p>
          </p:txBody>
        </p:sp>
        <p:cxnSp>
          <p:nvCxnSpPr>
            <p:cNvPr id="58" name="Connector | 7"/>
            <p:cNvCxnSpPr/>
            <p:nvPr/>
          </p:nvCxnSpPr>
          <p:spPr>
            <a:xfrm>
              <a:off x="9512300" y="3308350"/>
              <a:ext cx="2089150" cy="0"/>
            </a:xfrm>
            <a:prstGeom prst="line">
              <a:avLst/>
            </a:prstGeom>
            <a:ln w="6350" cap="rnd">
              <a:solidFill>
                <a:srgbClr val="28516A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9" name="Picture | Independent image" descr="12bb1e3e4f2e170eca1f6489649f4e45a3b3250e5c5303eec76095d714b0e260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674389" y="3390900"/>
              <a:ext cx="755073" cy="692150"/>
            </a:xfrm>
            <a:prstGeom prst="rect">
              <a:avLst/>
            </a:prstGeom>
          </p:spPr>
        </p:pic>
        <p:sp>
          <p:nvSpPr>
            <p:cNvPr id="60" name="Text | Model Registry"/>
            <p:cNvSpPr txBox="1"/>
            <p:nvPr/>
          </p:nvSpPr>
          <p:spPr>
            <a:xfrm>
              <a:off x="9512300" y="3478149"/>
              <a:ext cx="2082800" cy="29095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en-US">
                  <a:solidFill>
                    <a:srgbClr val="F2F8FF"/>
                  </a:solidFill>
                  <a:latin typeface="Arial"/>
                  <a:ea typeface="SimHei"/>
                </a:rPr>
                <a:t>Model Registry</a:t>
              </a:r>
            </a:p>
          </p:txBody>
        </p:sp>
        <p:sp>
          <p:nvSpPr>
            <p:cNvPr id="61" name="Text | Product versions · Activation"/>
            <p:cNvSpPr txBox="1"/>
            <p:nvPr/>
          </p:nvSpPr>
          <p:spPr>
            <a:xfrm>
              <a:off x="9512300" y="3760279"/>
              <a:ext cx="20828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en-US">
                  <a:solidFill>
                    <a:srgbClr val="ACC7DA"/>
                  </a:solidFill>
                  <a:latin typeface="Arial"/>
                  <a:ea typeface="SimHei"/>
                </a:rPr>
                <a:t>Product versions · Activation</a:t>
              </a:r>
            </a:p>
          </p:txBody>
        </p:sp>
      </p:grpSp>
      <p:cxnSp>
        <p:nvCxnSpPr>
          <p:cNvPr id="62" name="Connector | 8"/>
          <p:cNvCxnSpPr/>
          <p:nvPr/>
        </p:nvCxnSpPr>
        <p:spPr>
          <a:xfrm>
            <a:off x="3435350" y="2844800"/>
            <a:ext cx="203200" cy="0"/>
          </a:xfrm>
          <a:prstGeom prst="line">
            <a:avLst/>
          </a:prstGeom>
          <a:ln w="15875" cap="rnd">
            <a:solidFill>
              <a:srgbClr val="59DAF5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| 9"/>
          <p:cNvCxnSpPr/>
          <p:nvPr/>
        </p:nvCxnSpPr>
        <p:spPr>
          <a:xfrm>
            <a:off x="8293100" y="2844800"/>
            <a:ext cx="190500" cy="0"/>
          </a:xfrm>
          <a:prstGeom prst="line">
            <a:avLst/>
          </a:prstGeom>
          <a:ln w="15875" cap="rnd">
            <a:solidFill>
              <a:srgbClr val="59DAF5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| 10"/>
          <p:cNvCxnSpPr/>
          <p:nvPr/>
        </p:nvCxnSpPr>
        <p:spPr>
          <a:xfrm>
            <a:off x="5969000" y="4298950"/>
            <a:ext cx="0" cy="158750"/>
          </a:xfrm>
          <a:prstGeom prst="line">
            <a:avLst/>
          </a:prstGeom>
          <a:ln w="15875" cap="rnd">
            <a:solidFill>
              <a:srgbClr val="59DAF5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5" name="Node | Multi-framework Training"/>
          <p:cNvGrpSpPr/>
          <p:nvPr/>
        </p:nvGrpSpPr>
        <p:grpSpPr>
          <a:xfrm>
            <a:off x="406400" y="4508500"/>
            <a:ext cx="6781800" cy="342202"/>
            <a:chOff x="406400" y="4508500"/>
            <a:chExt cx="6781800" cy="342202"/>
          </a:xfrm>
        </p:grpSpPr>
        <p:sp>
          <p:nvSpPr>
            <p:cNvPr id="66" name="Panel | 15"/>
            <p:cNvSpPr/>
            <p:nvPr/>
          </p:nvSpPr>
          <p:spPr>
            <a:xfrm>
              <a:off x="406400" y="4508500"/>
              <a:ext cx="6781800" cy="323850"/>
            </a:xfrm>
            <a:prstGeom prst="roundRect">
              <a:avLst>
                <a:gd name="adj" fmla="val 23529"/>
              </a:avLst>
            </a:prstGeom>
            <a:solidFill>
              <a:srgbClr val="12364F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Text | Multi-framework Training"/>
            <p:cNvSpPr txBox="1"/>
            <p:nvPr/>
          </p:nvSpPr>
          <p:spPr>
            <a:xfrm>
              <a:off x="577850" y="4569778"/>
              <a:ext cx="571500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en-US">
                  <a:solidFill>
                    <a:srgbClr val="59DAF5"/>
                  </a:solidFill>
                  <a:latin typeface="Arial"/>
                  <a:ea typeface="SimHei"/>
                </a:rPr>
                <a:t>Multi-framework Training</a:t>
              </a:r>
            </a:p>
          </p:txBody>
        </p:sp>
      </p:grpSp>
      <p:grpSp>
        <p:nvGrpSpPr>
          <p:cNvPr id="68" name="Node | Compute &amp; Asset Foundation"/>
          <p:cNvGrpSpPr/>
          <p:nvPr/>
        </p:nvGrpSpPr>
        <p:grpSpPr>
          <a:xfrm>
            <a:off x="7366000" y="4508500"/>
            <a:ext cx="4419600" cy="342202"/>
            <a:chOff x="7366000" y="4508500"/>
            <a:chExt cx="4419600" cy="342202"/>
          </a:xfrm>
        </p:grpSpPr>
        <p:sp>
          <p:nvSpPr>
            <p:cNvPr id="69" name="Panel | 16"/>
            <p:cNvSpPr/>
            <p:nvPr/>
          </p:nvSpPr>
          <p:spPr>
            <a:xfrm>
              <a:off x="7366000" y="4508500"/>
              <a:ext cx="4419600" cy="323850"/>
            </a:xfrm>
            <a:prstGeom prst="roundRect">
              <a:avLst>
                <a:gd name="adj" fmla="val 23529"/>
              </a:avLst>
            </a:prstGeom>
            <a:solidFill>
              <a:srgbClr val="12364F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Text | Compute &amp; Asset Foundation"/>
            <p:cNvSpPr txBox="1"/>
            <p:nvPr/>
          </p:nvSpPr>
          <p:spPr>
            <a:xfrm>
              <a:off x="7537450" y="4569778"/>
              <a:ext cx="393700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en-US">
                  <a:solidFill>
                    <a:srgbClr val="59DAF5"/>
                  </a:solidFill>
                  <a:latin typeface="Arial"/>
                  <a:ea typeface="SimHei"/>
                </a:rPr>
                <a:t>Compute &amp; Asset Foundation</a:t>
              </a:r>
            </a:p>
          </p:txBody>
        </p:sp>
      </p:grpSp>
      <p:grpSp>
        <p:nvGrpSpPr>
          <p:cNvPr id="71" name="Node | PaddlePaddle"/>
          <p:cNvGrpSpPr/>
          <p:nvPr/>
        </p:nvGrpSpPr>
        <p:grpSpPr>
          <a:xfrm>
            <a:off x="457200" y="4961202"/>
            <a:ext cx="2216150" cy="878946"/>
            <a:chOff x="457200" y="4961202"/>
            <a:chExt cx="2216150" cy="878946"/>
          </a:xfrm>
        </p:grpSpPr>
        <p:pic>
          <p:nvPicPr>
            <p:cNvPr id="72" name="Picture | Independent image" descr="10f25e817439b63bbb2888f8667673b9137f3e1d356d9294429af5d5fbbc5a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57200" y="4961202"/>
              <a:ext cx="958850" cy="878946"/>
            </a:xfrm>
            <a:prstGeom prst="rect">
              <a:avLst/>
            </a:prstGeom>
          </p:spPr>
        </p:pic>
        <p:sp>
          <p:nvSpPr>
            <p:cNvPr id="73" name="Text | PaddlePaddle"/>
            <p:cNvSpPr txBox="1"/>
            <p:nvPr/>
          </p:nvSpPr>
          <p:spPr>
            <a:xfrm>
              <a:off x="1454150" y="5103178"/>
              <a:ext cx="121285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en-US">
                  <a:solidFill>
                    <a:srgbClr val="F2F8FF"/>
                  </a:solidFill>
                  <a:latin typeface="Arial"/>
                  <a:ea typeface="SimHei"/>
                </a:rPr>
                <a:t>PaddlePaddle</a:t>
              </a:r>
            </a:p>
          </p:txBody>
        </p:sp>
        <p:sp>
          <p:nvSpPr>
            <p:cNvPr id="74" name="Text | Detect · Classify · Segment"/>
            <p:cNvSpPr txBox="1"/>
            <p:nvPr/>
          </p:nvSpPr>
          <p:spPr>
            <a:xfrm>
              <a:off x="1454150" y="5443601"/>
              <a:ext cx="1219200" cy="15220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93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58" b="0" lang="en-US">
                  <a:solidFill>
                    <a:srgbClr val="ACC7DA"/>
                  </a:solidFill>
                  <a:latin typeface="Arial"/>
                  <a:ea typeface="SimHei"/>
                </a:rPr>
                <a:t>Detect · Classify · Segment</a:t>
              </a:r>
            </a:p>
          </p:txBody>
        </p:sp>
      </p:grpSp>
      <p:grpSp>
        <p:nvGrpSpPr>
          <p:cNvPr id="75" name="Node | PyTorch"/>
          <p:cNvGrpSpPr/>
          <p:nvPr/>
        </p:nvGrpSpPr>
        <p:grpSpPr>
          <a:xfrm>
            <a:off x="2717800" y="4961202"/>
            <a:ext cx="2216150" cy="878946"/>
            <a:chOff x="2717800" y="4961202"/>
            <a:chExt cx="2216150" cy="878946"/>
          </a:xfrm>
        </p:grpSpPr>
        <p:pic>
          <p:nvPicPr>
            <p:cNvPr id="76" name="Picture | Independent image" descr="b7cda7eda4823c4e073e91afa226f093818297236f9f4082c33c14ca94c0cbd4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717800" y="4961202"/>
              <a:ext cx="958850" cy="878946"/>
            </a:xfrm>
            <a:prstGeom prst="rect">
              <a:avLst/>
            </a:prstGeom>
          </p:spPr>
        </p:pic>
        <p:sp>
          <p:nvSpPr>
            <p:cNvPr id="77" name="Text | PyTorch"/>
            <p:cNvSpPr txBox="1"/>
            <p:nvPr/>
          </p:nvSpPr>
          <p:spPr>
            <a:xfrm>
              <a:off x="3714750" y="5103178"/>
              <a:ext cx="121285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en-US">
                  <a:solidFill>
                    <a:srgbClr val="F2F8FF"/>
                  </a:solidFill>
                  <a:latin typeface="Arial"/>
                  <a:ea typeface="SimHei"/>
                </a:rPr>
                <a:t>PyTorch</a:t>
              </a:r>
            </a:p>
          </p:txBody>
        </p:sp>
        <p:sp>
          <p:nvSpPr>
            <p:cNvPr id="78" name="Text | Detect · Segment"/>
            <p:cNvSpPr txBox="1"/>
            <p:nvPr/>
          </p:nvSpPr>
          <p:spPr>
            <a:xfrm>
              <a:off x="3714750" y="5404358"/>
              <a:ext cx="1219200" cy="22072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3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0" lang="en-US">
                  <a:solidFill>
                    <a:srgbClr val="ACC7DA"/>
                  </a:solidFill>
                  <a:latin typeface="Arial"/>
                  <a:ea typeface="SimHei"/>
                </a:rPr>
                <a:t>Detect · Segment</a:t>
              </a:r>
            </a:p>
          </p:txBody>
        </p:sp>
      </p:grpSp>
      <p:grpSp>
        <p:nvGrpSpPr>
          <p:cNvPr id="79" name="Node | anomalib"/>
          <p:cNvGrpSpPr/>
          <p:nvPr/>
        </p:nvGrpSpPr>
        <p:grpSpPr>
          <a:xfrm>
            <a:off x="4978400" y="4961202"/>
            <a:ext cx="2216150" cy="878946"/>
            <a:chOff x="4978400" y="4961202"/>
            <a:chExt cx="2216150" cy="878946"/>
          </a:xfrm>
        </p:grpSpPr>
        <p:pic>
          <p:nvPicPr>
            <p:cNvPr id="80" name="Picture | Independent image" descr="14cf058bf4c31d285d2775644809936f5b5199b273ff11a60778980103dad71b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978400" y="4961202"/>
              <a:ext cx="958850" cy="878946"/>
            </a:xfrm>
            <a:prstGeom prst="rect">
              <a:avLst/>
            </a:prstGeom>
          </p:spPr>
        </p:pic>
        <p:sp>
          <p:nvSpPr>
            <p:cNvPr id="81" name="Text | anomalib"/>
            <p:cNvSpPr txBox="1"/>
            <p:nvPr/>
          </p:nvSpPr>
          <p:spPr>
            <a:xfrm>
              <a:off x="5975350" y="5103178"/>
              <a:ext cx="121285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en-US">
                  <a:solidFill>
                    <a:srgbClr val="F2F8FF"/>
                  </a:solidFill>
                  <a:latin typeface="Arial"/>
                  <a:ea typeface="SimHei"/>
                </a:rPr>
                <a:t>anomalib</a:t>
              </a:r>
            </a:p>
          </p:txBody>
        </p:sp>
        <p:sp>
          <p:nvSpPr>
            <p:cNvPr id="82" name="Text | Anomaly Detection"/>
            <p:cNvSpPr txBox="1"/>
            <p:nvPr/>
          </p:nvSpPr>
          <p:spPr>
            <a:xfrm>
              <a:off x="5975350" y="5404612"/>
              <a:ext cx="1219200" cy="2202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3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97" b="0" lang="en-US">
                  <a:solidFill>
                    <a:srgbClr val="ACC7DA"/>
                  </a:solidFill>
                  <a:latin typeface="Arial"/>
                  <a:ea typeface="SimHei"/>
                </a:rPr>
                <a:t>Anomaly Detection</a:t>
              </a:r>
            </a:p>
          </p:txBody>
        </p:sp>
      </p:grpSp>
      <p:grpSp>
        <p:nvGrpSpPr>
          <p:cNvPr id="83" name="Node | Compute"/>
          <p:cNvGrpSpPr/>
          <p:nvPr/>
        </p:nvGrpSpPr>
        <p:grpSpPr>
          <a:xfrm>
            <a:off x="7391400" y="4981310"/>
            <a:ext cx="2127250" cy="832379"/>
            <a:chOff x="7391400" y="4981310"/>
            <a:chExt cx="2127250" cy="832379"/>
          </a:xfrm>
        </p:grpSpPr>
        <p:pic>
          <p:nvPicPr>
            <p:cNvPr id="84" name="Picture | Independent image" descr="96f048e20ae7921af42c85ba109295676ece9deb17abcbac87176614e17eb700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391400" y="4981310"/>
              <a:ext cx="908050" cy="832379"/>
            </a:xfrm>
            <a:prstGeom prst="rect">
              <a:avLst/>
            </a:prstGeom>
          </p:spPr>
        </p:pic>
        <p:sp>
          <p:nvSpPr>
            <p:cNvPr id="85" name="Text | Compute"/>
            <p:cNvSpPr txBox="1"/>
            <p:nvPr/>
          </p:nvSpPr>
          <p:spPr>
            <a:xfrm>
              <a:off x="8324850" y="5108892"/>
              <a:ext cx="11938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en-US">
                  <a:solidFill>
                    <a:srgbClr val="F2F8FF"/>
                  </a:solidFill>
                  <a:latin typeface="Arial"/>
                  <a:ea typeface="SimHei"/>
                </a:rPr>
                <a:t>Compute</a:t>
              </a:r>
            </a:p>
          </p:txBody>
        </p:sp>
        <p:sp>
          <p:nvSpPr>
            <p:cNvPr id="86" name="Text | GPU / Python"/>
            <p:cNvSpPr txBox="1"/>
            <p:nvPr/>
          </p:nvSpPr>
          <p:spPr>
            <a:xfrm>
              <a:off x="8324850" y="5404358"/>
              <a:ext cx="1193800" cy="22072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3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0" lang="en-US">
                  <a:solidFill>
                    <a:srgbClr val="ACC7DA"/>
                  </a:solidFill>
                  <a:latin typeface="Arial"/>
                  <a:ea typeface="SimHei"/>
                </a:rPr>
                <a:t>GPU / Python</a:t>
              </a:r>
            </a:p>
          </p:txBody>
        </p:sp>
      </p:grpSp>
      <p:grpSp>
        <p:nvGrpSpPr>
          <p:cNvPr id="87" name="Node | Data &amp; Assets"/>
          <p:cNvGrpSpPr/>
          <p:nvPr/>
        </p:nvGrpSpPr>
        <p:grpSpPr>
          <a:xfrm>
            <a:off x="9601200" y="4981310"/>
            <a:ext cx="2127250" cy="832379"/>
            <a:chOff x="9601200" y="4981310"/>
            <a:chExt cx="2127250" cy="832379"/>
          </a:xfrm>
        </p:grpSpPr>
        <p:pic>
          <p:nvPicPr>
            <p:cNvPr id="88" name="Picture | Independent image" descr="71cefcad99eaac00db0ebae9526395d76c0239cc896b6bb01fc67efda13732ab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601200" y="4981310"/>
              <a:ext cx="908050" cy="832379"/>
            </a:xfrm>
            <a:prstGeom prst="rect">
              <a:avLst/>
            </a:prstGeom>
          </p:spPr>
        </p:pic>
        <p:sp>
          <p:nvSpPr>
            <p:cNvPr id="89" name="Text | Data &amp; Assets"/>
            <p:cNvSpPr txBox="1"/>
            <p:nvPr/>
          </p:nvSpPr>
          <p:spPr>
            <a:xfrm>
              <a:off x="10534650" y="5109782"/>
              <a:ext cx="1193800" cy="26938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5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42" b="1" lang="en-US">
                  <a:solidFill>
                    <a:srgbClr val="F2F8FF"/>
                  </a:solidFill>
                  <a:latin typeface="Arial"/>
                  <a:ea typeface="SimHei"/>
                </a:rPr>
                <a:t>Data &amp; Assets</a:t>
              </a:r>
            </a:p>
          </p:txBody>
        </p:sp>
        <p:sp>
          <p:nvSpPr>
            <p:cNvPr id="90" name="Text | Images · Weights · Logs"/>
            <p:cNvSpPr txBox="1"/>
            <p:nvPr/>
          </p:nvSpPr>
          <p:spPr>
            <a:xfrm>
              <a:off x="10534650" y="5434838"/>
              <a:ext cx="1193800" cy="16755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02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5" b="0" lang="en-US">
                  <a:solidFill>
                    <a:srgbClr val="ACC7DA"/>
                  </a:solidFill>
                  <a:latin typeface="Arial"/>
                  <a:ea typeface="SimHei"/>
                </a:rPr>
                <a:t>Images · Weights · Logs</a:t>
              </a:r>
            </a:p>
          </p:txBody>
        </p:sp>
      </p:grpSp>
      <p:grpSp>
        <p:nvGrpSpPr>
          <p:cNvPr id="91" name="Node | Platform Management"/>
          <p:cNvGrpSpPr/>
          <p:nvPr/>
        </p:nvGrpSpPr>
        <p:grpSpPr>
          <a:xfrm>
            <a:off x="406400" y="6045200"/>
            <a:ext cx="11379200" cy="349250"/>
            <a:chOff x="406400" y="6045200"/>
            <a:chExt cx="11379200" cy="349250"/>
          </a:xfrm>
        </p:grpSpPr>
        <p:sp>
          <p:nvSpPr>
            <p:cNvPr id="92" name="Panel | 17"/>
            <p:cNvSpPr/>
            <p:nvPr/>
          </p:nvSpPr>
          <p:spPr>
            <a:xfrm>
              <a:off x="406400" y="6045200"/>
              <a:ext cx="11379200" cy="349250"/>
            </a:xfrm>
            <a:prstGeom prst="roundRect">
              <a:avLst>
                <a:gd name="adj" fmla="val 21818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Circle | 4"/>
            <p:cNvSpPr/>
            <p:nvPr/>
          </p:nvSpPr>
          <p:spPr>
            <a:xfrm>
              <a:off x="552450" y="6191250"/>
              <a:ext cx="63500" cy="63500"/>
            </a:xfrm>
            <a:prstGeom prst="ellipse">
              <a:avLst/>
            </a:prstGeom>
            <a:solidFill>
              <a:srgbClr val="5AE7C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Text | Management"/>
            <p:cNvSpPr txBox="1"/>
            <p:nvPr/>
          </p:nvSpPr>
          <p:spPr>
            <a:xfrm>
              <a:off x="717550" y="6148514"/>
              <a:ext cx="12700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en-US">
                  <a:solidFill>
                    <a:srgbClr val="5AE7CE"/>
                  </a:solidFill>
                  <a:latin typeface="Arial"/>
                  <a:ea typeface="SimHei"/>
                </a:rPr>
                <a:t>Management</a:t>
              </a:r>
            </a:p>
          </p:txBody>
        </p:sp>
        <p:sp>
          <p:nvSpPr>
            <p:cNvPr id="95" name="Text | Project ownership   ·   User roles   ·   Environment checks   ·   GPU status   ·   Storage quotas   ·   Activity logs"/>
            <p:cNvSpPr txBox="1"/>
            <p:nvPr/>
          </p:nvSpPr>
          <p:spPr>
            <a:xfrm>
              <a:off x="1898650" y="6154230"/>
              <a:ext cx="95885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en-US">
                  <a:solidFill>
                    <a:srgbClr val="ACC7DA"/>
                  </a:solidFill>
                  <a:latin typeface="Arial"/>
                  <a:ea typeface="SimHei"/>
                </a:rPr>
                <a:t>Project ownership   ·   User roles   ·   Environment checks   ·   GPU status   ·   Storage quotas   ·   Activity logs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61A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nector | 1"/>
          <p:cNvSpPr/>
          <p:nvPr/>
        </p:nvSpPr>
        <p:spPr>
          <a:xfrm>
            <a:off x="8572500" y="0"/>
            <a:ext cx="3213100" cy="565150"/>
          </a:xfrm>
          <a:custGeom>
            <a:avLst/>
            <a:gdLst/>
            <a:ahLst/>
            <a:cxnLst/>
            <a:rect l="0" t="0" r="r" b="b"/>
            <a:pathLst>
              <a:path w="50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50600" y="8900"/>
                </a:lnTo>
              </a:path>
            </a:pathLst>
          </a:custGeom>
          <a:noFill/>
          <a:ln w="6350" cap="rnd">
            <a:solidFill>
              <a:srgbClr val="28516A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le | 1"/>
          <p:cNvSpPr/>
          <p:nvPr/>
        </p:nvSpPr>
        <p:spPr>
          <a:xfrm>
            <a:off x="8832850" y="546100"/>
            <a:ext cx="38100" cy="38100"/>
          </a:xfrm>
          <a:prstGeom prst="ellipse">
            <a:avLst/>
          </a:prstGeom>
          <a:solidFill>
            <a:srgbClr val="285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nnector | 2"/>
          <p:cNvSpPr/>
          <p:nvPr/>
        </p:nvSpPr>
        <p:spPr>
          <a:xfrm>
            <a:off x="9588500" y="0"/>
            <a:ext cx="2197100" cy="565150"/>
          </a:xfrm>
          <a:custGeom>
            <a:avLst/>
            <a:gdLst/>
            <a:ahLst/>
            <a:cxnLst/>
            <a:rect l="0" t="0" r="r" b="b"/>
            <a:pathLst>
              <a:path w="34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34600" y="8900"/>
                </a:lnTo>
              </a:path>
            </a:pathLst>
          </a:custGeom>
          <a:noFill/>
          <a:ln w="6350" cap="rnd">
            <a:solidFill>
              <a:srgbClr val="28516A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ircle | 2"/>
          <p:cNvSpPr/>
          <p:nvPr/>
        </p:nvSpPr>
        <p:spPr>
          <a:xfrm>
            <a:off x="9848850" y="546100"/>
            <a:ext cx="38100" cy="38100"/>
          </a:xfrm>
          <a:prstGeom prst="ellipse">
            <a:avLst/>
          </a:prstGeom>
          <a:solidFill>
            <a:srgbClr val="285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nector | 3"/>
          <p:cNvSpPr/>
          <p:nvPr/>
        </p:nvSpPr>
        <p:spPr>
          <a:xfrm>
            <a:off x="10604500" y="0"/>
            <a:ext cx="1181100" cy="565150"/>
          </a:xfrm>
          <a:custGeom>
            <a:avLst/>
            <a:gdLst/>
            <a:ahLst/>
            <a:cxnLst/>
            <a:rect l="0" t="0" r="r" b="b"/>
            <a:pathLst>
              <a:path w="18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18600" y="8900"/>
                </a:lnTo>
              </a:path>
            </a:pathLst>
          </a:custGeom>
          <a:noFill/>
          <a:ln w="6350" cap="rnd">
            <a:solidFill>
              <a:srgbClr val="28516A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ircle | 3"/>
          <p:cNvSpPr/>
          <p:nvPr/>
        </p:nvSpPr>
        <p:spPr>
          <a:xfrm>
            <a:off x="10864850" y="546100"/>
            <a:ext cx="38100" cy="38100"/>
          </a:xfrm>
          <a:prstGeom prst="ellipse">
            <a:avLst/>
          </a:prstGeom>
          <a:solidFill>
            <a:srgbClr val="285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 | 1"/>
          <p:cNvSpPr/>
          <p:nvPr/>
        </p:nvSpPr>
        <p:spPr>
          <a:xfrm>
            <a:off x="406400" y="34290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59D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 | HAWKEYEPLUS  /  INDUSTRIAL VISION AI"/>
          <p:cNvSpPr txBox="1"/>
          <p:nvPr/>
        </p:nvSpPr>
        <p:spPr>
          <a:xfrm>
            <a:off x="546100" y="356680"/>
            <a:ext cx="76200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en-US">
                <a:solidFill>
                  <a:srgbClr val="ACC7DA"/>
                </a:solidFill>
                <a:latin typeface="Arial"/>
                <a:ea typeface="SimHei"/>
              </a:rPr>
              <a:t>HAWKEYEPLUS  /  INDUSTRIAL VISION AI</a:t>
            </a:r>
          </a:p>
        </p:txBody>
      </p:sp>
      <p:pic>
        <p:nvPicPr>
          <p:cNvPr id="10" name="Picture | Independent image" descr="e017beb952387d30090e1fda3144c761a93fb625fd3ee9841457bf2c4c7476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325755"/>
            <a:ext cx="704850" cy="281940"/>
          </a:xfrm>
          <a:prstGeom prst="rect">
            <a:avLst/>
          </a:prstGeom>
        </p:spPr>
      </p:pic>
      <p:sp>
        <p:nvSpPr>
          <p:cNvPr id="11" name="Text | A Visual Lifecycle: From Data to Models"/>
          <p:cNvSpPr txBox="1"/>
          <p:nvPr/>
        </p:nvSpPr>
        <p:spPr>
          <a:xfrm>
            <a:off x="406400" y="593662"/>
            <a:ext cx="10858500" cy="58191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567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en-US">
                <a:solidFill>
                  <a:srgbClr val="F2F8FF"/>
                </a:solidFill>
                <a:latin typeface="Arial"/>
                <a:ea typeface="SimHei"/>
              </a:rPr>
              <a:t>A Visual Lifecycle: From Data to Models</a:t>
            </a:r>
          </a:p>
        </p:txBody>
      </p:sp>
      <p:sp>
        <p:nvSpPr>
          <p:cNvPr id="12" name="Text | Bring preparation, training and validation into a shared model-development workflow"/>
          <p:cNvSpPr txBox="1"/>
          <p:nvPr/>
        </p:nvSpPr>
        <p:spPr>
          <a:xfrm>
            <a:off x="425450" y="1064578"/>
            <a:ext cx="11049000" cy="28092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en-US">
                <a:solidFill>
                  <a:srgbClr val="ACC7DA"/>
                </a:solidFill>
                <a:latin typeface="Arial"/>
                <a:ea typeface="SimHei"/>
              </a:rPr>
              <a:t>Bring preparation, training and validation into a shared model-development workflow</a:t>
            </a:r>
          </a:p>
        </p:txBody>
      </p:sp>
      <p:cxnSp>
        <p:nvCxnSpPr>
          <p:cNvPr id="13" name="Connector | 4"/>
          <p:cNvCxnSpPr/>
          <p:nvPr/>
        </p:nvCxnSpPr>
        <p:spPr>
          <a:xfrm>
            <a:off x="406400" y="6521450"/>
            <a:ext cx="11379200" cy="0"/>
          </a:xfrm>
          <a:prstGeom prst="line">
            <a:avLst/>
          </a:prstGeom>
          <a:ln w="6350" cap="rnd">
            <a:solidFill>
              <a:srgbClr val="28516A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| HawkeyePlus  ·  AI Model Training Platform"/>
          <p:cNvSpPr txBox="1"/>
          <p:nvPr/>
        </p:nvSpPr>
        <p:spPr>
          <a:xfrm>
            <a:off x="412750" y="6607238"/>
            <a:ext cx="66675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ACC7DA"/>
                </a:solidFill>
                <a:latin typeface="Arial"/>
                <a:ea typeface="SimHei"/>
              </a:rPr>
              <a:t>HawkeyePlus  ·  AI Model Training Platform</a:t>
            </a:r>
          </a:p>
        </p:txBody>
      </p:sp>
      <p:sp>
        <p:nvSpPr>
          <p:cNvPr id="15" name="Text | WD CONFIDENTIAL"/>
          <p:cNvSpPr txBox="1"/>
          <p:nvPr/>
        </p:nvSpPr>
        <p:spPr>
          <a:xfrm>
            <a:off x="8559800" y="6613017"/>
            <a:ext cx="2540000" cy="1504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en-US">
                <a:solidFill>
                  <a:srgbClr val="ACC7DA"/>
                </a:solidFill>
                <a:latin typeface="Arial"/>
                <a:ea typeface="SimHei"/>
              </a:rPr>
              <a:t>WD CONFIDENTIAL</a:t>
            </a:r>
          </a:p>
        </p:txBody>
      </p:sp>
      <p:sp>
        <p:nvSpPr>
          <p:cNvPr id="16" name="Text | 02"/>
          <p:cNvSpPr txBox="1"/>
          <p:nvPr/>
        </p:nvSpPr>
        <p:spPr>
          <a:xfrm>
            <a:off x="11455400" y="6607238"/>
            <a:ext cx="3175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ACC7DA"/>
                </a:solidFill>
                <a:latin typeface="Arial"/>
                <a:ea typeface="SimHei"/>
              </a:rPr>
              <a:t>02</a:t>
            </a:r>
          </a:p>
        </p:txBody>
      </p:sp>
      <p:grpSp>
        <p:nvGrpSpPr>
          <p:cNvPr id="17" name="Node | Prepare Data"/>
          <p:cNvGrpSpPr/>
          <p:nvPr/>
        </p:nvGrpSpPr>
        <p:grpSpPr>
          <a:xfrm>
            <a:off x="406400" y="1543050"/>
            <a:ext cx="2133600" cy="2781300"/>
            <a:chOff x="406400" y="1543050"/>
            <a:chExt cx="2133600" cy="2781300"/>
          </a:xfrm>
        </p:grpSpPr>
        <p:sp>
          <p:nvSpPr>
            <p:cNvPr id="18" name="Panel | 2"/>
            <p:cNvSpPr/>
            <p:nvPr/>
          </p:nvSpPr>
          <p:spPr>
            <a:xfrm>
              <a:off x="406400" y="1543050"/>
              <a:ext cx="2133600" cy="2781300"/>
            </a:xfrm>
            <a:prstGeom prst="roundRect">
              <a:avLst>
                <a:gd name="adj" fmla="val 5952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 | 01"/>
            <p:cNvSpPr txBox="1"/>
            <p:nvPr/>
          </p:nvSpPr>
          <p:spPr>
            <a:xfrm>
              <a:off x="565150" y="1677480"/>
              <a:ext cx="3810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59DAF5"/>
                  </a:solidFill>
                  <a:latin typeface="Arial"/>
                  <a:ea typeface="SimHei"/>
                </a:rPr>
                <a:t>01</a:t>
              </a:r>
            </a:p>
          </p:txBody>
        </p:sp>
        <p:sp>
          <p:nvSpPr>
            <p:cNvPr id="20" name="Text | Prepare Data"/>
            <p:cNvSpPr txBox="1"/>
            <p:nvPr/>
          </p:nvSpPr>
          <p:spPr>
            <a:xfrm>
              <a:off x="927100" y="1638490"/>
              <a:ext cx="144780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en-US">
                  <a:solidFill>
                    <a:srgbClr val="F2F8FF"/>
                  </a:solidFill>
                  <a:latin typeface="Arial"/>
                  <a:ea typeface="SimHei"/>
                </a:rPr>
                <a:t>Prepare Data</a:t>
              </a:r>
            </a:p>
          </p:txBody>
        </p:sp>
        <p:pic>
          <p:nvPicPr>
            <p:cNvPr id="21" name="Picture | Independent image" descr="dca9992104344becf1657068f9e488ef6e6e5ec65c2969c6c372a0778acbc191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8855" y="1987550"/>
              <a:ext cx="1648691" cy="1511300"/>
            </a:xfrm>
            <a:prstGeom prst="rect">
              <a:avLst/>
            </a:prstGeom>
          </p:spPr>
        </p:pic>
        <p:cxnSp>
          <p:nvCxnSpPr>
            <p:cNvPr id="22" name="Connector | 5"/>
            <p:cNvCxnSpPr/>
            <p:nvPr/>
          </p:nvCxnSpPr>
          <p:spPr>
            <a:xfrm>
              <a:off x="565150" y="3575050"/>
              <a:ext cx="1816100" cy="0"/>
            </a:xfrm>
            <a:prstGeom prst="line">
              <a:avLst/>
            </a:prstGeom>
            <a:ln w="6350" cap="rnd">
              <a:solidFill>
                <a:srgbClr val="28516A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 | Import images &amp; labels"/>
            <p:cNvSpPr txBox="1"/>
            <p:nvPr/>
          </p:nvSpPr>
          <p:spPr>
            <a:xfrm>
              <a:off x="476250" y="3722814"/>
              <a:ext cx="19939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en-US">
                  <a:solidFill>
                    <a:srgbClr val="F2F8FF"/>
                  </a:solidFill>
                  <a:latin typeface="Arial"/>
                  <a:ea typeface="SimHei"/>
                </a:rPr>
                <a:t>Import images &amp; labels</a:t>
              </a:r>
            </a:p>
          </p:txBody>
        </p:sp>
        <p:sp>
          <p:nvSpPr>
            <p:cNvPr id="24" name="Text | Convert formats · Review samples"/>
            <p:cNvSpPr txBox="1"/>
            <p:nvPr/>
          </p:nvSpPr>
          <p:spPr>
            <a:xfrm>
              <a:off x="476250" y="3988752"/>
              <a:ext cx="1993900" cy="197750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21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85" b="0" lang="en-US">
                  <a:solidFill>
                    <a:srgbClr val="ACC7DA"/>
                  </a:solidFill>
                  <a:latin typeface="Arial"/>
                  <a:ea typeface="SimHei"/>
                </a:rPr>
                <a:t>Convert formats · Review samples</a:t>
              </a:r>
            </a:p>
          </p:txBody>
        </p:sp>
      </p:grpSp>
      <p:cxnSp>
        <p:nvCxnSpPr>
          <p:cNvPr id="25" name="Connector | 6"/>
          <p:cNvCxnSpPr/>
          <p:nvPr/>
        </p:nvCxnSpPr>
        <p:spPr>
          <a:xfrm>
            <a:off x="2571750" y="2908300"/>
            <a:ext cx="114300" cy="0"/>
          </a:xfrm>
          <a:prstGeom prst="line">
            <a:avLst/>
          </a:prstGeom>
          <a:ln w="12700" cap="rnd">
            <a:solidFill>
              <a:srgbClr val="59DAF5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6" name="Node | Configure"/>
          <p:cNvGrpSpPr/>
          <p:nvPr/>
        </p:nvGrpSpPr>
        <p:grpSpPr>
          <a:xfrm>
            <a:off x="2717800" y="1543050"/>
            <a:ext cx="2133600" cy="2781300"/>
            <a:chOff x="2717800" y="1543050"/>
            <a:chExt cx="2133600" cy="2781300"/>
          </a:xfrm>
        </p:grpSpPr>
        <p:sp>
          <p:nvSpPr>
            <p:cNvPr id="27" name="Panel | 3"/>
            <p:cNvSpPr/>
            <p:nvPr/>
          </p:nvSpPr>
          <p:spPr>
            <a:xfrm>
              <a:off x="2717800" y="1543050"/>
              <a:ext cx="2133600" cy="2781300"/>
            </a:xfrm>
            <a:prstGeom prst="roundRect">
              <a:avLst>
                <a:gd name="adj" fmla="val 5952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 | 02"/>
            <p:cNvSpPr txBox="1"/>
            <p:nvPr/>
          </p:nvSpPr>
          <p:spPr>
            <a:xfrm>
              <a:off x="2876550" y="1677480"/>
              <a:ext cx="3810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59DAF5"/>
                  </a:solidFill>
                  <a:latin typeface="Arial"/>
                  <a:ea typeface="SimHei"/>
                </a:rPr>
                <a:t>02</a:t>
              </a:r>
            </a:p>
          </p:txBody>
        </p:sp>
        <p:sp>
          <p:nvSpPr>
            <p:cNvPr id="29" name="Text | Configure"/>
            <p:cNvSpPr txBox="1"/>
            <p:nvPr/>
          </p:nvSpPr>
          <p:spPr>
            <a:xfrm>
              <a:off x="3238500" y="1638490"/>
              <a:ext cx="144780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en-US">
                  <a:solidFill>
                    <a:srgbClr val="F2F8FF"/>
                  </a:solidFill>
                  <a:latin typeface="Arial"/>
                  <a:ea typeface="SimHei"/>
                </a:rPr>
                <a:t>Configure</a:t>
              </a:r>
            </a:p>
          </p:txBody>
        </p:sp>
        <p:pic>
          <p:nvPicPr>
            <p:cNvPr id="30" name="Picture | Independent image" descr="e749ed29ef9673ffe44368b954ea38290420300c1996c84037209d6a50dbf712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60255" y="1987550"/>
              <a:ext cx="1648691" cy="1511300"/>
            </a:xfrm>
            <a:prstGeom prst="rect">
              <a:avLst/>
            </a:prstGeom>
          </p:spPr>
        </p:pic>
        <p:cxnSp>
          <p:nvCxnSpPr>
            <p:cNvPr id="31" name="Connector | 7"/>
            <p:cNvCxnSpPr/>
            <p:nvPr/>
          </p:nvCxnSpPr>
          <p:spPr>
            <a:xfrm>
              <a:off x="2876550" y="3575050"/>
              <a:ext cx="1816100" cy="0"/>
            </a:xfrm>
            <a:prstGeom prst="line">
              <a:avLst/>
            </a:prstGeom>
            <a:ln w="6350" cap="rnd">
              <a:solidFill>
                <a:srgbClr val="28516A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 | Dataset + Model + Parameters"/>
            <p:cNvSpPr txBox="1"/>
            <p:nvPr/>
          </p:nvSpPr>
          <p:spPr>
            <a:xfrm>
              <a:off x="2787650" y="3733355"/>
              <a:ext cx="1993900" cy="22243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36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8" b="0" lang="en-US">
                  <a:solidFill>
                    <a:srgbClr val="F2F8FF"/>
                  </a:solidFill>
                  <a:latin typeface="Arial"/>
                  <a:ea typeface="SimHei"/>
                </a:rPr>
                <a:t>Dataset + Model + Parameters</a:t>
              </a:r>
            </a:p>
          </p:txBody>
        </p:sp>
        <p:sp>
          <p:nvSpPr>
            <p:cNvPr id="33" name="Text | Reusable templates · Visual setup"/>
            <p:cNvSpPr txBox="1"/>
            <p:nvPr/>
          </p:nvSpPr>
          <p:spPr>
            <a:xfrm>
              <a:off x="2787650" y="3987800"/>
              <a:ext cx="1993900" cy="1994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2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4" b="0" lang="en-US">
                  <a:solidFill>
                    <a:srgbClr val="ACC7DA"/>
                  </a:solidFill>
                  <a:latin typeface="Arial"/>
                  <a:ea typeface="SimHei"/>
                </a:rPr>
                <a:t>Reusable templates · Visual setup</a:t>
              </a:r>
            </a:p>
          </p:txBody>
        </p:sp>
      </p:grpSp>
      <p:cxnSp>
        <p:nvCxnSpPr>
          <p:cNvPr id="34" name="Connector | 8"/>
          <p:cNvCxnSpPr/>
          <p:nvPr/>
        </p:nvCxnSpPr>
        <p:spPr>
          <a:xfrm>
            <a:off x="4883150" y="2908300"/>
            <a:ext cx="114300" cy="0"/>
          </a:xfrm>
          <a:prstGeom prst="line">
            <a:avLst/>
          </a:prstGeom>
          <a:ln w="12700" cap="rnd">
            <a:solidFill>
              <a:srgbClr val="59DAF5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" name="Node | Training Monitor"/>
          <p:cNvGrpSpPr/>
          <p:nvPr/>
        </p:nvGrpSpPr>
        <p:grpSpPr>
          <a:xfrm>
            <a:off x="5029200" y="1543050"/>
            <a:ext cx="2133600" cy="2781300"/>
            <a:chOff x="5029200" y="1543050"/>
            <a:chExt cx="2133600" cy="2781300"/>
          </a:xfrm>
        </p:grpSpPr>
        <p:sp>
          <p:nvSpPr>
            <p:cNvPr id="36" name="Panel | 4"/>
            <p:cNvSpPr/>
            <p:nvPr/>
          </p:nvSpPr>
          <p:spPr>
            <a:xfrm>
              <a:off x="5029200" y="1543050"/>
              <a:ext cx="2133600" cy="2781300"/>
            </a:xfrm>
            <a:prstGeom prst="roundRect">
              <a:avLst>
                <a:gd name="adj" fmla="val 5952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 | 03"/>
            <p:cNvSpPr txBox="1"/>
            <p:nvPr/>
          </p:nvSpPr>
          <p:spPr>
            <a:xfrm>
              <a:off x="5187950" y="1677480"/>
              <a:ext cx="3810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59DAF5"/>
                  </a:solidFill>
                  <a:latin typeface="Arial"/>
                  <a:ea typeface="SimHei"/>
                </a:rPr>
                <a:t>03</a:t>
              </a:r>
            </a:p>
          </p:txBody>
        </p:sp>
        <p:sp>
          <p:nvSpPr>
            <p:cNvPr id="38" name="Text | Training Monitor"/>
            <p:cNvSpPr txBox="1"/>
            <p:nvPr/>
          </p:nvSpPr>
          <p:spPr>
            <a:xfrm>
              <a:off x="5549900" y="1663129"/>
              <a:ext cx="1447800" cy="27801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0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85" b="1" lang="en-US">
                  <a:solidFill>
                    <a:srgbClr val="F2F8FF"/>
                  </a:solidFill>
                  <a:latin typeface="Arial"/>
                  <a:ea typeface="SimHei"/>
                </a:rPr>
                <a:t>Training Monitor</a:t>
              </a:r>
            </a:p>
          </p:txBody>
        </p:sp>
        <p:pic>
          <p:nvPicPr>
            <p:cNvPr id="39" name="Picture | Independent image" descr="638a5e1573c3600b91babb87081a39e4e91d4f6ddb30245cad89936736c833a8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71655" y="1987550"/>
              <a:ext cx="1648691" cy="1511300"/>
            </a:xfrm>
            <a:prstGeom prst="rect">
              <a:avLst/>
            </a:prstGeom>
          </p:spPr>
        </p:pic>
        <p:cxnSp>
          <p:nvCxnSpPr>
            <p:cNvPr id="40" name="Connector | 9"/>
            <p:cNvCxnSpPr/>
            <p:nvPr/>
          </p:nvCxnSpPr>
          <p:spPr>
            <a:xfrm>
              <a:off x="5187950" y="3575050"/>
              <a:ext cx="1816100" cy="0"/>
            </a:xfrm>
            <a:prstGeom prst="line">
              <a:avLst/>
            </a:prstGeom>
            <a:ln w="6350" cap="rnd">
              <a:solidFill>
                <a:srgbClr val="28516A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 | Run jobs · Track training"/>
            <p:cNvSpPr txBox="1"/>
            <p:nvPr/>
          </p:nvSpPr>
          <p:spPr>
            <a:xfrm>
              <a:off x="5099050" y="3722814"/>
              <a:ext cx="19939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en-US">
                  <a:solidFill>
                    <a:srgbClr val="F2F8FF"/>
                  </a:solidFill>
                  <a:latin typeface="Arial"/>
                  <a:ea typeface="SimHei"/>
                </a:rPr>
                <a:t>Run jobs · Track training</a:t>
              </a:r>
            </a:p>
          </p:txBody>
        </p:sp>
        <p:sp>
          <p:nvSpPr>
            <p:cNvPr id="42" name="Text | Progress · Loss · Metrics"/>
            <p:cNvSpPr txBox="1"/>
            <p:nvPr/>
          </p:nvSpPr>
          <p:spPr>
            <a:xfrm>
              <a:off x="5099050" y="3969829"/>
              <a:ext cx="19939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en-US">
                  <a:solidFill>
                    <a:srgbClr val="ACC7DA"/>
                  </a:solidFill>
                  <a:latin typeface="Arial"/>
                  <a:ea typeface="SimHei"/>
                </a:rPr>
                <a:t>Progress · Loss · Metrics</a:t>
              </a:r>
            </a:p>
          </p:txBody>
        </p:sp>
      </p:grpSp>
      <p:cxnSp>
        <p:nvCxnSpPr>
          <p:cNvPr id="43" name="Connector | 10"/>
          <p:cNvCxnSpPr/>
          <p:nvPr/>
        </p:nvCxnSpPr>
        <p:spPr>
          <a:xfrm>
            <a:off x="7194550" y="2908300"/>
            <a:ext cx="114300" cy="0"/>
          </a:xfrm>
          <a:prstGeom prst="line">
            <a:avLst/>
          </a:prstGeom>
          <a:ln w="12700" cap="rnd">
            <a:solidFill>
              <a:srgbClr val="59DAF5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4" name="Node | Validate"/>
          <p:cNvGrpSpPr/>
          <p:nvPr/>
        </p:nvGrpSpPr>
        <p:grpSpPr>
          <a:xfrm>
            <a:off x="7340600" y="1543050"/>
            <a:ext cx="2133600" cy="2781300"/>
            <a:chOff x="7340600" y="1543050"/>
            <a:chExt cx="2133600" cy="2781300"/>
          </a:xfrm>
        </p:grpSpPr>
        <p:sp>
          <p:nvSpPr>
            <p:cNvPr id="45" name="Panel | 5"/>
            <p:cNvSpPr/>
            <p:nvPr/>
          </p:nvSpPr>
          <p:spPr>
            <a:xfrm>
              <a:off x="7340600" y="1543050"/>
              <a:ext cx="2133600" cy="2781300"/>
            </a:xfrm>
            <a:prstGeom prst="roundRect">
              <a:avLst>
                <a:gd name="adj" fmla="val 5952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Text | 04"/>
            <p:cNvSpPr txBox="1"/>
            <p:nvPr/>
          </p:nvSpPr>
          <p:spPr>
            <a:xfrm>
              <a:off x="7499350" y="1677480"/>
              <a:ext cx="3810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59DAF5"/>
                  </a:solidFill>
                  <a:latin typeface="Arial"/>
                  <a:ea typeface="SimHei"/>
                </a:rPr>
                <a:t>04</a:t>
              </a:r>
            </a:p>
          </p:txBody>
        </p:sp>
        <p:sp>
          <p:nvSpPr>
            <p:cNvPr id="47" name="Text | Validate"/>
            <p:cNvSpPr txBox="1"/>
            <p:nvPr/>
          </p:nvSpPr>
          <p:spPr>
            <a:xfrm>
              <a:off x="7861300" y="1638490"/>
              <a:ext cx="144780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en-US">
                  <a:solidFill>
                    <a:srgbClr val="F2F8FF"/>
                  </a:solidFill>
                  <a:latin typeface="Arial"/>
                  <a:ea typeface="SimHei"/>
                </a:rPr>
                <a:t>Validate</a:t>
              </a:r>
            </a:p>
          </p:txBody>
        </p:sp>
        <p:pic>
          <p:nvPicPr>
            <p:cNvPr id="48" name="Picture | Independent image" descr="2be565438e37f3aa8be93ff686b7c11740c134cef8eb4f4e3ca62663aed7847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583055" y="1987550"/>
              <a:ext cx="1648691" cy="1511300"/>
            </a:xfrm>
            <a:prstGeom prst="rect">
              <a:avLst/>
            </a:prstGeom>
          </p:spPr>
        </p:pic>
        <p:cxnSp>
          <p:nvCxnSpPr>
            <p:cNvPr id="49" name="Connector | 11"/>
            <p:cNvCxnSpPr/>
            <p:nvPr/>
          </p:nvCxnSpPr>
          <p:spPr>
            <a:xfrm>
              <a:off x="7499350" y="3575050"/>
              <a:ext cx="1816100" cy="0"/>
            </a:xfrm>
            <a:prstGeom prst="line">
              <a:avLst/>
            </a:prstGeom>
            <a:ln w="6350" cap="rnd">
              <a:solidFill>
                <a:srgbClr val="28516A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 | Evaluate · Preview predictions"/>
            <p:cNvSpPr txBox="1"/>
            <p:nvPr/>
          </p:nvSpPr>
          <p:spPr>
            <a:xfrm>
              <a:off x="7410450" y="3731514"/>
              <a:ext cx="1993900" cy="22564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3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4" b="0" lang="en-US">
                  <a:solidFill>
                    <a:srgbClr val="F2F8FF"/>
                  </a:solidFill>
                  <a:latin typeface="Arial"/>
                  <a:ea typeface="SimHei"/>
                </a:rPr>
                <a:t>Evaluate · Preview predictions</a:t>
              </a:r>
            </a:p>
          </p:txBody>
        </p:sp>
        <p:sp>
          <p:nvSpPr>
            <p:cNvPr id="51" name="Text | Inspect results · Assess readiness"/>
            <p:cNvSpPr txBox="1"/>
            <p:nvPr/>
          </p:nvSpPr>
          <p:spPr>
            <a:xfrm>
              <a:off x="7410450" y="3987990"/>
              <a:ext cx="1993900" cy="19915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2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2" b="0" lang="en-US">
                  <a:solidFill>
                    <a:srgbClr val="ACC7DA"/>
                  </a:solidFill>
                  <a:latin typeface="Arial"/>
                  <a:ea typeface="SimHei"/>
                </a:rPr>
                <a:t>Inspect results · Assess readiness</a:t>
              </a:r>
            </a:p>
          </p:txBody>
        </p:sp>
      </p:grpSp>
      <p:cxnSp>
        <p:nvCxnSpPr>
          <p:cNvPr id="52" name="Connector | 12"/>
          <p:cNvCxnSpPr/>
          <p:nvPr/>
        </p:nvCxnSpPr>
        <p:spPr>
          <a:xfrm>
            <a:off x="9505950" y="2908300"/>
            <a:ext cx="114300" cy="0"/>
          </a:xfrm>
          <a:prstGeom prst="line">
            <a:avLst/>
          </a:prstGeom>
          <a:ln w="12700" cap="rnd">
            <a:solidFill>
              <a:srgbClr val="59DAF5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3" name="Node | Deliver Models"/>
          <p:cNvGrpSpPr/>
          <p:nvPr/>
        </p:nvGrpSpPr>
        <p:grpSpPr>
          <a:xfrm>
            <a:off x="9652000" y="1543050"/>
            <a:ext cx="2133600" cy="2781300"/>
            <a:chOff x="9652000" y="1543050"/>
            <a:chExt cx="2133600" cy="2781300"/>
          </a:xfrm>
        </p:grpSpPr>
        <p:sp>
          <p:nvSpPr>
            <p:cNvPr id="54" name="Panel | 6"/>
            <p:cNvSpPr/>
            <p:nvPr/>
          </p:nvSpPr>
          <p:spPr>
            <a:xfrm>
              <a:off x="9652000" y="1543050"/>
              <a:ext cx="2133600" cy="2781300"/>
            </a:xfrm>
            <a:prstGeom prst="roundRect">
              <a:avLst>
                <a:gd name="adj" fmla="val 5952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 | 05"/>
            <p:cNvSpPr txBox="1"/>
            <p:nvPr/>
          </p:nvSpPr>
          <p:spPr>
            <a:xfrm>
              <a:off x="9810750" y="1677480"/>
              <a:ext cx="3810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59DAF5"/>
                  </a:solidFill>
                  <a:latin typeface="Arial"/>
                  <a:ea typeface="SimHei"/>
                </a:rPr>
                <a:t>05</a:t>
              </a:r>
            </a:p>
          </p:txBody>
        </p:sp>
        <p:sp>
          <p:nvSpPr>
            <p:cNvPr id="56" name="Text | Deliver Models"/>
            <p:cNvSpPr txBox="1"/>
            <p:nvPr/>
          </p:nvSpPr>
          <p:spPr>
            <a:xfrm>
              <a:off x="10172700" y="1644269"/>
              <a:ext cx="1447800" cy="310923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49" b="1" lang="en-US">
                  <a:solidFill>
                    <a:srgbClr val="F2F8FF"/>
                  </a:solidFill>
                  <a:latin typeface="Arial"/>
                  <a:ea typeface="SimHei"/>
                </a:rPr>
                <a:t>Deliver Models</a:t>
              </a:r>
            </a:p>
          </p:txBody>
        </p:sp>
        <p:pic>
          <p:nvPicPr>
            <p:cNvPr id="57" name="Picture | Independent image" descr="12bb1e3e4f2e170eca1f6489649f4e45a3b3250e5c5303eec76095d714b0e260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894455" y="1987550"/>
              <a:ext cx="1648691" cy="1511300"/>
            </a:xfrm>
            <a:prstGeom prst="rect">
              <a:avLst/>
            </a:prstGeom>
          </p:spPr>
        </p:pic>
        <p:cxnSp>
          <p:nvCxnSpPr>
            <p:cNvPr id="58" name="Connector | 13"/>
            <p:cNvCxnSpPr/>
            <p:nvPr/>
          </p:nvCxnSpPr>
          <p:spPr>
            <a:xfrm>
              <a:off x="9810750" y="3575050"/>
              <a:ext cx="1816100" cy="0"/>
            </a:xfrm>
            <a:prstGeom prst="line">
              <a:avLst/>
            </a:prstGeom>
            <a:ln w="6350" cap="rnd">
              <a:solidFill>
                <a:srgbClr val="28516A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 | Export · Register versions"/>
            <p:cNvSpPr txBox="1"/>
            <p:nvPr/>
          </p:nvSpPr>
          <p:spPr>
            <a:xfrm>
              <a:off x="9721850" y="3722814"/>
              <a:ext cx="19939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en-US">
                  <a:solidFill>
                    <a:srgbClr val="F2F8FF"/>
                  </a:solidFill>
                  <a:latin typeface="Arial"/>
                  <a:ea typeface="SimHei"/>
                </a:rPr>
                <a:t>Export · Register versions</a:t>
              </a:r>
            </a:p>
          </p:txBody>
        </p:sp>
        <p:sp>
          <p:nvSpPr>
            <p:cNvPr id="60" name="Text | Select the active product model"/>
            <p:cNvSpPr txBox="1"/>
            <p:nvPr/>
          </p:nvSpPr>
          <p:spPr>
            <a:xfrm>
              <a:off x="9721850" y="3977894"/>
              <a:ext cx="1993900" cy="216713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3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lang="en-US">
                  <a:solidFill>
                    <a:srgbClr val="ACC7DA"/>
                  </a:solidFill>
                  <a:latin typeface="Arial"/>
                  <a:ea typeface="SimHei"/>
                </a:rPr>
                <a:t>Select the active product model</a:t>
              </a:r>
            </a:p>
          </p:txBody>
        </p:sp>
      </p:grpSp>
      <p:sp>
        <p:nvSpPr>
          <p:cNvPr id="61" name="Connector | 14"/>
          <p:cNvSpPr/>
          <p:nvPr/>
        </p:nvSpPr>
        <p:spPr>
          <a:xfrm>
            <a:off x="1473200" y="4349750"/>
            <a:ext cx="6934200" cy="260350"/>
          </a:xfrm>
          <a:custGeom>
            <a:avLst/>
            <a:gdLst/>
            <a:ahLst/>
            <a:cxnLst/>
            <a:rect l="0" t="0" r="r" b="b"/>
            <a:pathLst>
              <a:path w="109200" h="4100" fill="none">
                <a:moveTo>
                  <a:pt x="109200" y="0"/>
                </a:moveTo>
                <a:lnTo>
                  <a:pt x="109200" y="4100"/>
                </a:lnTo>
                <a:lnTo>
                  <a:pt x="0" y="4100"/>
                </a:lnTo>
                <a:lnTo>
                  <a:pt x="0" y="300"/>
                </a:lnTo>
              </a:path>
            </a:pathLst>
          </a:custGeom>
          <a:noFill/>
          <a:ln w="12700" cap="rnd">
            <a:solidFill>
              <a:srgbClr val="59DAF5"/>
            </a:solidFill>
            <a:round/>
            <a:tailEnd type="arrow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Panel | 7"/>
          <p:cNvSpPr/>
          <p:nvPr/>
        </p:nvSpPr>
        <p:spPr>
          <a:xfrm>
            <a:off x="3048000" y="4470400"/>
            <a:ext cx="3860800" cy="266700"/>
          </a:xfrm>
          <a:prstGeom prst="roundRect">
            <a:avLst>
              <a:gd name="adj" fmla="val 11904"/>
            </a:avLst>
          </a:prstGeom>
          <a:solidFill>
            <a:srgbClr val="06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 | Use validation results to refine data and configuration"/>
          <p:cNvSpPr txBox="1"/>
          <p:nvPr/>
        </p:nvSpPr>
        <p:spPr>
          <a:xfrm>
            <a:off x="3105150" y="4516946"/>
            <a:ext cx="3746500" cy="240090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>
              <a:lnSpc>
                <a:spcPts val="1471"/>
              </a:lnSpc>
              <a:spcBef>
                <a:spcPts val="0"/>
              </a:spcBef>
              <a:spcAft>
                <a:spcPts val="0"/>
              </a:spcAft>
            </a:pPr>
            <a:r>
              <a:rPr sz="1196" b="0" lang="en-US">
                <a:solidFill>
                  <a:srgbClr val="59DAF5"/>
                </a:solidFill>
                <a:latin typeface="Arial"/>
                <a:ea typeface="SimHei"/>
              </a:rPr>
              <a:t>Use validation results to refine data and configuration</a:t>
            </a:r>
          </a:p>
        </p:txBody>
      </p:sp>
      <p:sp>
        <p:nvSpPr>
          <p:cNvPr id="64" name="Text | Four vision tasks. One shared training platform."/>
          <p:cNvSpPr txBox="1"/>
          <p:nvPr/>
        </p:nvSpPr>
        <p:spPr>
          <a:xfrm>
            <a:off x="406400" y="4896612"/>
            <a:ext cx="10795000" cy="33108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F2F8FF"/>
                </a:solidFill>
                <a:latin typeface="Arial"/>
                <a:ea typeface="SimHei"/>
              </a:rPr>
              <a:t>Four vision tasks. One shared training platform.</a:t>
            </a:r>
          </a:p>
        </p:txBody>
      </p:sp>
      <p:grpSp>
        <p:nvGrpSpPr>
          <p:cNvPr id="65" name="Node | Object Detection"/>
          <p:cNvGrpSpPr/>
          <p:nvPr/>
        </p:nvGrpSpPr>
        <p:grpSpPr>
          <a:xfrm>
            <a:off x="406400" y="5251450"/>
            <a:ext cx="2711450" cy="717550"/>
            <a:chOff x="406400" y="5251450"/>
            <a:chExt cx="2711450" cy="717550"/>
          </a:xfrm>
        </p:grpSpPr>
        <p:sp>
          <p:nvSpPr>
            <p:cNvPr id="66" name="Panel | 8"/>
            <p:cNvSpPr/>
            <p:nvPr/>
          </p:nvSpPr>
          <p:spPr>
            <a:xfrm>
              <a:off x="406400" y="5251450"/>
              <a:ext cx="2711450" cy="717550"/>
            </a:xfrm>
            <a:prstGeom prst="roundRect">
              <a:avLst>
                <a:gd name="adj" fmla="val 12389"/>
              </a:avLst>
            </a:prstGeom>
            <a:solidFill>
              <a:srgbClr val="12364F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Panel | 9"/>
            <p:cNvSpPr/>
            <p:nvPr/>
          </p:nvSpPr>
          <p:spPr>
            <a:xfrm>
              <a:off x="533400" y="5403850"/>
              <a:ext cx="25400" cy="381000"/>
            </a:xfrm>
            <a:prstGeom prst="roundRect">
              <a:avLst>
                <a:gd name="adj" fmla="val 50000"/>
              </a:avLst>
            </a:prstGeom>
            <a:solidFill>
              <a:srgbClr val="59DA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Text | Object Detection"/>
            <p:cNvSpPr txBox="1"/>
            <p:nvPr/>
          </p:nvSpPr>
          <p:spPr>
            <a:xfrm>
              <a:off x="673100" y="5382578"/>
              <a:ext cx="232410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en-US">
                  <a:solidFill>
                    <a:srgbClr val="F2F8FF"/>
                  </a:solidFill>
                  <a:latin typeface="Arial"/>
                  <a:ea typeface="SimHei"/>
                </a:rPr>
                <a:t>Object Detection</a:t>
              </a:r>
            </a:p>
          </p:txBody>
        </p:sp>
        <p:sp>
          <p:nvSpPr>
            <p:cNvPr id="69" name="Text | Locate objects and defects"/>
            <p:cNvSpPr txBox="1"/>
            <p:nvPr/>
          </p:nvSpPr>
          <p:spPr>
            <a:xfrm>
              <a:off x="673100" y="5672264"/>
              <a:ext cx="23241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en-US">
                  <a:solidFill>
                    <a:srgbClr val="ACC7DA"/>
                  </a:solidFill>
                  <a:latin typeface="Arial"/>
                  <a:ea typeface="SimHei"/>
                </a:rPr>
                <a:t>Locate objects and defects</a:t>
              </a:r>
            </a:p>
          </p:txBody>
        </p:sp>
      </p:grpSp>
      <p:grpSp>
        <p:nvGrpSpPr>
          <p:cNvPr id="70" name="Node | Image Classification"/>
          <p:cNvGrpSpPr/>
          <p:nvPr/>
        </p:nvGrpSpPr>
        <p:grpSpPr>
          <a:xfrm>
            <a:off x="3295650" y="5251450"/>
            <a:ext cx="2711450" cy="717550"/>
            <a:chOff x="3295650" y="5251450"/>
            <a:chExt cx="2711450" cy="717550"/>
          </a:xfrm>
        </p:grpSpPr>
        <p:sp>
          <p:nvSpPr>
            <p:cNvPr id="71" name="Panel | 10"/>
            <p:cNvSpPr/>
            <p:nvPr/>
          </p:nvSpPr>
          <p:spPr>
            <a:xfrm>
              <a:off x="3295650" y="5251450"/>
              <a:ext cx="2711450" cy="717550"/>
            </a:xfrm>
            <a:prstGeom prst="roundRect">
              <a:avLst>
                <a:gd name="adj" fmla="val 12389"/>
              </a:avLst>
            </a:prstGeom>
            <a:solidFill>
              <a:srgbClr val="12364F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Panel | 11"/>
            <p:cNvSpPr/>
            <p:nvPr/>
          </p:nvSpPr>
          <p:spPr>
            <a:xfrm>
              <a:off x="3422650" y="5403850"/>
              <a:ext cx="25400" cy="381000"/>
            </a:xfrm>
            <a:prstGeom prst="roundRect">
              <a:avLst>
                <a:gd name="adj" fmla="val 50000"/>
              </a:avLst>
            </a:prstGeom>
            <a:solidFill>
              <a:srgbClr val="59DA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Text | Image Classification"/>
            <p:cNvSpPr txBox="1"/>
            <p:nvPr/>
          </p:nvSpPr>
          <p:spPr>
            <a:xfrm>
              <a:off x="3562350" y="5382578"/>
              <a:ext cx="232410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en-US">
                  <a:solidFill>
                    <a:srgbClr val="F2F8FF"/>
                  </a:solidFill>
                  <a:latin typeface="Arial"/>
                  <a:ea typeface="SimHei"/>
                </a:rPr>
                <a:t>Image Classification</a:t>
              </a:r>
            </a:p>
          </p:txBody>
        </p:sp>
        <p:sp>
          <p:nvSpPr>
            <p:cNvPr id="74" name="Text | Recognize categories and quality"/>
            <p:cNvSpPr txBox="1"/>
            <p:nvPr/>
          </p:nvSpPr>
          <p:spPr>
            <a:xfrm>
              <a:off x="3562350" y="5672455"/>
              <a:ext cx="2324100" cy="2403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8" b="0" lang="en-US">
                  <a:solidFill>
                    <a:srgbClr val="ACC7DA"/>
                  </a:solidFill>
                  <a:latin typeface="Arial"/>
                  <a:ea typeface="SimHei"/>
                </a:rPr>
                <a:t>Recognize categories and quality</a:t>
              </a:r>
            </a:p>
          </p:txBody>
        </p:sp>
      </p:grpSp>
      <p:grpSp>
        <p:nvGrpSpPr>
          <p:cNvPr id="75" name="Node | Semantic Segmentation"/>
          <p:cNvGrpSpPr/>
          <p:nvPr/>
        </p:nvGrpSpPr>
        <p:grpSpPr>
          <a:xfrm>
            <a:off x="6184900" y="5251450"/>
            <a:ext cx="2711450" cy="717550"/>
            <a:chOff x="6184900" y="5251450"/>
            <a:chExt cx="2711450" cy="717550"/>
          </a:xfrm>
        </p:grpSpPr>
        <p:sp>
          <p:nvSpPr>
            <p:cNvPr id="76" name="Panel | 12"/>
            <p:cNvSpPr/>
            <p:nvPr/>
          </p:nvSpPr>
          <p:spPr>
            <a:xfrm>
              <a:off x="6184900" y="5251450"/>
              <a:ext cx="2711450" cy="717550"/>
            </a:xfrm>
            <a:prstGeom prst="roundRect">
              <a:avLst>
                <a:gd name="adj" fmla="val 12389"/>
              </a:avLst>
            </a:prstGeom>
            <a:solidFill>
              <a:srgbClr val="12364F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Panel | 13"/>
            <p:cNvSpPr/>
            <p:nvPr/>
          </p:nvSpPr>
          <p:spPr>
            <a:xfrm>
              <a:off x="6311900" y="5403850"/>
              <a:ext cx="25400" cy="381000"/>
            </a:xfrm>
            <a:prstGeom prst="roundRect">
              <a:avLst>
                <a:gd name="adj" fmla="val 50000"/>
              </a:avLst>
            </a:prstGeom>
            <a:solidFill>
              <a:srgbClr val="59DA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Text | Semantic Segmentation"/>
            <p:cNvSpPr txBox="1"/>
            <p:nvPr/>
          </p:nvSpPr>
          <p:spPr>
            <a:xfrm>
              <a:off x="6451600" y="5382578"/>
              <a:ext cx="232410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en-US">
                  <a:solidFill>
                    <a:srgbClr val="F2F8FF"/>
                  </a:solidFill>
                  <a:latin typeface="Arial"/>
                  <a:ea typeface="SimHei"/>
                </a:rPr>
                <a:t>Semantic Segmentation</a:t>
              </a:r>
            </a:p>
          </p:txBody>
        </p:sp>
        <p:sp>
          <p:nvSpPr>
            <p:cNvPr id="79" name="Text | Map regions and boundaries"/>
            <p:cNvSpPr txBox="1"/>
            <p:nvPr/>
          </p:nvSpPr>
          <p:spPr>
            <a:xfrm>
              <a:off x="6451600" y="5672264"/>
              <a:ext cx="23241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en-US">
                  <a:solidFill>
                    <a:srgbClr val="ACC7DA"/>
                  </a:solidFill>
                  <a:latin typeface="Arial"/>
                  <a:ea typeface="SimHei"/>
                </a:rPr>
                <a:t>Map regions and boundaries</a:t>
              </a:r>
            </a:p>
          </p:txBody>
        </p:sp>
      </p:grpSp>
      <p:grpSp>
        <p:nvGrpSpPr>
          <p:cNvPr id="80" name="Node | Anomaly Detection"/>
          <p:cNvGrpSpPr/>
          <p:nvPr/>
        </p:nvGrpSpPr>
        <p:grpSpPr>
          <a:xfrm>
            <a:off x="9074150" y="5251450"/>
            <a:ext cx="2711450" cy="717550"/>
            <a:chOff x="9074150" y="5251450"/>
            <a:chExt cx="2711450" cy="717550"/>
          </a:xfrm>
        </p:grpSpPr>
        <p:sp>
          <p:nvSpPr>
            <p:cNvPr id="81" name="Panel | 14"/>
            <p:cNvSpPr/>
            <p:nvPr/>
          </p:nvSpPr>
          <p:spPr>
            <a:xfrm>
              <a:off x="9074150" y="5251450"/>
              <a:ext cx="2711450" cy="717550"/>
            </a:xfrm>
            <a:prstGeom prst="roundRect">
              <a:avLst>
                <a:gd name="adj" fmla="val 12389"/>
              </a:avLst>
            </a:prstGeom>
            <a:solidFill>
              <a:srgbClr val="12364F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Panel | 15"/>
            <p:cNvSpPr/>
            <p:nvPr/>
          </p:nvSpPr>
          <p:spPr>
            <a:xfrm>
              <a:off x="9201150" y="5403850"/>
              <a:ext cx="25400" cy="381000"/>
            </a:xfrm>
            <a:prstGeom prst="roundRect">
              <a:avLst>
                <a:gd name="adj" fmla="val 50000"/>
              </a:avLst>
            </a:prstGeom>
            <a:solidFill>
              <a:srgbClr val="59DA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Text | Anomaly Detection"/>
            <p:cNvSpPr txBox="1"/>
            <p:nvPr/>
          </p:nvSpPr>
          <p:spPr>
            <a:xfrm>
              <a:off x="9340850" y="5382578"/>
              <a:ext cx="232410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en-US">
                  <a:solidFill>
                    <a:srgbClr val="F2F8FF"/>
                  </a:solidFill>
                  <a:latin typeface="Arial"/>
                  <a:ea typeface="SimHei"/>
                </a:rPr>
                <a:t>Anomaly Detection</a:t>
              </a:r>
            </a:p>
          </p:txBody>
        </p:sp>
        <p:sp>
          <p:nvSpPr>
            <p:cNvPr id="84" name="Text | Learn from normal samples"/>
            <p:cNvSpPr txBox="1"/>
            <p:nvPr/>
          </p:nvSpPr>
          <p:spPr>
            <a:xfrm>
              <a:off x="9340850" y="5672264"/>
              <a:ext cx="23241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en-US">
                  <a:solidFill>
                    <a:srgbClr val="ACC7DA"/>
                  </a:solidFill>
                  <a:latin typeface="Arial"/>
                  <a:ea typeface="SimHei"/>
                </a:rPr>
                <a:t>Learn from normal samples</a:t>
              </a:r>
            </a:p>
          </p:txBody>
        </p:sp>
      </p:grpSp>
      <p:sp>
        <p:nvSpPr>
          <p:cNvPr id="85" name="Text | Simplify adoption   /   Reuse training knowledge   /   Build model assets"/>
          <p:cNvSpPr txBox="1"/>
          <p:nvPr/>
        </p:nvSpPr>
        <p:spPr>
          <a:xfrm>
            <a:off x="698500" y="6144578"/>
            <a:ext cx="10795000" cy="28092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en-US">
                <a:solidFill>
                  <a:srgbClr val="5AE7CE"/>
                </a:solidFill>
                <a:latin typeface="Arial"/>
                <a:ea typeface="SimHei"/>
              </a:rPr>
              <a:t>Simplify adoption   /   Reuse training knowledge   /   Build model assets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61A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nector | 1"/>
          <p:cNvSpPr/>
          <p:nvPr/>
        </p:nvSpPr>
        <p:spPr>
          <a:xfrm>
            <a:off x="8572500" y="0"/>
            <a:ext cx="3213100" cy="565150"/>
          </a:xfrm>
          <a:custGeom>
            <a:avLst/>
            <a:gdLst/>
            <a:ahLst/>
            <a:cxnLst/>
            <a:rect l="0" t="0" r="r" b="b"/>
            <a:pathLst>
              <a:path w="50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50600" y="8900"/>
                </a:lnTo>
              </a:path>
            </a:pathLst>
          </a:custGeom>
          <a:noFill/>
          <a:ln w="6350" cap="rnd">
            <a:solidFill>
              <a:srgbClr val="28516A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le | 1"/>
          <p:cNvSpPr/>
          <p:nvPr/>
        </p:nvSpPr>
        <p:spPr>
          <a:xfrm>
            <a:off x="8832850" y="546100"/>
            <a:ext cx="38100" cy="38100"/>
          </a:xfrm>
          <a:prstGeom prst="ellipse">
            <a:avLst/>
          </a:prstGeom>
          <a:solidFill>
            <a:srgbClr val="285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nnector | 2"/>
          <p:cNvSpPr/>
          <p:nvPr/>
        </p:nvSpPr>
        <p:spPr>
          <a:xfrm>
            <a:off x="9588500" y="0"/>
            <a:ext cx="2197100" cy="565150"/>
          </a:xfrm>
          <a:custGeom>
            <a:avLst/>
            <a:gdLst/>
            <a:ahLst/>
            <a:cxnLst/>
            <a:rect l="0" t="0" r="r" b="b"/>
            <a:pathLst>
              <a:path w="34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34600" y="8900"/>
                </a:lnTo>
              </a:path>
            </a:pathLst>
          </a:custGeom>
          <a:noFill/>
          <a:ln w="6350" cap="rnd">
            <a:solidFill>
              <a:srgbClr val="28516A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ircle | 2"/>
          <p:cNvSpPr/>
          <p:nvPr/>
        </p:nvSpPr>
        <p:spPr>
          <a:xfrm>
            <a:off x="9848850" y="546100"/>
            <a:ext cx="38100" cy="38100"/>
          </a:xfrm>
          <a:prstGeom prst="ellipse">
            <a:avLst/>
          </a:prstGeom>
          <a:solidFill>
            <a:srgbClr val="285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nector | 3"/>
          <p:cNvSpPr/>
          <p:nvPr/>
        </p:nvSpPr>
        <p:spPr>
          <a:xfrm>
            <a:off x="10604500" y="0"/>
            <a:ext cx="1181100" cy="565150"/>
          </a:xfrm>
          <a:custGeom>
            <a:avLst/>
            <a:gdLst/>
            <a:ahLst/>
            <a:cxnLst/>
            <a:rect l="0" t="0" r="r" b="b"/>
            <a:pathLst>
              <a:path w="18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18600" y="8900"/>
                </a:lnTo>
              </a:path>
            </a:pathLst>
          </a:custGeom>
          <a:noFill/>
          <a:ln w="6350" cap="rnd">
            <a:solidFill>
              <a:srgbClr val="28516A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ircle | 3"/>
          <p:cNvSpPr/>
          <p:nvPr/>
        </p:nvSpPr>
        <p:spPr>
          <a:xfrm>
            <a:off x="10864850" y="546100"/>
            <a:ext cx="38100" cy="38100"/>
          </a:xfrm>
          <a:prstGeom prst="ellipse">
            <a:avLst/>
          </a:prstGeom>
          <a:solidFill>
            <a:srgbClr val="285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 | 1"/>
          <p:cNvSpPr/>
          <p:nvPr/>
        </p:nvSpPr>
        <p:spPr>
          <a:xfrm>
            <a:off x="406400" y="34290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59D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 | HAWKEYEPLUS  /  INDUSTRIAL VISION AI"/>
          <p:cNvSpPr txBox="1"/>
          <p:nvPr/>
        </p:nvSpPr>
        <p:spPr>
          <a:xfrm>
            <a:off x="546100" y="356680"/>
            <a:ext cx="76200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en-US">
                <a:solidFill>
                  <a:srgbClr val="ACC7DA"/>
                </a:solidFill>
                <a:latin typeface="Arial"/>
                <a:ea typeface="SimHei"/>
              </a:rPr>
              <a:t>HAWKEYEPLUS  /  INDUSTRIAL VISION AI</a:t>
            </a:r>
          </a:p>
        </p:txBody>
      </p:sp>
      <p:pic>
        <p:nvPicPr>
          <p:cNvPr id="10" name="Picture | Independent image" descr="e017beb952387d30090e1fda3144c761a93fb625fd3ee9841457bf2c4c7476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325755"/>
            <a:ext cx="704850" cy="281940"/>
          </a:xfrm>
          <a:prstGeom prst="rect">
            <a:avLst/>
          </a:prstGeom>
        </p:spPr>
      </p:pic>
      <p:sp>
        <p:nvSpPr>
          <p:cNvPr id="11" name="Text | Object Detection | Industrial Defect Localization"/>
          <p:cNvSpPr txBox="1"/>
          <p:nvPr/>
        </p:nvSpPr>
        <p:spPr>
          <a:xfrm>
            <a:off x="406400" y="593662"/>
            <a:ext cx="10858500" cy="58191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567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en-US">
                <a:solidFill>
                  <a:srgbClr val="F2F8FF"/>
                </a:solidFill>
                <a:latin typeface="Arial"/>
                <a:ea typeface="SimHei"/>
              </a:rPr>
              <a:t>Object Detection | Industrial Defect Localization</a:t>
            </a:r>
          </a:p>
        </p:txBody>
      </p:sp>
      <p:sp>
        <p:nvSpPr>
          <p:cNvPr id="12" name="Text | Locate defects and identify their classes with bounding boxes and confidence scores"/>
          <p:cNvSpPr txBox="1"/>
          <p:nvPr/>
        </p:nvSpPr>
        <p:spPr>
          <a:xfrm>
            <a:off x="425450" y="1064578"/>
            <a:ext cx="11049000" cy="28092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en-US">
                <a:solidFill>
                  <a:srgbClr val="ACC7DA"/>
                </a:solidFill>
                <a:latin typeface="Arial"/>
                <a:ea typeface="SimHei"/>
              </a:rPr>
              <a:t>Locate defects and identify their classes with bounding boxes and confidence scores</a:t>
            </a:r>
          </a:p>
        </p:txBody>
      </p:sp>
      <p:cxnSp>
        <p:nvCxnSpPr>
          <p:cNvPr id="13" name="Connector | 4"/>
          <p:cNvCxnSpPr/>
          <p:nvPr/>
        </p:nvCxnSpPr>
        <p:spPr>
          <a:xfrm>
            <a:off x="406400" y="6521450"/>
            <a:ext cx="11379200" cy="0"/>
          </a:xfrm>
          <a:prstGeom prst="line">
            <a:avLst/>
          </a:prstGeom>
          <a:ln w="6350" cap="rnd">
            <a:solidFill>
              <a:srgbClr val="28516A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| HawkeyePlus  ·  AI Model Training Platform"/>
          <p:cNvSpPr txBox="1"/>
          <p:nvPr/>
        </p:nvSpPr>
        <p:spPr>
          <a:xfrm>
            <a:off x="412750" y="6607238"/>
            <a:ext cx="66675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ACC7DA"/>
                </a:solidFill>
                <a:latin typeface="Arial"/>
                <a:ea typeface="SimHei"/>
              </a:rPr>
              <a:t>HawkeyePlus  ·  AI Model Training Platform</a:t>
            </a:r>
          </a:p>
        </p:txBody>
      </p:sp>
      <p:sp>
        <p:nvSpPr>
          <p:cNvPr id="15" name="Text | WD CONFIDENTIAL"/>
          <p:cNvSpPr txBox="1"/>
          <p:nvPr/>
        </p:nvSpPr>
        <p:spPr>
          <a:xfrm>
            <a:off x="8559800" y="6613017"/>
            <a:ext cx="2540000" cy="1504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en-US">
                <a:solidFill>
                  <a:srgbClr val="ACC7DA"/>
                </a:solidFill>
                <a:latin typeface="Arial"/>
                <a:ea typeface="SimHei"/>
              </a:rPr>
              <a:t>WD CONFIDENTIAL</a:t>
            </a:r>
          </a:p>
        </p:txBody>
      </p:sp>
      <p:sp>
        <p:nvSpPr>
          <p:cNvPr id="16" name="Text | 03"/>
          <p:cNvSpPr txBox="1"/>
          <p:nvPr/>
        </p:nvSpPr>
        <p:spPr>
          <a:xfrm>
            <a:off x="11455400" y="6607238"/>
            <a:ext cx="3175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ACC7DA"/>
                </a:solidFill>
                <a:latin typeface="Arial"/>
                <a:ea typeface="SimHei"/>
              </a:rPr>
              <a:t>03</a:t>
            </a:r>
          </a:p>
        </p:txBody>
      </p:sp>
      <p:grpSp>
        <p:nvGrpSpPr>
          <p:cNvPr id="17" name="Node | Detection"/>
          <p:cNvGrpSpPr/>
          <p:nvPr/>
        </p:nvGrpSpPr>
        <p:grpSpPr>
          <a:xfrm>
            <a:off x="406400" y="1504950"/>
            <a:ext cx="4191000" cy="3359150"/>
            <a:chOff x="406400" y="1504950"/>
            <a:chExt cx="4191000" cy="3359150"/>
          </a:xfrm>
        </p:grpSpPr>
        <p:sp>
          <p:nvSpPr>
            <p:cNvPr id="18" name="Panel | 2"/>
            <p:cNvSpPr/>
            <p:nvPr/>
          </p:nvSpPr>
          <p:spPr>
            <a:xfrm>
              <a:off x="406400" y="1504950"/>
              <a:ext cx="4191000" cy="3359150"/>
            </a:xfrm>
            <a:prstGeom prst="roundRect">
              <a:avLst>
                <a:gd name="adj" fmla="val 4158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 | Locate &amp; Classify Defects"/>
            <p:cNvSpPr txBox="1"/>
            <p:nvPr/>
          </p:nvSpPr>
          <p:spPr>
            <a:xfrm>
              <a:off x="584200" y="1626362"/>
              <a:ext cx="3810000" cy="33108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02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0" b="1" lang="en-US">
                  <a:solidFill>
                    <a:srgbClr val="F2F8FF"/>
                  </a:solidFill>
                  <a:latin typeface="Arial"/>
                  <a:ea typeface="SimHei"/>
                </a:rPr>
                <a:t>Locate &amp; Classify Defects</a:t>
              </a:r>
            </a:p>
          </p:txBody>
        </p:sp>
        <p:pic>
          <p:nvPicPr>
            <p:cNvPr id="20" name="Picture | Independent image" descr="2d912ebd7dcb0a346bde40d637fceed021a159bb2c31cc9e00aab4e109b5a276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400" y="2038945"/>
              <a:ext cx="3937000" cy="2399109"/>
            </a:xfrm>
            <a:prstGeom prst="rect">
              <a:avLst/>
            </a:prstGeom>
          </p:spPr>
        </p:pic>
        <p:sp>
          <p:nvSpPr>
            <p:cNvPr id="21" name="Text | Output: Boxes · Classes · Confidence"/>
            <p:cNvSpPr txBox="1"/>
            <p:nvPr/>
          </p:nvSpPr>
          <p:spPr>
            <a:xfrm>
              <a:off x="533400" y="4429442"/>
              <a:ext cx="39370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en-US">
                  <a:solidFill>
                    <a:srgbClr val="59DAF5"/>
                  </a:solidFill>
                  <a:latin typeface="Arial"/>
                  <a:ea typeface="SimHei"/>
                </a:rPr>
                <a:t>Output: Boxes · Classes · Confidence</a:t>
              </a:r>
            </a:p>
          </p:txBody>
        </p:sp>
        <p:sp>
          <p:nvSpPr>
            <p:cNvPr id="22" name="Text | Illustrative output, not a model prediction"/>
            <p:cNvSpPr txBox="1"/>
            <p:nvPr/>
          </p:nvSpPr>
          <p:spPr>
            <a:xfrm>
              <a:off x="533400" y="4653852"/>
              <a:ext cx="3937000" cy="200660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23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0" lang="en-US">
                  <a:solidFill>
                    <a:srgbClr val="ACC7DA"/>
                  </a:solidFill>
                  <a:latin typeface="Arial"/>
                  <a:ea typeface="SimHei"/>
                </a:rPr>
                <a:t>Illustrative output, not a model prediction</a:t>
              </a:r>
            </a:p>
          </p:txBody>
        </p:sp>
      </p:grpSp>
      <p:grpSp>
        <p:nvGrpSpPr>
          <p:cNvPr id="23" name="Node | PaddleDetection"/>
          <p:cNvGrpSpPr/>
          <p:nvPr/>
        </p:nvGrpSpPr>
        <p:grpSpPr>
          <a:xfrm>
            <a:off x="4794250" y="1504950"/>
            <a:ext cx="6991350" cy="1631950"/>
            <a:chOff x="4794250" y="1504950"/>
            <a:chExt cx="6991350" cy="1631950"/>
          </a:xfrm>
        </p:grpSpPr>
        <p:sp>
          <p:nvSpPr>
            <p:cNvPr id="24" name="Panel | 3"/>
            <p:cNvSpPr/>
            <p:nvPr/>
          </p:nvSpPr>
          <p:spPr>
            <a:xfrm>
              <a:off x="4794250" y="1504950"/>
              <a:ext cx="6991350" cy="1631950"/>
            </a:xfrm>
            <a:prstGeom prst="roundRect">
              <a:avLst>
                <a:gd name="adj" fmla="val 8560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 | PaddleDetection"/>
            <p:cNvSpPr txBox="1"/>
            <p:nvPr/>
          </p:nvSpPr>
          <p:spPr>
            <a:xfrm>
              <a:off x="4997450" y="1614868"/>
              <a:ext cx="5016500" cy="35115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15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50" b="1" lang="en-US">
                  <a:solidFill>
                    <a:srgbClr val="59DAF5"/>
                  </a:solidFill>
                  <a:latin typeface="Arial"/>
                  <a:ea typeface="SimHei"/>
                </a:rPr>
                <a:t>PaddleDetection</a:t>
              </a:r>
            </a:p>
          </p:txBody>
        </p:sp>
        <p:sp>
          <p:nvSpPr>
            <p:cNvPr id="26" name="Panel | 4"/>
            <p:cNvSpPr/>
            <p:nvPr/>
          </p:nvSpPr>
          <p:spPr>
            <a:xfrm>
              <a:off x="10483850" y="1651000"/>
              <a:ext cx="1104900" cy="241300"/>
            </a:xfrm>
            <a:prstGeom prst="roundRect">
              <a:avLst>
                <a:gd name="adj" fmla="val 26315"/>
              </a:avLst>
            </a:prstGeom>
            <a:solidFill>
              <a:srgbClr val="153F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 | 7 presets"/>
            <p:cNvSpPr txBox="1"/>
            <p:nvPr/>
          </p:nvSpPr>
          <p:spPr>
            <a:xfrm>
              <a:off x="10521950" y="1683830"/>
              <a:ext cx="10287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59DAF5"/>
                  </a:solidFill>
                  <a:latin typeface="Arial"/>
                  <a:ea typeface="SimHei"/>
                </a:rPr>
                <a:t>7 presets</a:t>
              </a:r>
            </a:p>
          </p:txBody>
        </p:sp>
        <p:sp>
          <p:nvSpPr>
            <p:cNvPr id="28" name="Text | PP-YOLOE  ·  YOLOv3  ·  PicoDet  ·  RT-DETR"/>
            <p:cNvSpPr txBox="1"/>
            <p:nvPr/>
          </p:nvSpPr>
          <p:spPr>
            <a:xfrm>
              <a:off x="4997450" y="1982597"/>
              <a:ext cx="6546850" cy="34112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0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lang="en-US">
                  <a:solidFill>
                    <a:srgbClr val="F2F8FF"/>
                  </a:solidFill>
                  <a:latin typeface="Arial"/>
                  <a:ea typeface="SimHei"/>
                </a:rPr>
                <a:t>PP-YOLOE  ·  YOLOv3  ·  PicoDet  ·  RT-DETR</a:t>
              </a:r>
            </a:p>
          </p:txBody>
        </p:sp>
        <p:sp>
          <p:nvSpPr>
            <p:cNvPr id="29" name="Text | Faster R-CNN  ·  RetinaNet  ·  CenterNet"/>
            <p:cNvSpPr txBox="1"/>
            <p:nvPr/>
          </p:nvSpPr>
          <p:spPr>
            <a:xfrm>
              <a:off x="4997450" y="2293747"/>
              <a:ext cx="6546850" cy="34112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0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lang="en-US">
                  <a:solidFill>
                    <a:srgbClr val="F2F8FF"/>
                  </a:solidFill>
                  <a:latin typeface="Arial"/>
                  <a:ea typeface="SimHei"/>
                </a:rPr>
                <a:t>Faster R-CNN  ·  RetinaNet  ·  CenterNet</a:t>
              </a:r>
            </a:p>
          </p:txBody>
        </p:sp>
      </p:grpSp>
      <p:grpSp>
        <p:nvGrpSpPr>
          <p:cNvPr id="30" name="Node | TorchDet"/>
          <p:cNvGrpSpPr/>
          <p:nvPr/>
        </p:nvGrpSpPr>
        <p:grpSpPr>
          <a:xfrm>
            <a:off x="4794250" y="3232150"/>
            <a:ext cx="6991350" cy="1631950"/>
            <a:chOff x="4794250" y="3232150"/>
            <a:chExt cx="6991350" cy="1631950"/>
          </a:xfrm>
        </p:grpSpPr>
        <p:sp>
          <p:nvSpPr>
            <p:cNvPr id="31" name="Panel | 5"/>
            <p:cNvSpPr/>
            <p:nvPr/>
          </p:nvSpPr>
          <p:spPr>
            <a:xfrm>
              <a:off x="4794250" y="3232150"/>
              <a:ext cx="6991350" cy="1631950"/>
            </a:xfrm>
            <a:prstGeom prst="roundRect">
              <a:avLst>
                <a:gd name="adj" fmla="val 8560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 | TorchDet"/>
            <p:cNvSpPr txBox="1"/>
            <p:nvPr/>
          </p:nvSpPr>
          <p:spPr>
            <a:xfrm>
              <a:off x="4997450" y="3342068"/>
              <a:ext cx="5016500" cy="35115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15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50" b="1" lang="en-US">
                  <a:solidFill>
                    <a:srgbClr val="59DAF5"/>
                  </a:solidFill>
                  <a:latin typeface="Arial"/>
                  <a:ea typeface="SimHei"/>
                </a:rPr>
                <a:t>TorchDet</a:t>
              </a:r>
            </a:p>
          </p:txBody>
        </p:sp>
        <p:sp>
          <p:nvSpPr>
            <p:cNvPr id="33" name="Panel | 6"/>
            <p:cNvSpPr/>
            <p:nvPr/>
          </p:nvSpPr>
          <p:spPr>
            <a:xfrm>
              <a:off x="10483850" y="3378200"/>
              <a:ext cx="1104900" cy="241300"/>
            </a:xfrm>
            <a:prstGeom prst="roundRect">
              <a:avLst>
                <a:gd name="adj" fmla="val 26315"/>
              </a:avLst>
            </a:prstGeom>
            <a:solidFill>
              <a:srgbClr val="153F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 | 4 presets"/>
            <p:cNvSpPr txBox="1"/>
            <p:nvPr/>
          </p:nvSpPr>
          <p:spPr>
            <a:xfrm>
              <a:off x="10521950" y="3411029"/>
              <a:ext cx="10287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59DAF5"/>
                  </a:solidFill>
                  <a:latin typeface="Arial"/>
                  <a:ea typeface="SimHei"/>
                </a:rPr>
                <a:t>4 presets</a:t>
              </a:r>
            </a:p>
          </p:txBody>
        </p:sp>
        <p:sp>
          <p:nvSpPr>
            <p:cNvPr id="35" name="Text | Faster R-CNN  ·  RetinaNet  ·  FCOS  ·  SSD / SSDLite"/>
            <p:cNvSpPr txBox="1"/>
            <p:nvPr/>
          </p:nvSpPr>
          <p:spPr>
            <a:xfrm>
              <a:off x="4997450" y="3709797"/>
              <a:ext cx="6546850" cy="34112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0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lang="en-US">
                  <a:solidFill>
                    <a:srgbClr val="F2F8FF"/>
                  </a:solidFill>
                  <a:latin typeface="Arial"/>
                  <a:ea typeface="SimHei"/>
                </a:rPr>
                <a:t>Faster R-CNN  ·  RetinaNet  ·  FCOS  ·  SSD / SSDLite</a:t>
              </a:r>
            </a:p>
          </p:txBody>
        </p:sp>
        <p:sp>
          <p:nvSpPr>
            <p:cNvPr id="36" name="Text | SSD variants: VGG16 → SSD300; MobileNetV3 → SSDLite320"/>
            <p:cNvSpPr txBox="1"/>
            <p:nvPr/>
          </p:nvSpPr>
          <p:spPr>
            <a:xfrm>
              <a:off x="4997450" y="4548314"/>
              <a:ext cx="654685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en-US">
                  <a:solidFill>
                    <a:srgbClr val="ACC7DA"/>
                  </a:solidFill>
                  <a:latin typeface="Arial"/>
                  <a:ea typeface="SimHei"/>
                </a:rPr>
                <a:t>SSD variants: VGG16 → SSD300; MobileNetV3 → SSDLite320</a:t>
              </a:r>
            </a:p>
          </p:txBody>
        </p:sp>
      </p:grpSp>
      <p:grpSp>
        <p:nvGrpSpPr>
          <p:cNvPr id="37" name="Node | COCO Images &amp; Labels"/>
          <p:cNvGrpSpPr/>
          <p:nvPr/>
        </p:nvGrpSpPr>
        <p:grpSpPr>
          <a:xfrm>
            <a:off x="406400" y="5149850"/>
            <a:ext cx="3670300" cy="869950"/>
            <a:chOff x="406400" y="5149850"/>
            <a:chExt cx="3670300" cy="869950"/>
          </a:xfrm>
        </p:grpSpPr>
        <p:sp>
          <p:nvSpPr>
            <p:cNvPr id="38" name="Panel | 7"/>
            <p:cNvSpPr/>
            <p:nvPr/>
          </p:nvSpPr>
          <p:spPr>
            <a:xfrm>
              <a:off x="406400" y="5149850"/>
              <a:ext cx="3670300" cy="869950"/>
            </a:xfrm>
            <a:prstGeom prst="roundRect">
              <a:avLst>
                <a:gd name="adj" fmla="val 13138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9" name="Picture | Independent image" descr="f1f9b3ee2b4a5f42c8fde077b76be5bf878cf8ae13a74ae6b81d044633b7a8f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3755" y="5200650"/>
              <a:ext cx="810491" cy="742950"/>
            </a:xfrm>
            <a:prstGeom prst="rect">
              <a:avLst/>
            </a:prstGeom>
          </p:spPr>
        </p:pic>
        <p:sp>
          <p:nvSpPr>
            <p:cNvPr id="40" name="Text | COCO Images &amp; Labels"/>
            <p:cNvSpPr txBox="1"/>
            <p:nvPr/>
          </p:nvSpPr>
          <p:spPr>
            <a:xfrm>
              <a:off x="1403350" y="5318442"/>
              <a:ext cx="253365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en-US">
                  <a:solidFill>
                    <a:srgbClr val="F2F8FF"/>
                  </a:solidFill>
                  <a:latin typeface="Arial"/>
                  <a:ea typeface="SimHei"/>
                </a:rPr>
                <a:t>COCO Images &amp; Labels</a:t>
              </a:r>
            </a:p>
          </p:txBody>
        </p:sp>
        <p:sp>
          <p:nvSpPr>
            <p:cNvPr id="41" name="Text | Box labels · Classes"/>
            <p:cNvSpPr txBox="1"/>
            <p:nvPr/>
          </p:nvSpPr>
          <p:spPr>
            <a:xfrm>
              <a:off x="1403350" y="5634164"/>
              <a:ext cx="253365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en-US">
                  <a:solidFill>
                    <a:srgbClr val="ACC7DA"/>
                  </a:solidFill>
                  <a:latin typeface="Arial"/>
                  <a:ea typeface="SimHei"/>
                </a:rPr>
                <a:t>Box labels · Classes</a:t>
              </a:r>
            </a:p>
          </p:txBody>
        </p:sp>
      </p:grpSp>
      <p:grpSp>
        <p:nvGrpSpPr>
          <p:cNvPr id="42" name="Node | Training &amp; Metric Tracking"/>
          <p:cNvGrpSpPr/>
          <p:nvPr/>
        </p:nvGrpSpPr>
        <p:grpSpPr>
          <a:xfrm>
            <a:off x="4260850" y="5149850"/>
            <a:ext cx="3670300" cy="869950"/>
            <a:chOff x="4260850" y="5149850"/>
            <a:chExt cx="3670300" cy="869950"/>
          </a:xfrm>
        </p:grpSpPr>
        <p:sp>
          <p:nvSpPr>
            <p:cNvPr id="43" name="Panel | 8"/>
            <p:cNvSpPr/>
            <p:nvPr/>
          </p:nvSpPr>
          <p:spPr>
            <a:xfrm>
              <a:off x="4260850" y="5149850"/>
              <a:ext cx="3670300" cy="869950"/>
            </a:xfrm>
            <a:prstGeom prst="roundRect">
              <a:avLst>
                <a:gd name="adj" fmla="val 13138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4" name="Picture | Independent image" descr="638a5e1573c3600b91babb87081a39e4e91d4f6ddb30245cad89936736c833a8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38205" y="5200650"/>
              <a:ext cx="810491" cy="742950"/>
            </a:xfrm>
            <a:prstGeom prst="rect">
              <a:avLst/>
            </a:prstGeom>
          </p:spPr>
        </p:pic>
        <p:sp>
          <p:nvSpPr>
            <p:cNvPr id="45" name="Text | Training &amp; Metric Tracking"/>
            <p:cNvSpPr txBox="1"/>
            <p:nvPr/>
          </p:nvSpPr>
          <p:spPr>
            <a:xfrm>
              <a:off x="5257800" y="5318442"/>
              <a:ext cx="253365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en-US">
                  <a:solidFill>
                    <a:srgbClr val="F2F8FF"/>
                  </a:solidFill>
                  <a:latin typeface="Arial"/>
                  <a:ea typeface="SimHei"/>
                </a:rPr>
                <a:t>Training &amp; Metric Tracking</a:t>
              </a:r>
            </a:p>
          </p:txBody>
        </p:sp>
        <p:sp>
          <p:nvSpPr>
            <p:cNvPr id="46" name="Text | mAP / mAP50 · Training curves"/>
            <p:cNvSpPr txBox="1"/>
            <p:nvPr/>
          </p:nvSpPr>
          <p:spPr>
            <a:xfrm>
              <a:off x="5257800" y="5634164"/>
              <a:ext cx="253365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en-US">
                  <a:solidFill>
                    <a:srgbClr val="ACC7DA"/>
                  </a:solidFill>
                  <a:latin typeface="Arial"/>
                  <a:ea typeface="SimHei"/>
                </a:rPr>
                <a:t>mAP / mAP50 · Training curves</a:t>
              </a:r>
            </a:p>
          </p:txBody>
        </p:sp>
      </p:grpSp>
      <p:grpSp>
        <p:nvGrpSpPr>
          <p:cNvPr id="47" name="Node | Detection Preview"/>
          <p:cNvGrpSpPr/>
          <p:nvPr/>
        </p:nvGrpSpPr>
        <p:grpSpPr>
          <a:xfrm>
            <a:off x="8115300" y="5149850"/>
            <a:ext cx="3670300" cy="869950"/>
            <a:chOff x="8115300" y="5149850"/>
            <a:chExt cx="3670300" cy="869950"/>
          </a:xfrm>
        </p:grpSpPr>
        <p:sp>
          <p:nvSpPr>
            <p:cNvPr id="48" name="Panel | 9"/>
            <p:cNvSpPr/>
            <p:nvPr/>
          </p:nvSpPr>
          <p:spPr>
            <a:xfrm>
              <a:off x="8115300" y="5149850"/>
              <a:ext cx="3670300" cy="869950"/>
            </a:xfrm>
            <a:prstGeom prst="roundRect">
              <a:avLst>
                <a:gd name="adj" fmla="val 13138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9" name="Picture | Independent image" descr="2be565438e37f3aa8be93ff686b7c11740c134cef8eb4f4e3ca62663aed7847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92655" y="5200650"/>
              <a:ext cx="810491" cy="742950"/>
            </a:xfrm>
            <a:prstGeom prst="rect">
              <a:avLst/>
            </a:prstGeom>
          </p:spPr>
        </p:pic>
        <p:sp>
          <p:nvSpPr>
            <p:cNvPr id="50" name="Text | Detection Preview"/>
            <p:cNvSpPr txBox="1"/>
            <p:nvPr/>
          </p:nvSpPr>
          <p:spPr>
            <a:xfrm>
              <a:off x="9112250" y="5318442"/>
              <a:ext cx="253365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en-US">
                  <a:solidFill>
                    <a:srgbClr val="F2F8FF"/>
                  </a:solidFill>
                  <a:latin typeface="Arial"/>
                  <a:ea typeface="SimHei"/>
                </a:rPr>
                <a:t>Detection Preview</a:t>
              </a:r>
            </a:p>
          </p:txBody>
        </p:sp>
        <p:sp>
          <p:nvSpPr>
            <p:cNvPr id="51" name="Text | Locate defects · Inspect classes"/>
            <p:cNvSpPr txBox="1"/>
            <p:nvPr/>
          </p:nvSpPr>
          <p:spPr>
            <a:xfrm>
              <a:off x="9112250" y="5634164"/>
              <a:ext cx="253365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en-US">
                  <a:solidFill>
                    <a:srgbClr val="ACC7DA"/>
                  </a:solidFill>
                  <a:latin typeface="Arial"/>
                  <a:ea typeface="SimHei"/>
                </a:rPr>
                <a:t>Locate defects · Inspect classes</a:t>
              </a:r>
            </a:p>
          </p:txBody>
        </p:sp>
      </p:grpSp>
      <p:sp>
        <p:nvSpPr>
          <p:cNvPr id="52" name="Text | Presets are backend-specific; PP-YOLOE and RT-DETR are not TorchDet models."/>
          <p:cNvSpPr txBox="1"/>
          <p:nvPr/>
        </p:nvSpPr>
        <p:spPr>
          <a:xfrm>
            <a:off x="406400" y="6167564"/>
            <a:ext cx="11379200" cy="240792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>
              <a:lnSpc>
                <a:spcPts val="147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ACC7DA"/>
                </a:solidFill>
                <a:latin typeface="Arial"/>
                <a:ea typeface="SimHei"/>
              </a:rPr>
              <a:t>Presets are backend-specific; PP-YOLOE and RT-DETR are not TorchDet models.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61A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nector | 1"/>
          <p:cNvSpPr/>
          <p:nvPr/>
        </p:nvSpPr>
        <p:spPr>
          <a:xfrm>
            <a:off x="8572500" y="0"/>
            <a:ext cx="3213100" cy="565150"/>
          </a:xfrm>
          <a:custGeom>
            <a:avLst/>
            <a:gdLst/>
            <a:ahLst/>
            <a:cxnLst/>
            <a:rect l="0" t="0" r="r" b="b"/>
            <a:pathLst>
              <a:path w="50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50600" y="8900"/>
                </a:lnTo>
              </a:path>
            </a:pathLst>
          </a:custGeom>
          <a:noFill/>
          <a:ln w="6350" cap="rnd">
            <a:solidFill>
              <a:srgbClr val="28516A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le | 1"/>
          <p:cNvSpPr/>
          <p:nvPr/>
        </p:nvSpPr>
        <p:spPr>
          <a:xfrm>
            <a:off x="8832850" y="546100"/>
            <a:ext cx="38100" cy="38100"/>
          </a:xfrm>
          <a:prstGeom prst="ellipse">
            <a:avLst/>
          </a:prstGeom>
          <a:solidFill>
            <a:srgbClr val="285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nnector | 2"/>
          <p:cNvSpPr/>
          <p:nvPr/>
        </p:nvSpPr>
        <p:spPr>
          <a:xfrm>
            <a:off x="9588500" y="0"/>
            <a:ext cx="2197100" cy="565150"/>
          </a:xfrm>
          <a:custGeom>
            <a:avLst/>
            <a:gdLst/>
            <a:ahLst/>
            <a:cxnLst/>
            <a:rect l="0" t="0" r="r" b="b"/>
            <a:pathLst>
              <a:path w="34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34600" y="8900"/>
                </a:lnTo>
              </a:path>
            </a:pathLst>
          </a:custGeom>
          <a:noFill/>
          <a:ln w="6350" cap="rnd">
            <a:solidFill>
              <a:srgbClr val="28516A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ircle | 2"/>
          <p:cNvSpPr/>
          <p:nvPr/>
        </p:nvSpPr>
        <p:spPr>
          <a:xfrm>
            <a:off x="9848850" y="546100"/>
            <a:ext cx="38100" cy="38100"/>
          </a:xfrm>
          <a:prstGeom prst="ellipse">
            <a:avLst/>
          </a:prstGeom>
          <a:solidFill>
            <a:srgbClr val="285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nector | 3"/>
          <p:cNvSpPr/>
          <p:nvPr/>
        </p:nvSpPr>
        <p:spPr>
          <a:xfrm>
            <a:off x="10604500" y="0"/>
            <a:ext cx="1181100" cy="565150"/>
          </a:xfrm>
          <a:custGeom>
            <a:avLst/>
            <a:gdLst/>
            <a:ahLst/>
            <a:cxnLst/>
            <a:rect l="0" t="0" r="r" b="b"/>
            <a:pathLst>
              <a:path w="18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18600" y="8900"/>
                </a:lnTo>
              </a:path>
            </a:pathLst>
          </a:custGeom>
          <a:noFill/>
          <a:ln w="6350" cap="rnd">
            <a:solidFill>
              <a:srgbClr val="28516A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ircle | 3"/>
          <p:cNvSpPr/>
          <p:nvPr/>
        </p:nvSpPr>
        <p:spPr>
          <a:xfrm>
            <a:off x="10864850" y="546100"/>
            <a:ext cx="38100" cy="38100"/>
          </a:xfrm>
          <a:prstGeom prst="ellipse">
            <a:avLst/>
          </a:prstGeom>
          <a:solidFill>
            <a:srgbClr val="285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 | 1"/>
          <p:cNvSpPr/>
          <p:nvPr/>
        </p:nvSpPr>
        <p:spPr>
          <a:xfrm>
            <a:off x="406400" y="34290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59D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 | HAWKEYEPLUS  /  INDUSTRIAL VISION AI"/>
          <p:cNvSpPr txBox="1"/>
          <p:nvPr/>
        </p:nvSpPr>
        <p:spPr>
          <a:xfrm>
            <a:off x="546100" y="356680"/>
            <a:ext cx="76200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en-US">
                <a:solidFill>
                  <a:srgbClr val="ACC7DA"/>
                </a:solidFill>
                <a:latin typeface="Arial"/>
                <a:ea typeface="SimHei"/>
              </a:rPr>
              <a:t>HAWKEYEPLUS  /  INDUSTRIAL VISION AI</a:t>
            </a:r>
          </a:p>
        </p:txBody>
      </p:sp>
      <p:pic>
        <p:nvPicPr>
          <p:cNvPr id="10" name="Picture | Independent image" descr="e017beb952387d30090e1fda3144c761a93fb625fd3ee9841457bf2c4c7476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325755"/>
            <a:ext cx="704850" cy="281940"/>
          </a:xfrm>
          <a:prstGeom prst="rect">
            <a:avLst/>
          </a:prstGeom>
        </p:spPr>
      </p:pic>
      <p:sp>
        <p:nvSpPr>
          <p:cNvPr id="11" name="Text | Segmentation Models | Pixel-level Understanding"/>
          <p:cNvSpPr txBox="1"/>
          <p:nvPr/>
        </p:nvSpPr>
        <p:spPr>
          <a:xfrm>
            <a:off x="406400" y="593662"/>
            <a:ext cx="10858500" cy="58191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567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en-US">
                <a:solidFill>
                  <a:srgbClr val="F2F8FF"/>
                </a:solidFill>
                <a:latin typeface="Arial"/>
                <a:ea typeface="SimHei"/>
              </a:rPr>
              <a:t>Segmentation Models | Pixel-level Understanding</a:t>
            </a:r>
          </a:p>
        </p:txBody>
      </p:sp>
      <p:sp>
        <p:nvSpPr>
          <p:cNvPr id="12" name="Text | TEM images illustrate segmentation across compact, encoder-decoder and Transformer architectures"/>
          <p:cNvSpPr txBox="1"/>
          <p:nvPr/>
        </p:nvSpPr>
        <p:spPr>
          <a:xfrm>
            <a:off x="425450" y="1064578"/>
            <a:ext cx="11049000" cy="28092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en-US">
                <a:solidFill>
                  <a:srgbClr val="ACC7DA"/>
                </a:solidFill>
                <a:latin typeface="Arial"/>
                <a:ea typeface="SimHei"/>
              </a:rPr>
              <a:t>TEM images illustrate segmentation across compact, encoder-decoder and Transformer architectures</a:t>
            </a:r>
          </a:p>
        </p:txBody>
      </p:sp>
      <p:cxnSp>
        <p:nvCxnSpPr>
          <p:cNvPr id="13" name="Connector | 4"/>
          <p:cNvCxnSpPr/>
          <p:nvPr/>
        </p:nvCxnSpPr>
        <p:spPr>
          <a:xfrm>
            <a:off x="406400" y="6521450"/>
            <a:ext cx="11379200" cy="0"/>
          </a:xfrm>
          <a:prstGeom prst="line">
            <a:avLst/>
          </a:prstGeom>
          <a:ln w="6350" cap="rnd">
            <a:solidFill>
              <a:srgbClr val="28516A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| HawkeyePlus  ·  AI Model Training Platform"/>
          <p:cNvSpPr txBox="1"/>
          <p:nvPr/>
        </p:nvSpPr>
        <p:spPr>
          <a:xfrm>
            <a:off x="412750" y="6607238"/>
            <a:ext cx="66675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ACC7DA"/>
                </a:solidFill>
                <a:latin typeface="Arial"/>
                <a:ea typeface="SimHei"/>
              </a:rPr>
              <a:t>HawkeyePlus  ·  AI Model Training Platform</a:t>
            </a:r>
          </a:p>
        </p:txBody>
      </p:sp>
      <p:sp>
        <p:nvSpPr>
          <p:cNvPr id="15" name="Text | WD CONFIDENTIAL"/>
          <p:cNvSpPr txBox="1"/>
          <p:nvPr/>
        </p:nvSpPr>
        <p:spPr>
          <a:xfrm>
            <a:off x="8559800" y="6613017"/>
            <a:ext cx="2540000" cy="1504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en-US">
                <a:solidFill>
                  <a:srgbClr val="ACC7DA"/>
                </a:solidFill>
                <a:latin typeface="Arial"/>
                <a:ea typeface="SimHei"/>
              </a:rPr>
              <a:t>WD CONFIDENTIAL</a:t>
            </a:r>
          </a:p>
        </p:txBody>
      </p:sp>
      <p:sp>
        <p:nvSpPr>
          <p:cNvPr id="16" name="Text | 04"/>
          <p:cNvSpPr txBox="1"/>
          <p:nvPr/>
        </p:nvSpPr>
        <p:spPr>
          <a:xfrm>
            <a:off x="11455400" y="6607238"/>
            <a:ext cx="3175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ACC7DA"/>
                </a:solidFill>
                <a:latin typeface="Arial"/>
                <a:ea typeface="SimHei"/>
              </a:rPr>
              <a:t>04</a:t>
            </a:r>
          </a:p>
        </p:txBody>
      </p:sp>
      <p:grpSp>
        <p:nvGrpSpPr>
          <p:cNvPr id="17" name="Node | Segmentation example"/>
          <p:cNvGrpSpPr/>
          <p:nvPr/>
        </p:nvGrpSpPr>
        <p:grpSpPr>
          <a:xfrm>
            <a:off x="406400" y="1504950"/>
            <a:ext cx="4191000" cy="3359150"/>
            <a:chOff x="406400" y="1504950"/>
            <a:chExt cx="4191000" cy="3359150"/>
          </a:xfrm>
        </p:grpSpPr>
        <p:sp>
          <p:nvSpPr>
            <p:cNvPr id="18" name="Panel | 2"/>
            <p:cNvSpPr/>
            <p:nvPr/>
          </p:nvSpPr>
          <p:spPr>
            <a:xfrm>
              <a:off x="406400" y="1504950"/>
              <a:ext cx="4191000" cy="3359150"/>
            </a:xfrm>
            <a:prstGeom prst="roundRect">
              <a:avLst>
                <a:gd name="adj" fmla="val 4158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 | Pixel-level Prediction Example"/>
            <p:cNvSpPr txBox="1"/>
            <p:nvPr/>
          </p:nvSpPr>
          <p:spPr>
            <a:xfrm>
              <a:off x="584200" y="1626362"/>
              <a:ext cx="3810000" cy="33108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02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0" b="1" lang="en-US">
                  <a:solidFill>
                    <a:srgbClr val="F2F8FF"/>
                  </a:solidFill>
                  <a:latin typeface="Arial"/>
                  <a:ea typeface="SimHei"/>
                </a:rPr>
                <a:t>Pixel-level Prediction Example</a:t>
              </a:r>
            </a:p>
          </p:txBody>
        </p:sp>
        <p:pic>
          <p:nvPicPr>
            <p:cNvPr id="20" name="Picture | Independent image" descr="d39db008096388b3dd459069569824dc1c1a6a78ec454f8be57a42ace7cc31bb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06500" y="1911350"/>
              <a:ext cx="2590800" cy="2374900"/>
            </a:xfrm>
            <a:prstGeom prst="rect">
              <a:avLst/>
            </a:prstGeom>
          </p:spPr>
        </p:pic>
        <p:sp>
          <p:nvSpPr>
            <p:cNvPr id="21" name="Text | Regions · Boundaries · Label masks"/>
            <p:cNvSpPr txBox="1"/>
            <p:nvPr/>
          </p:nvSpPr>
          <p:spPr>
            <a:xfrm>
              <a:off x="533400" y="4378071"/>
              <a:ext cx="393700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 lang="en-US">
                  <a:solidFill>
                    <a:srgbClr val="59DAF5"/>
                  </a:solidFill>
                  <a:latin typeface="Arial"/>
                  <a:ea typeface="SimHei"/>
                </a:rPr>
                <a:t>Regions · Boundaries · Label masks</a:t>
              </a:r>
            </a:p>
          </p:txBody>
        </p:sp>
        <p:sp>
          <p:nvSpPr>
            <p:cNvPr id="22" name="Text | TEM segmentation example from this project"/>
            <p:cNvSpPr txBox="1"/>
            <p:nvPr/>
          </p:nvSpPr>
          <p:spPr>
            <a:xfrm>
              <a:off x="533400" y="4641723"/>
              <a:ext cx="3937000" cy="210693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2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b="0" lang="en-US">
                  <a:solidFill>
                    <a:srgbClr val="ACC7DA"/>
                  </a:solidFill>
                  <a:latin typeface="Arial"/>
                  <a:ea typeface="SimHei"/>
                </a:rPr>
                <a:t>TEM segmentation example from this project</a:t>
              </a:r>
            </a:p>
          </p:txBody>
        </p:sp>
      </p:grpSp>
      <p:grpSp>
        <p:nvGrpSpPr>
          <p:cNvPr id="23" name="Node | PaddleSeg"/>
          <p:cNvGrpSpPr/>
          <p:nvPr/>
        </p:nvGrpSpPr>
        <p:grpSpPr>
          <a:xfrm>
            <a:off x="4794250" y="1504950"/>
            <a:ext cx="6991350" cy="1631950"/>
            <a:chOff x="4794250" y="1504950"/>
            <a:chExt cx="6991350" cy="1631950"/>
          </a:xfrm>
        </p:grpSpPr>
        <p:sp>
          <p:nvSpPr>
            <p:cNvPr id="24" name="Panel | 3"/>
            <p:cNvSpPr/>
            <p:nvPr/>
          </p:nvSpPr>
          <p:spPr>
            <a:xfrm>
              <a:off x="4794250" y="1504950"/>
              <a:ext cx="6991350" cy="1631950"/>
            </a:xfrm>
            <a:prstGeom prst="roundRect">
              <a:avLst>
                <a:gd name="adj" fmla="val 8560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 | PaddleSeg"/>
            <p:cNvSpPr txBox="1"/>
            <p:nvPr/>
          </p:nvSpPr>
          <p:spPr>
            <a:xfrm>
              <a:off x="4997450" y="1614868"/>
              <a:ext cx="5016500" cy="35115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15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50" b="1" lang="en-US">
                  <a:solidFill>
                    <a:srgbClr val="59DAF5"/>
                  </a:solidFill>
                  <a:latin typeface="Arial"/>
                  <a:ea typeface="SimHei"/>
                </a:rPr>
                <a:t>PaddleSeg</a:t>
              </a:r>
            </a:p>
          </p:txBody>
        </p:sp>
        <p:sp>
          <p:nvSpPr>
            <p:cNvPr id="26" name="Panel | 4"/>
            <p:cNvSpPr/>
            <p:nvPr/>
          </p:nvSpPr>
          <p:spPr>
            <a:xfrm>
              <a:off x="10483850" y="1651000"/>
              <a:ext cx="1104900" cy="241300"/>
            </a:xfrm>
            <a:prstGeom prst="roundRect">
              <a:avLst>
                <a:gd name="adj" fmla="val 26315"/>
              </a:avLst>
            </a:prstGeom>
            <a:solidFill>
              <a:srgbClr val="153F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 | 7 presets"/>
            <p:cNvSpPr txBox="1"/>
            <p:nvPr/>
          </p:nvSpPr>
          <p:spPr>
            <a:xfrm>
              <a:off x="10521950" y="1683830"/>
              <a:ext cx="10287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59DAF5"/>
                  </a:solidFill>
                  <a:latin typeface="Arial"/>
                  <a:ea typeface="SimHei"/>
                </a:rPr>
                <a:t>7 presets</a:t>
              </a:r>
            </a:p>
          </p:txBody>
        </p:sp>
        <p:sp>
          <p:nvSpPr>
            <p:cNvPr id="28" name="Text | PP-LiteSeg  ·  BiSeNetV2  ·  OCRNet  ·  UNet  ·  DeepLabV3+"/>
            <p:cNvSpPr txBox="1"/>
            <p:nvPr/>
          </p:nvSpPr>
          <p:spPr>
            <a:xfrm>
              <a:off x="4997450" y="2019490"/>
              <a:ext cx="654685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en-US">
                  <a:solidFill>
                    <a:srgbClr val="F2F8FF"/>
                  </a:solidFill>
                  <a:latin typeface="Arial"/>
                  <a:ea typeface="SimHei"/>
                </a:rPr>
                <a:t>PP-LiteSeg  ·  BiSeNetV2  ·  OCRNet  ·  UNet  ·  DeepLabV3+</a:t>
              </a:r>
            </a:p>
          </p:txBody>
        </p:sp>
        <p:sp>
          <p:nvSpPr>
            <p:cNvPr id="29" name="Text | SegFormer-B0  ·  FCN"/>
            <p:cNvSpPr txBox="1"/>
            <p:nvPr/>
          </p:nvSpPr>
          <p:spPr>
            <a:xfrm>
              <a:off x="4997450" y="2330640"/>
              <a:ext cx="654685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en-US">
                  <a:solidFill>
                    <a:srgbClr val="F2F8FF"/>
                  </a:solidFill>
                  <a:latin typeface="Arial"/>
                  <a:ea typeface="SimHei"/>
                </a:rPr>
                <a:t>SegFormer-B0  ·  FCN</a:t>
              </a:r>
            </a:p>
          </p:txBody>
        </p:sp>
      </p:grpSp>
      <p:grpSp>
        <p:nvGrpSpPr>
          <p:cNvPr id="30" name="Node | TorchSeg"/>
          <p:cNvGrpSpPr/>
          <p:nvPr/>
        </p:nvGrpSpPr>
        <p:grpSpPr>
          <a:xfrm>
            <a:off x="4794250" y="3232150"/>
            <a:ext cx="6991350" cy="1631950"/>
            <a:chOff x="4794250" y="3232150"/>
            <a:chExt cx="6991350" cy="1631950"/>
          </a:xfrm>
        </p:grpSpPr>
        <p:sp>
          <p:nvSpPr>
            <p:cNvPr id="31" name="Panel | 5"/>
            <p:cNvSpPr/>
            <p:nvPr/>
          </p:nvSpPr>
          <p:spPr>
            <a:xfrm>
              <a:off x="4794250" y="3232150"/>
              <a:ext cx="6991350" cy="1631950"/>
            </a:xfrm>
            <a:prstGeom prst="roundRect">
              <a:avLst>
                <a:gd name="adj" fmla="val 8560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 | TorchSeg"/>
            <p:cNvSpPr txBox="1"/>
            <p:nvPr/>
          </p:nvSpPr>
          <p:spPr>
            <a:xfrm>
              <a:off x="4997450" y="3342068"/>
              <a:ext cx="5016500" cy="35115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15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50" b="1" lang="en-US">
                  <a:solidFill>
                    <a:srgbClr val="59DAF5"/>
                  </a:solidFill>
                  <a:latin typeface="Arial"/>
                  <a:ea typeface="SimHei"/>
                </a:rPr>
                <a:t>TorchSeg</a:t>
              </a:r>
            </a:p>
          </p:txBody>
        </p:sp>
        <p:sp>
          <p:nvSpPr>
            <p:cNvPr id="33" name="Panel | 6"/>
            <p:cNvSpPr/>
            <p:nvPr/>
          </p:nvSpPr>
          <p:spPr>
            <a:xfrm>
              <a:off x="10483850" y="3378200"/>
              <a:ext cx="1104900" cy="241300"/>
            </a:xfrm>
            <a:prstGeom prst="roundRect">
              <a:avLst>
                <a:gd name="adj" fmla="val 26315"/>
              </a:avLst>
            </a:prstGeom>
            <a:solidFill>
              <a:srgbClr val="153F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 | 4 presets"/>
            <p:cNvSpPr txBox="1"/>
            <p:nvPr/>
          </p:nvSpPr>
          <p:spPr>
            <a:xfrm>
              <a:off x="10521950" y="3411029"/>
              <a:ext cx="10287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59DAF5"/>
                  </a:solidFill>
                  <a:latin typeface="Arial"/>
                  <a:ea typeface="SimHei"/>
                </a:rPr>
                <a:t>4 presets</a:t>
              </a:r>
            </a:p>
          </p:txBody>
        </p:sp>
        <p:sp>
          <p:nvSpPr>
            <p:cNvPr id="35" name="Text | UNet  ·  DeepLabV3 (UI: DeepLabV3+)  ·  FCN  ·  LR-ASPP"/>
            <p:cNvSpPr txBox="1"/>
            <p:nvPr/>
          </p:nvSpPr>
          <p:spPr>
            <a:xfrm>
              <a:off x="4997450" y="3746690"/>
              <a:ext cx="654685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en-US">
                  <a:solidFill>
                    <a:srgbClr val="F2F8FF"/>
                  </a:solidFill>
                  <a:latin typeface="Arial"/>
                  <a:ea typeface="SimHei"/>
                </a:rPr>
                <a:t>UNet  ·  DeepLabV3 (UI: DeepLabV3+)  ·  FCN  ·  LR-ASPP</a:t>
              </a:r>
            </a:p>
          </p:txBody>
        </p:sp>
        <p:sp>
          <p:nvSpPr>
            <p:cNvPr id="36" name="Text | TorchSeg maps DeepLabV3P to torchvision DeepLabV3, not a V3+ decoder."/>
            <p:cNvSpPr txBox="1"/>
            <p:nvPr/>
          </p:nvSpPr>
          <p:spPr>
            <a:xfrm>
              <a:off x="4997450" y="4560380"/>
              <a:ext cx="654685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en-US">
                  <a:solidFill>
                    <a:srgbClr val="ACC7DA"/>
                  </a:solidFill>
                  <a:latin typeface="Arial"/>
                  <a:ea typeface="SimHei"/>
                </a:rPr>
                <a:t>TorchSeg maps DeepLabV3P to torchvision DeepLabV3, not a V3+ decoder.</a:t>
              </a:r>
            </a:p>
          </p:txBody>
        </p:sp>
      </p:grpSp>
      <p:grpSp>
        <p:nvGrpSpPr>
          <p:cNvPr id="37" name="Node | Dataset Layout"/>
          <p:cNvGrpSpPr/>
          <p:nvPr/>
        </p:nvGrpSpPr>
        <p:grpSpPr>
          <a:xfrm>
            <a:off x="406400" y="5149850"/>
            <a:ext cx="3670300" cy="869950"/>
            <a:chOff x="406400" y="5149850"/>
            <a:chExt cx="3670300" cy="869950"/>
          </a:xfrm>
        </p:grpSpPr>
        <p:sp>
          <p:nvSpPr>
            <p:cNvPr id="38" name="Panel | 7"/>
            <p:cNvSpPr/>
            <p:nvPr/>
          </p:nvSpPr>
          <p:spPr>
            <a:xfrm>
              <a:off x="406400" y="5149850"/>
              <a:ext cx="3670300" cy="869950"/>
            </a:xfrm>
            <a:prstGeom prst="roundRect">
              <a:avLst>
                <a:gd name="adj" fmla="val 13138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9" name="Picture | Independent image" descr="f1f9b3ee2b4a5f42c8fde077b76be5bf878cf8ae13a74ae6b81d044633b7a8f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3755" y="5200650"/>
              <a:ext cx="810491" cy="742950"/>
            </a:xfrm>
            <a:prstGeom prst="rect">
              <a:avLst/>
            </a:prstGeom>
          </p:spPr>
        </p:pic>
        <p:sp>
          <p:nvSpPr>
            <p:cNvPr id="40" name="Text | Dataset Layout"/>
            <p:cNvSpPr txBox="1"/>
            <p:nvPr/>
          </p:nvSpPr>
          <p:spPr>
            <a:xfrm>
              <a:off x="1403350" y="5318442"/>
              <a:ext cx="253365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en-US">
                  <a:solidFill>
                    <a:srgbClr val="F2F8FF"/>
                  </a:solidFill>
                  <a:latin typeface="Arial"/>
                  <a:ea typeface="SimHei"/>
                </a:rPr>
                <a:t>Dataset Layout</a:t>
              </a:r>
            </a:p>
          </p:txBody>
        </p:sp>
        <p:sp>
          <p:nvSpPr>
            <p:cNvPr id="41" name="Text | Images + masks + train / validation splits"/>
            <p:cNvSpPr txBox="1"/>
            <p:nvPr/>
          </p:nvSpPr>
          <p:spPr>
            <a:xfrm>
              <a:off x="1403350" y="5649658"/>
              <a:ext cx="2533650" cy="213703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3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65" b="0" lang="en-US">
                  <a:solidFill>
                    <a:srgbClr val="ACC7DA"/>
                  </a:solidFill>
                  <a:latin typeface="Arial"/>
                  <a:ea typeface="SimHei"/>
                </a:rPr>
                <a:t>Images + masks + train / validation splits</a:t>
              </a:r>
            </a:p>
          </p:txBody>
        </p:sp>
      </p:grpSp>
      <p:grpSp>
        <p:nvGrpSpPr>
          <p:cNvPr id="42" name="Node | Evaluation Metrics"/>
          <p:cNvGrpSpPr/>
          <p:nvPr/>
        </p:nvGrpSpPr>
        <p:grpSpPr>
          <a:xfrm>
            <a:off x="4260850" y="5149850"/>
            <a:ext cx="3670300" cy="869950"/>
            <a:chOff x="4260850" y="5149850"/>
            <a:chExt cx="3670300" cy="869950"/>
          </a:xfrm>
        </p:grpSpPr>
        <p:sp>
          <p:nvSpPr>
            <p:cNvPr id="43" name="Panel | 8"/>
            <p:cNvSpPr/>
            <p:nvPr/>
          </p:nvSpPr>
          <p:spPr>
            <a:xfrm>
              <a:off x="4260850" y="5149850"/>
              <a:ext cx="3670300" cy="869950"/>
            </a:xfrm>
            <a:prstGeom prst="roundRect">
              <a:avLst>
                <a:gd name="adj" fmla="val 13138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4" name="Picture | Independent image" descr="638a5e1573c3600b91babb87081a39e4e91d4f6ddb30245cad89936736c833a8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38205" y="5200650"/>
              <a:ext cx="810491" cy="742950"/>
            </a:xfrm>
            <a:prstGeom prst="rect">
              <a:avLst/>
            </a:prstGeom>
          </p:spPr>
        </p:pic>
        <p:sp>
          <p:nvSpPr>
            <p:cNvPr id="45" name="Text | Evaluation Metrics"/>
            <p:cNvSpPr txBox="1"/>
            <p:nvPr/>
          </p:nvSpPr>
          <p:spPr>
            <a:xfrm>
              <a:off x="5257800" y="5318442"/>
              <a:ext cx="253365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en-US">
                  <a:solidFill>
                    <a:srgbClr val="F2F8FF"/>
                  </a:solidFill>
                  <a:latin typeface="Arial"/>
                  <a:ea typeface="SimHei"/>
                </a:rPr>
                <a:t>Evaluation Metrics</a:t>
              </a:r>
            </a:p>
          </p:txBody>
        </p:sp>
        <p:sp>
          <p:nvSpPr>
            <p:cNvPr id="46" name="Text | mIoU · Dice · Accuracy"/>
            <p:cNvSpPr txBox="1"/>
            <p:nvPr/>
          </p:nvSpPr>
          <p:spPr>
            <a:xfrm>
              <a:off x="5257800" y="5634164"/>
              <a:ext cx="253365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en-US">
                  <a:solidFill>
                    <a:srgbClr val="ACC7DA"/>
                  </a:solidFill>
                  <a:latin typeface="Arial"/>
                  <a:ea typeface="SimHei"/>
                </a:rPr>
                <a:t>mIoU · Dice · Accuracy</a:t>
              </a:r>
            </a:p>
          </p:txBody>
        </p:sp>
      </p:grpSp>
      <p:grpSp>
        <p:nvGrpSpPr>
          <p:cNvPr id="47" name="Node | Applications"/>
          <p:cNvGrpSpPr/>
          <p:nvPr/>
        </p:nvGrpSpPr>
        <p:grpSpPr>
          <a:xfrm>
            <a:off x="8115300" y="5149850"/>
            <a:ext cx="3670300" cy="869950"/>
            <a:chOff x="8115300" y="5149850"/>
            <a:chExt cx="3670300" cy="869950"/>
          </a:xfrm>
        </p:grpSpPr>
        <p:sp>
          <p:nvSpPr>
            <p:cNvPr id="48" name="Panel | 9"/>
            <p:cNvSpPr/>
            <p:nvPr/>
          </p:nvSpPr>
          <p:spPr>
            <a:xfrm>
              <a:off x="8115300" y="5149850"/>
              <a:ext cx="3670300" cy="869950"/>
            </a:xfrm>
            <a:prstGeom prst="roundRect">
              <a:avLst>
                <a:gd name="adj" fmla="val 13138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9" name="Picture | Independent image" descr="d39db008096388b3dd459069569824dc1c1a6a78ec454f8be57a42ace7cc31bb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92655" y="5200650"/>
              <a:ext cx="810491" cy="742950"/>
            </a:xfrm>
            <a:prstGeom prst="rect">
              <a:avLst/>
            </a:prstGeom>
          </p:spPr>
        </p:pic>
        <p:sp>
          <p:nvSpPr>
            <p:cNvPr id="50" name="Text | Applications"/>
            <p:cNvSpPr txBox="1"/>
            <p:nvPr/>
          </p:nvSpPr>
          <p:spPr>
            <a:xfrm>
              <a:off x="9112250" y="5318442"/>
              <a:ext cx="253365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en-US">
                  <a:solidFill>
                    <a:srgbClr val="F2F8FF"/>
                  </a:solidFill>
                  <a:latin typeface="Arial"/>
                  <a:ea typeface="SimHei"/>
                </a:rPr>
                <a:t>Applications</a:t>
              </a:r>
            </a:p>
          </p:txBody>
        </p:sp>
        <p:sp>
          <p:nvSpPr>
            <p:cNvPr id="51" name="Text | Defect regions · Microstructure · Boundaries"/>
            <p:cNvSpPr txBox="1"/>
            <p:nvPr/>
          </p:nvSpPr>
          <p:spPr>
            <a:xfrm>
              <a:off x="9112250" y="5659628"/>
              <a:ext cx="2533650" cy="19634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2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78" b="0" lang="en-US">
                  <a:solidFill>
                    <a:srgbClr val="ACC7DA"/>
                  </a:solidFill>
                  <a:latin typeface="Arial"/>
                  <a:ea typeface="SimHei"/>
                </a:rPr>
                <a:t>Defect regions · Microstructure · Boundaries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61A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nector | 1"/>
          <p:cNvSpPr/>
          <p:nvPr/>
        </p:nvSpPr>
        <p:spPr>
          <a:xfrm>
            <a:off x="8572500" y="0"/>
            <a:ext cx="3213100" cy="565150"/>
          </a:xfrm>
          <a:custGeom>
            <a:avLst/>
            <a:gdLst/>
            <a:ahLst/>
            <a:cxnLst/>
            <a:rect l="0" t="0" r="r" b="b"/>
            <a:pathLst>
              <a:path w="50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50600" y="8900"/>
                </a:lnTo>
              </a:path>
            </a:pathLst>
          </a:custGeom>
          <a:noFill/>
          <a:ln w="6350" cap="rnd">
            <a:solidFill>
              <a:srgbClr val="28516A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le | 1"/>
          <p:cNvSpPr/>
          <p:nvPr/>
        </p:nvSpPr>
        <p:spPr>
          <a:xfrm>
            <a:off x="8832850" y="546100"/>
            <a:ext cx="38100" cy="38100"/>
          </a:xfrm>
          <a:prstGeom prst="ellipse">
            <a:avLst/>
          </a:prstGeom>
          <a:solidFill>
            <a:srgbClr val="285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nnector | 2"/>
          <p:cNvSpPr/>
          <p:nvPr/>
        </p:nvSpPr>
        <p:spPr>
          <a:xfrm>
            <a:off x="9588500" y="0"/>
            <a:ext cx="2197100" cy="565150"/>
          </a:xfrm>
          <a:custGeom>
            <a:avLst/>
            <a:gdLst/>
            <a:ahLst/>
            <a:cxnLst/>
            <a:rect l="0" t="0" r="r" b="b"/>
            <a:pathLst>
              <a:path w="34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34600" y="8900"/>
                </a:lnTo>
              </a:path>
            </a:pathLst>
          </a:custGeom>
          <a:noFill/>
          <a:ln w="6350" cap="rnd">
            <a:solidFill>
              <a:srgbClr val="28516A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ircle | 2"/>
          <p:cNvSpPr/>
          <p:nvPr/>
        </p:nvSpPr>
        <p:spPr>
          <a:xfrm>
            <a:off x="9848850" y="546100"/>
            <a:ext cx="38100" cy="38100"/>
          </a:xfrm>
          <a:prstGeom prst="ellipse">
            <a:avLst/>
          </a:prstGeom>
          <a:solidFill>
            <a:srgbClr val="285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nector | 3"/>
          <p:cNvSpPr/>
          <p:nvPr/>
        </p:nvSpPr>
        <p:spPr>
          <a:xfrm>
            <a:off x="10604500" y="0"/>
            <a:ext cx="1181100" cy="565150"/>
          </a:xfrm>
          <a:custGeom>
            <a:avLst/>
            <a:gdLst/>
            <a:ahLst/>
            <a:cxnLst/>
            <a:rect l="0" t="0" r="r" b="b"/>
            <a:pathLst>
              <a:path w="18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18600" y="8900"/>
                </a:lnTo>
              </a:path>
            </a:pathLst>
          </a:custGeom>
          <a:noFill/>
          <a:ln w="6350" cap="rnd">
            <a:solidFill>
              <a:srgbClr val="28516A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ircle | 3"/>
          <p:cNvSpPr/>
          <p:nvPr/>
        </p:nvSpPr>
        <p:spPr>
          <a:xfrm>
            <a:off x="10864850" y="546100"/>
            <a:ext cx="38100" cy="38100"/>
          </a:xfrm>
          <a:prstGeom prst="ellipse">
            <a:avLst/>
          </a:prstGeom>
          <a:solidFill>
            <a:srgbClr val="285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 | 1"/>
          <p:cNvSpPr/>
          <p:nvPr/>
        </p:nvSpPr>
        <p:spPr>
          <a:xfrm>
            <a:off x="406400" y="34290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59D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 | HAWKEYEPLUS  /  INDUSTRIAL VISION AI"/>
          <p:cNvSpPr txBox="1"/>
          <p:nvPr/>
        </p:nvSpPr>
        <p:spPr>
          <a:xfrm>
            <a:off x="546100" y="356680"/>
            <a:ext cx="76200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en-US">
                <a:solidFill>
                  <a:srgbClr val="ACC7DA"/>
                </a:solidFill>
                <a:latin typeface="Arial"/>
                <a:ea typeface="SimHei"/>
              </a:rPr>
              <a:t>HAWKEYEPLUS  /  INDUSTRIAL VISION AI</a:t>
            </a:r>
          </a:p>
        </p:txBody>
      </p:sp>
      <p:pic>
        <p:nvPicPr>
          <p:cNvPr id="10" name="Picture | Independent image" descr="e017beb952387d30090e1fda3144c761a93fb625fd3ee9841457bf2c4c7476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325755"/>
            <a:ext cx="704850" cy="281940"/>
          </a:xfrm>
          <a:prstGeom prst="rect">
            <a:avLst/>
          </a:prstGeom>
        </p:spPr>
      </p:pic>
      <p:sp>
        <p:nvSpPr>
          <p:cNvPr id="11" name="Text | Classification &amp; Anomaly Detection"/>
          <p:cNvSpPr txBox="1"/>
          <p:nvPr/>
        </p:nvSpPr>
        <p:spPr>
          <a:xfrm>
            <a:off x="406400" y="593662"/>
            <a:ext cx="10858500" cy="58191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567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en-US">
                <a:solidFill>
                  <a:srgbClr val="F2F8FF"/>
                </a:solidFill>
                <a:latin typeface="Arial"/>
                <a:ea typeface="SimHei"/>
              </a:rPr>
              <a:t>Classification &amp; Anomaly Detection</a:t>
            </a:r>
          </a:p>
        </p:txBody>
      </p:sp>
      <p:sp>
        <p:nvSpPr>
          <p:cNvPr id="12" name="Text | From image-level labels to learning normal appearance, reuse the same model-development workflow"/>
          <p:cNvSpPr txBox="1"/>
          <p:nvPr/>
        </p:nvSpPr>
        <p:spPr>
          <a:xfrm>
            <a:off x="425450" y="1064578"/>
            <a:ext cx="11049000" cy="28092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en-US">
                <a:solidFill>
                  <a:srgbClr val="ACC7DA"/>
                </a:solidFill>
                <a:latin typeface="Arial"/>
                <a:ea typeface="SimHei"/>
              </a:rPr>
              <a:t>From image-level labels to learning normal appearance, reuse the same model-development workflow</a:t>
            </a:r>
          </a:p>
        </p:txBody>
      </p:sp>
      <p:cxnSp>
        <p:nvCxnSpPr>
          <p:cNvPr id="13" name="Connector | 4"/>
          <p:cNvCxnSpPr/>
          <p:nvPr/>
        </p:nvCxnSpPr>
        <p:spPr>
          <a:xfrm>
            <a:off x="406400" y="6521450"/>
            <a:ext cx="11379200" cy="0"/>
          </a:xfrm>
          <a:prstGeom prst="line">
            <a:avLst/>
          </a:prstGeom>
          <a:ln w="6350" cap="rnd">
            <a:solidFill>
              <a:srgbClr val="28516A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| HawkeyePlus  ·  AI Model Training Platform"/>
          <p:cNvSpPr txBox="1"/>
          <p:nvPr/>
        </p:nvSpPr>
        <p:spPr>
          <a:xfrm>
            <a:off x="412750" y="6607238"/>
            <a:ext cx="66675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ACC7DA"/>
                </a:solidFill>
                <a:latin typeface="Arial"/>
                <a:ea typeface="SimHei"/>
              </a:rPr>
              <a:t>HawkeyePlus  ·  AI Model Training Platform</a:t>
            </a:r>
          </a:p>
        </p:txBody>
      </p:sp>
      <p:sp>
        <p:nvSpPr>
          <p:cNvPr id="15" name="Text | WD CONFIDENTIAL"/>
          <p:cNvSpPr txBox="1"/>
          <p:nvPr/>
        </p:nvSpPr>
        <p:spPr>
          <a:xfrm>
            <a:off x="8559800" y="6613017"/>
            <a:ext cx="2540000" cy="1504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en-US">
                <a:solidFill>
                  <a:srgbClr val="ACC7DA"/>
                </a:solidFill>
                <a:latin typeface="Arial"/>
                <a:ea typeface="SimHei"/>
              </a:rPr>
              <a:t>WD CONFIDENTIAL</a:t>
            </a:r>
          </a:p>
        </p:txBody>
      </p:sp>
      <p:sp>
        <p:nvSpPr>
          <p:cNvPr id="16" name="Text | 05"/>
          <p:cNvSpPr txBox="1"/>
          <p:nvPr/>
        </p:nvSpPr>
        <p:spPr>
          <a:xfrm>
            <a:off x="11455400" y="6607238"/>
            <a:ext cx="3175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ACC7DA"/>
                </a:solidFill>
                <a:latin typeface="Arial"/>
                <a:ea typeface="SimHei"/>
              </a:rPr>
              <a:t>05</a:t>
            </a:r>
          </a:p>
        </p:txBody>
      </p:sp>
      <p:grpSp>
        <p:nvGrpSpPr>
          <p:cNvPr id="17" name="Node | PaddleClas"/>
          <p:cNvGrpSpPr/>
          <p:nvPr/>
        </p:nvGrpSpPr>
        <p:grpSpPr>
          <a:xfrm>
            <a:off x="406400" y="1504950"/>
            <a:ext cx="5600700" cy="4514850"/>
            <a:chOff x="406400" y="1504950"/>
            <a:chExt cx="5600700" cy="4514850"/>
          </a:xfrm>
        </p:grpSpPr>
        <p:sp>
          <p:nvSpPr>
            <p:cNvPr id="18" name="Panel | 2"/>
            <p:cNvSpPr/>
            <p:nvPr/>
          </p:nvSpPr>
          <p:spPr>
            <a:xfrm>
              <a:off x="406400" y="1504950"/>
              <a:ext cx="5600700" cy="4514850"/>
            </a:xfrm>
            <a:prstGeom prst="roundRect">
              <a:avLst>
                <a:gd name="adj" fmla="val 3094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 | PaddleClas | Image Classification"/>
            <p:cNvSpPr txBox="1"/>
            <p:nvPr/>
          </p:nvSpPr>
          <p:spPr>
            <a:xfrm>
              <a:off x="590550" y="1626997"/>
              <a:ext cx="5232400" cy="34112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0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lang="en-US">
                  <a:solidFill>
                    <a:srgbClr val="F2F8FF"/>
                  </a:solidFill>
                  <a:latin typeface="Arial"/>
                  <a:ea typeface="SimHei"/>
                </a:rPr>
                <a:t>PaddleClas | Image Classification</a:t>
              </a:r>
            </a:p>
          </p:txBody>
        </p:sp>
        <p:sp>
          <p:nvSpPr>
            <p:cNvPr id="20" name="Text | Learn labeled categories; predict image-level classes"/>
            <p:cNvSpPr txBox="1"/>
            <p:nvPr/>
          </p:nvSpPr>
          <p:spPr>
            <a:xfrm>
              <a:off x="590550" y="1965071"/>
              <a:ext cx="523240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en-US">
                  <a:solidFill>
                    <a:srgbClr val="ACC7DA"/>
                  </a:solidFill>
                  <a:latin typeface="Arial"/>
                  <a:ea typeface="SimHei"/>
                </a:rPr>
                <a:t>Learn labeled categories; predict image-level classes</a:t>
              </a:r>
            </a:p>
          </p:txBody>
        </p:sp>
        <p:pic>
          <p:nvPicPr>
            <p:cNvPr id="21" name="Picture | Independent image" descr="d9f2c819103d2d99178667bc713b62c470ca8263d9dc14a7a3b597989ce91414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43673" y="2254250"/>
              <a:ext cx="3126154" cy="1905000"/>
            </a:xfrm>
            <a:prstGeom prst="rect">
              <a:avLst/>
            </a:prstGeom>
          </p:spPr>
        </p:pic>
        <p:sp>
          <p:nvSpPr>
            <p:cNvPr id="22" name="Text | Illustrative classification"/>
            <p:cNvSpPr txBox="1"/>
            <p:nvPr/>
          </p:nvSpPr>
          <p:spPr>
            <a:xfrm>
              <a:off x="603250" y="4203573"/>
              <a:ext cx="5207000" cy="210693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2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b="0" lang="en-US">
                  <a:solidFill>
                    <a:srgbClr val="ACC7DA"/>
                  </a:solidFill>
                  <a:latin typeface="Arial"/>
                  <a:ea typeface="SimHei"/>
                </a:rPr>
                <a:t>Illustrative classification</a:t>
              </a:r>
            </a:p>
          </p:txBody>
        </p:sp>
        <p:cxnSp>
          <p:nvCxnSpPr>
            <p:cNvPr id="23" name="Connector | 5"/>
            <p:cNvCxnSpPr/>
            <p:nvPr/>
          </p:nvCxnSpPr>
          <p:spPr>
            <a:xfrm>
              <a:off x="590550" y="4476750"/>
              <a:ext cx="5232400" cy="0"/>
            </a:xfrm>
            <a:prstGeom prst="line">
              <a:avLst/>
            </a:prstGeom>
            <a:ln w="6350" cap="rnd">
              <a:solidFill>
                <a:srgbClr val="28516A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 | 9 Classification Variants"/>
            <p:cNvSpPr txBox="1"/>
            <p:nvPr/>
          </p:nvSpPr>
          <p:spPr>
            <a:xfrm>
              <a:off x="590550" y="4589399"/>
              <a:ext cx="5080000" cy="29095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en-US">
                  <a:solidFill>
                    <a:srgbClr val="59DAF5"/>
                  </a:solidFill>
                  <a:latin typeface="Arial"/>
                  <a:ea typeface="SimHei"/>
                </a:rPr>
                <a:t>9 Classification Variants</a:t>
              </a:r>
            </a:p>
          </p:txBody>
        </p:sp>
        <p:sp>
          <p:nvSpPr>
            <p:cNvPr id="25" name="Text | ResNet18 · ResNet34 · ResNet50 · ResNet101"/>
            <p:cNvSpPr txBox="1"/>
            <p:nvPr/>
          </p:nvSpPr>
          <p:spPr>
            <a:xfrm>
              <a:off x="590550" y="4886642"/>
              <a:ext cx="52324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en-US">
                  <a:solidFill>
                    <a:srgbClr val="F2F8FF"/>
                  </a:solidFill>
                  <a:latin typeface="Arial"/>
                  <a:ea typeface="SimHei"/>
                </a:rPr>
                <a:t>ResNet18 · ResNet34 · ResNet50 · ResNet101</a:t>
              </a:r>
            </a:p>
          </p:txBody>
        </p:sp>
        <p:sp>
          <p:nvSpPr>
            <p:cNvPr id="26" name="Text | MobileNetV3 Small / Large (x1.0)"/>
            <p:cNvSpPr txBox="1"/>
            <p:nvPr/>
          </p:nvSpPr>
          <p:spPr>
            <a:xfrm>
              <a:off x="590550" y="5140642"/>
              <a:ext cx="52324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en-US">
                  <a:solidFill>
                    <a:srgbClr val="F2F8FF"/>
                  </a:solidFill>
                  <a:latin typeface="Arial"/>
                  <a:ea typeface="SimHei"/>
                </a:rPr>
                <a:t>MobileNetV3 Small / Large (x1.0)</a:t>
              </a:r>
            </a:p>
          </p:txBody>
        </p:sp>
        <p:sp>
          <p:nvSpPr>
            <p:cNvPr id="27" name="Text | PP-LCNet x1.0 · PP-HGNet Small"/>
            <p:cNvSpPr txBox="1"/>
            <p:nvPr/>
          </p:nvSpPr>
          <p:spPr>
            <a:xfrm>
              <a:off x="590550" y="5394642"/>
              <a:ext cx="52324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en-US">
                  <a:solidFill>
                    <a:srgbClr val="F2F8FF"/>
                  </a:solidFill>
                  <a:latin typeface="Arial"/>
                  <a:ea typeface="SimHei"/>
                </a:rPr>
                <a:t>PP-LCNet x1.0 · PP-HGNet Small</a:t>
              </a:r>
            </a:p>
          </p:txBody>
        </p:sp>
        <p:sp>
          <p:nvSpPr>
            <p:cNvPr id="28" name="Text | Swin Transformer Tiny (patch4 / window7 / 224)"/>
            <p:cNvSpPr txBox="1"/>
            <p:nvPr/>
          </p:nvSpPr>
          <p:spPr>
            <a:xfrm>
              <a:off x="590550" y="5648642"/>
              <a:ext cx="52324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en-US">
                  <a:solidFill>
                    <a:srgbClr val="F2F8FF"/>
                  </a:solidFill>
                  <a:latin typeface="Arial"/>
                  <a:ea typeface="SimHei"/>
                </a:rPr>
                <a:t>Swin Transformer Tiny (patch4 / window7 / 224)</a:t>
              </a:r>
            </a:p>
          </p:txBody>
        </p:sp>
      </p:grpSp>
      <p:grpSp>
        <p:nvGrpSpPr>
          <p:cNvPr id="29" name="Node | TorchAnomaly"/>
          <p:cNvGrpSpPr/>
          <p:nvPr/>
        </p:nvGrpSpPr>
        <p:grpSpPr>
          <a:xfrm>
            <a:off x="6184900" y="1504950"/>
            <a:ext cx="5600700" cy="4514850"/>
            <a:chOff x="6184900" y="1504950"/>
            <a:chExt cx="5600700" cy="4514850"/>
          </a:xfrm>
        </p:grpSpPr>
        <p:sp>
          <p:nvSpPr>
            <p:cNvPr id="30" name="Panel | 3"/>
            <p:cNvSpPr/>
            <p:nvPr/>
          </p:nvSpPr>
          <p:spPr>
            <a:xfrm>
              <a:off x="6184900" y="1504950"/>
              <a:ext cx="5600700" cy="4514850"/>
            </a:xfrm>
            <a:prstGeom prst="roundRect">
              <a:avLst>
                <a:gd name="adj" fmla="val 3094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 | TorchAnomaly | Anomaly Detection"/>
            <p:cNvSpPr txBox="1"/>
            <p:nvPr/>
          </p:nvSpPr>
          <p:spPr>
            <a:xfrm>
              <a:off x="6369050" y="1626997"/>
              <a:ext cx="5232400" cy="34112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0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lang="en-US">
                  <a:solidFill>
                    <a:srgbClr val="F2F8FF"/>
                  </a:solidFill>
                  <a:latin typeface="Arial"/>
                  <a:ea typeface="SimHei"/>
                </a:rPr>
                <a:t>TorchAnomaly | Anomaly Detection</a:t>
              </a:r>
            </a:p>
          </p:txBody>
        </p:sp>
        <p:sp>
          <p:nvSpPr>
            <p:cNvPr id="32" name="Text | Learn normal appearance; produce anomaly scores and heatmaps"/>
            <p:cNvSpPr txBox="1"/>
            <p:nvPr/>
          </p:nvSpPr>
          <p:spPr>
            <a:xfrm>
              <a:off x="6369050" y="1965071"/>
              <a:ext cx="523240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en-US">
                  <a:solidFill>
                    <a:srgbClr val="ACC7DA"/>
                  </a:solidFill>
                  <a:latin typeface="Arial"/>
                  <a:ea typeface="SimHei"/>
                </a:rPr>
                <a:t>Learn normal appearance; produce anomaly scores and heatmaps</a:t>
              </a:r>
            </a:p>
          </p:txBody>
        </p:sp>
        <p:pic>
          <p:nvPicPr>
            <p:cNvPr id="33" name="Picture | Independent image" descr="d84699fd34171909ef48bde5cbb997c7c984c852253b3ddefc2e991c3477e6fa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22173" y="2254250"/>
              <a:ext cx="3126154" cy="1905000"/>
            </a:xfrm>
            <a:prstGeom prst="rect">
              <a:avLst/>
            </a:prstGeom>
          </p:spPr>
        </p:pic>
        <p:sp>
          <p:nvSpPr>
            <p:cNvPr id="34" name="Text | Illustrative anomaly heatmap"/>
            <p:cNvSpPr txBox="1"/>
            <p:nvPr/>
          </p:nvSpPr>
          <p:spPr>
            <a:xfrm>
              <a:off x="6381750" y="4203573"/>
              <a:ext cx="5207000" cy="210693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2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b="0" lang="en-US">
                  <a:solidFill>
                    <a:srgbClr val="ACC7DA"/>
                  </a:solidFill>
                  <a:latin typeface="Arial"/>
                  <a:ea typeface="SimHei"/>
                </a:rPr>
                <a:t>Illustrative anomaly heatmap</a:t>
              </a:r>
            </a:p>
          </p:txBody>
        </p:sp>
        <p:cxnSp>
          <p:nvCxnSpPr>
            <p:cNvPr id="35" name="Connector | 6"/>
            <p:cNvCxnSpPr/>
            <p:nvPr/>
          </p:nvCxnSpPr>
          <p:spPr>
            <a:xfrm>
              <a:off x="6369050" y="4476750"/>
              <a:ext cx="5232400" cy="0"/>
            </a:xfrm>
            <a:prstGeom prst="line">
              <a:avLst/>
            </a:prstGeom>
            <a:ln w="6350" cap="rnd">
              <a:solidFill>
                <a:srgbClr val="28516A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 | 5 anomalib Presets"/>
            <p:cNvSpPr txBox="1"/>
            <p:nvPr/>
          </p:nvSpPr>
          <p:spPr>
            <a:xfrm>
              <a:off x="6369050" y="4589399"/>
              <a:ext cx="5080000" cy="29095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en-US">
                  <a:solidFill>
                    <a:srgbClr val="59DAF5"/>
                  </a:solidFill>
                  <a:latin typeface="Arial"/>
                  <a:ea typeface="SimHei"/>
                </a:rPr>
                <a:t>5 anomalib Presets</a:t>
              </a:r>
            </a:p>
          </p:txBody>
        </p:sp>
        <p:sp>
          <p:nvSpPr>
            <p:cNvPr id="37" name="Text | PatchCore  ·  PaDiM  ·  STFPM  ·  EfficientAD"/>
            <p:cNvSpPr txBox="1"/>
            <p:nvPr/>
          </p:nvSpPr>
          <p:spPr>
            <a:xfrm>
              <a:off x="6369050" y="4927790"/>
              <a:ext cx="523240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en-US">
                  <a:solidFill>
                    <a:srgbClr val="F2F8FF"/>
                  </a:solidFill>
                  <a:latin typeface="Arial"/>
                  <a:ea typeface="SimHei"/>
                </a:rPr>
                <a:t>PatchCore  ·  PaDiM  ·  STFPM  ·  EfficientAD</a:t>
              </a:r>
            </a:p>
          </p:txBody>
        </p:sp>
        <p:sp>
          <p:nvSpPr>
            <p:cNvPr id="38" name="Text | SuperSimpleNet"/>
            <p:cNvSpPr txBox="1"/>
            <p:nvPr/>
          </p:nvSpPr>
          <p:spPr>
            <a:xfrm>
              <a:off x="6369050" y="5296090"/>
              <a:ext cx="523240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en-US">
                  <a:solidFill>
                    <a:srgbClr val="F2F8FF"/>
                  </a:solidFill>
                  <a:latin typeface="Arial"/>
                  <a:ea typeface="SimHei"/>
                </a:rPr>
                <a:t>SuperSimpleNet</a:t>
              </a:r>
            </a:p>
          </p:txBody>
        </p:sp>
      </p:grpSp>
      <p:sp>
        <p:nvSpPr>
          <p:cNvPr id="39" name="Text | Current UI presets only; custom YAML compatibility depends on the selected backend."/>
          <p:cNvSpPr txBox="1"/>
          <p:nvPr/>
        </p:nvSpPr>
        <p:spPr>
          <a:xfrm>
            <a:off x="406400" y="6167564"/>
            <a:ext cx="11379200" cy="240792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>
              <a:lnSpc>
                <a:spcPts val="147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ACC7DA"/>
                </a:solidFill>
                <a:latin typeface="Arial"/>
                <a:ea typeface="SimHei"/>
              </a:rPr>
              <a:t>Current UI presets only; custom YAML compatibility depends on the selected backend.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DPPTv5_2026">
  <a:themeElements>
    <a:clrScheme name="WD_FINAL">
      <a:dk1>
        <a:srgbClr val="000000"/>
      </a:dk1>
      <a:lt1>
        <a:srgbClr val="FFFFFF"/>
      </a:lt1>
      <a:dk2>
        <a:srgbClr val="00263E"/>
      </a:dk2>
      <a:lt2>
        <a:srgbClr val="E3E3E3"/>
      </a:lt2>
      <a:accent1>
        <a:srgbClr val="3C8CFF"/>
      </a:accent1>
      <a:accent2>
        <a:srgbClr val="002883"/>
      </a:accent2>
      <a:accent3>
        <a:srgbClr val="48C3F0"/>
      </a:accent3>
      <a:accent4>
        <a:srgbClr val="00E5D1"/>
      </a:accent4>
      <a:accent5>
        <a:srgbClr val="2266FF"/>
      </a:accent5>
      <a:accent6>
        <a:srgbClr val="806CFF"/>
      </a:accent6>
      <a:hlink>
        <a:srgbClr val="2266FF"/>
      </a:hlink>
      <a:folHlink>
        <a:srgbClr val="40E1E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5E3E3"/>
        </a:solidFill>
        <a:ln>
          <a:noFill/>
        </a:ln>
      </a:spPr>
      <a:bodyPr lIns="82296" tIns="0" rIns="0" bIns="0"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/>
      </a:spPr>
      <a:bodyPr/>
      <a:lstStyle/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lnDef>
    <a:txDef>
      <a:spPr/>
      <a:bodyPr spcFirstLastPara="1" wrap="square" lIns="82296" tIns="45720" rIns="0" bIns="45720" rtlCol="0" anchor="t" anchorCtr="0">
        <a:spAutoFit/>
      </a:bodyPr>
      <a:lstStyle>
        <a:defPPr algn="l">
          <a:buClr>
            <a:schemeClr val="dk1"/>
          </a:buClr>
          <a:buSzPts val="1100"/>
          <a:defRPr sz="1400" spc="-30" dirty="0">
            <a:solidFill>
              <a:schemeClr val="tx2"/>
            </a:solidFill>
            <a:latin typeface="FK Grotesk Neue" panose="020B0503020202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WD_CoreMaster_v2" id="{98E0218E-061B-3C4D-9B45-6D4FD43BA911}" vid="{3B0881BA-3C58-5149-9D4F-F46C3FE8D36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FAB2 Automation - Vendor Visit Agenda and Installation Schedule - 12-23 Oct 2026</Template>
  <TotalTime>4</TotalTime>
  <Words>3</Words>
  <Application>Microsoft Office PowerPoint</Application>
  <PresentationFormat>Widescreen</PresentationFormat>
  <Paragraphs>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WDPPTv5_2026</vt:lpstr>
      <vt:lpstr>Hawkeye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WDC,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HawkeyePlus Platform Architecture &amp; Training Models</dc:title>
  <dc:creator>HawkeyePlus</dc:creator>
  <cp:lastModifiedBy>Hansen Liu</cp:lastModifiedBy>
  <cp:revision>5</cp:revision>
  <dcterms:created xsi:type="dcterms:W3CDTF">2026-10-12T06:03:57Z</dcterms:created>
  <dcterms:modified xsi:type="dcterms:W3CDTF">2026-10-12T06:08:10Z</dcterms:modified>
  <dc:subject>Industrial vision: data, training, validation and model portfolio</dc:subject>
</cp:coreProperties>
</file>