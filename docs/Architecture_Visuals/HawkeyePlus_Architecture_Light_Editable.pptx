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D752F7-289C-44A5-8822-3196108F8BC6}">
          <p14:sldIdLst>
            <p14:sldId id="256"/>
            <p14:sldId id="257"/>
            <p14:sldId id="258"/>
          </p14:sldIdLst>
        </p14:section>
        <p14:section name="Hawkeye" id="{942C7107-20FA-4E5A-A41F-A290AF16B9C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是工业视觉模型训练平台。数据集、训练参数、模型三份配置深度合并成任务配置，由平台启动对应 Python 框架的训练子进程。平台负责配置、启停、监控、验证与模型资产管理，并非另一个训练算法框架。PaddlePaddle 对应 PaddleDetection/PaddleClas/PaddleSeg，PyTorch 对应TorchDet/TorchSeg，anomalib 是基于 PyTorch 的 TorchAnomaly 后端。三者是接入能力的概括，不代表三个完全独立的运行时家族。运行期是单机服务加训练子进程；图中的任务编排和 GPU 选择不代表分布式集群调度。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页面用项目内已有的 TEM 标注、创建训练任务、训练曲线和分割结果示例串起工作流。napari 是本仓库配套的桌面分割标注工具，内置 Web 标注是矩形框工具，二者不混为同一个浏览器页面。模型导出格式随框架支持情况而定；PaddleClas 无平台导出入口。发布指登记配置与权重、按产品管理版本并切换激活版本，外部推理服务可通过 API 查询当前版本，不代表平台自动把模型部署到现场设备。回路表示人工结合验证结果更新数据与配置，不是自动学习回流。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检测模型直接读取 DETECTION_PRESETS/TORCH_DET_PRESETS。PaddleDetection 有七组预设，TorchDet 有四组。SSD 的 VGG16 变体使用 SSD300，MobileNetV3-Large 变体使用 SSDLite320。PP-YOLOE、YOLOv3、PicoDet、RT-DETR、CenterNet 不属于 TorchDet。示意检测框不是实际模型预测。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有七个界面预设，TorchSeg 有四个。TorchSeg 中的 DeepLabV3P / DeepLabV3+ 界面名称实际对应 torchvision DeepLabV3，不含 V3+ 解码器。运行器也接受 DeepLabV3 别名，但它不是额外的第五个界面预设。TEM 图来自当前项目示例。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分类与异常检测预设从源码提取。分类模型按具体变体统计共九项；TorchAnomaly 五项为 PatchCore、PaDiM、STFPM、EfficientAD、SuperSimpleNet。ReverseDistillation 不是当前界面预设。图片为概念示意。完整配置值和可选骨干见 Supported_Models.md。</a:t>
            </a:r>
          </a:p>
          <a:p>
            <a:r>
              <a:t>文字、模块、连接线可编辑，配图可替换。当前预设不等于已逐一在本机训练验证；完整模型与骨干列表见 Supported_Models.md。</a:t>
            </a:r>
          </a:p>
          <a:p>
            <a:r>
              <a:t>来源：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A439952-8DC5-BBFA-6602-D37B43158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64F8ECB-E27D-88ED-802A-BCAC3DD945D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04194E36-DFE9-A075-0C80-FE6E903F6B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 平台总体架构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HawkeyePlus 平台总体架构</a:t>
            </a:r>
          </a:p>
        </p:txBody>
      </p:sp>
      <p:sp>
        <p:nvSpPr>
          <p:cNvPr id="12" name="Text | 从工业图像到可交付模型，贯通数据、训练、验证与发布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从工业图像到可交付模型，贯通数据、训练、验证与发布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1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01</a:t>
            </a:r>
          </a:p>
        </p:txBody>
      </p:sp>
      <p:grpSp>
        <p:nvGrpSpPr>
          <p:cNvPr id="17" name="Node | 数据与标注资产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数据与标注资产"/>
            <p:cNvSpPr txBox="1"/>
            <p:nvPr/>
          </p:nvSpPr>
          <p:spPr>
            <a:xfrm>
              <a:off x="920750" y="1616075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数据与标注资产</a:t>
              </a:r>
            </a:p>
          </p:txBody>
        </p:sp>
        <p:pic>
          <p:nvPicPr>
            <p:cNvPr id="21" name="Picture | Independent image" descr="8579d0deefb513079e6032a0090151449e8830ef3cc775ab46f598f1603659e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工业图像  +  标签 / 掩码"/>
            <p:cNvSpPr txBox="1"/>
            <p:nvPr/>
          </p:nvSpPr>
          <p:spPr>
            <a:xfrm>
              <a:off x="571500" y="3548316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工业图像  +  标签 / 掩码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上传导入"/>
            <p:cNvSpPr txBox="1"/>
            <p:nvPr/>
          </p:nvSpPr>
          <p:spPr>
            <a:xfrm>
              <a:off x="6159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上传导入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标注转换"/>
            <p:cNvSpPr txBox="1"/>
            <p:nvPr/>
          </p:nvSpPr>
          <p:spPr>
            <a:xfrm>
              <a:off x="153670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标注转换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样本预览"/>
            <p:cNvSpPr txBox="1"/>
            <p:nvPr/>
          </p:nvSpPr>
          <p:spPr>
            <a:xfrm>
              <a:off x="24574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样本预览</a:t>
              </a:r>
            </a:p>
          </p:txBody>
        </p:sp>
      </p:grpSp>
      <p:grpSp>
        <p:nvGrpSpPr>
          <p:cNvPr id="29" name="Node | 可视化训练中枢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可视化训练中枢"/>
            <p:cNvSpPr txBox="1"/>
            <p:nvPr/>
          </p:nvSpPr>
          <p:spPr>
            <a:xfrm>
              <a:off x="3905250" y="1594231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82D48"/>
                  </a:solidFill>
                  <a:latin typeface="Arial"/>
                  <a:ea typeface="SimHei"/>
                </a:rPr>
                <a:t>可视化训练中枢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数据集配置"/>
            <p:cNvSpPr txBox="1"/>
            <p:nvPr/>
          </p:nvSpPr>
          <p:spPr>
            <a:xfrm>
              <a:off x="39687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数据集配置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模型配置"/>
            <p:cNvSpPr txBox="1"/>
            <p:nvPr/>
          </p:nvSpPr>
          <p:spPr>
            <a:xfrm>
              <a:off x="535940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模型配置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训练参数"/>
            <p:cNvSpPr txBox="1"/>
            <p:nvPr/>
          </p:nvSpPr>
          <p:spPr>
            <a:xfrm>
              <a:off x="67500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训练参数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007D9D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任务编排"/>
            <p:cNvSpPr txBox="1"/>
            <p:nvPr/>
          </p:nvSpPr>
          <p:spPr>
            <a:xfrm>
              <a:off x="3911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任务编排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选择"/>
            <p:cNvSpPr txBox="1"/>
            <p:nvPr/>
          </p:nvSpPr>
          <p:spPr>
            <a:xfrm>
              <a:off x="53721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GPU 选择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训练监控"/>
            <p:cNvSpPr txBox="1"/>
            <p:nvPr/>
          </p:nvSpPr>
          <p:spPr>
            <a:xfrm>
              <a:off x="6832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训练监控</a:t>
              </a:r>
            </a:p>
          </p:txBody>
        </p:sp>
      </p:grpSp>
      <p:grpSp>
        <p:nvGrpSpPr>
          <p:cNvPr id="47" name="Node | 验证与模型交付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验证与模型交付"/>
            <p:cNvSpPr txBox="1"/>
            <p:nvPr/>
          </p:nvSpPr>
          <p:spPr>
            <a:xfrm>
              <a:off x="9042400" y="1616075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验证与模型交付</a:t>
              </a:r>
            </a:p>
          </p:txBody>
        </p:sp>
        <p:pic>
          <p:nvPicPr>
            <p:cNvPr id="51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评估与推理"/>
            <p:cNvSpPr txBox="1"/>
            <p:nvPr/>
          </p:nvSpPr>
          <p:spPr>
            <a:xfrm>
              <a:off x="9512300" y="205149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评估与推理</a:t>
              </a:r>
            </a:p>
          </p:txBody>
        </p:sp>
        <p:sp>
          <p:nvSpPr>
            <p:cNvPr id="53" name="Text | 指标评估 · 结果预览"/>
            <p:cNvSpPr txBox="1"/>
            <p:nvPr/>
          </p:nvSpPr>
          <p:spPr>
            <a:xfrm>
              <a:off x="9512300" y="23319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指标评估 · 结果预览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推理模型导出"/>
            <p:cNvSpPr txBox="1"/>
            <p:nvPr/>
          </p:nvSpPr>
          <p:spPr>
            <a:xfrm>
              <a:off x="9512300" y="276904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推理模型导出</a:t>
              </a:r>
            </a:p>
          </p:txBody>
        </p:sp>
        <p:sp>
          <p:nvSpPr>
            <p:cNvPr id="57" name="Text | 模型转换 · 打包下载"/>
            <p:cNvSpPr txBox="1"/>
            <p:nvPr/>
          </p:nvSpPr>
          <p:spPr>
            <a:xfrm>
              <a:off x="9512300" y="304946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模型转换 · 打包下载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模型版本发布"/>
            <p:cNvSpPr txBox="1"/>
            <p:nvPr/>
          </p:nvSpPr>
          <p:spPr>
            <a:xfrm>
              <a:off x="9512300" y="3486595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模型版本发布</a:t>
              </a:r>
            </a:p>
          </p:txBody>
        </p:sp>
        <p:sp>
          <p:nvSpPr>
            <p:cNvPr id="61" name="Text | 按产品管理 · 激活切换"/>
            <p:cNvSpPr txBox="1"/>
            <p:nvPr/>
          </p:nvSpPr>
          <p:spPr>
            <a:xfrm>
              <a:off x="9512300" y="37670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按产品管理 · 激活切换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多框架训练能力"/>
          <p:cNvGrpSpPr/>
          <p:nvPr/>
        </p:nvGrpSpPr>
        <p:grpSpPr>
          <a:xfrm>
            <a:off x="406400" y="4508500"/>
            <a:ext cx="6781800" cy="350330"/>
            <a:chOff x="406400" y="4508500"/>
            <a:chExt cx="6781800" cy="350330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多框架训练能力"/>
            <p:cNvSpPr txBox="1"/>
            <p:nvPr/>
          </p:nvSpPr>
          <p:spPr>
            <a:xfrm>
              <a:off x="577850" y="4577906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多框架训练能力</a:t>
              </a:r>
            </a:p>
          </p:txBody>
        </p:sp>
      </p:grpSp>
      <p:grpSp>
        <p:nvGrpSpPr>
          <p:cNvPr id="68" name="Node | 运行与资产底座"/>
          <p:cNvGrpSpPr/>
          <p:nvPr/>
        </p:nvGrpSpPr>
        <p:grpSpPr>
          <a:xfrm>
            <a:off x="7366000" y="4508500"/>
            <a:ext cx="4419600" cy="350330"/>
            <a:chOff x="7366000" y="4508500"/>
            <a:chExt cx="4419600" cy="350330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运行与资产底座"/>
            <p:cNvSpPr txBox="1"/>
            <p:nvPr/>
          </p:nvSpPr>
          <p:spPr>
            <a:xfrm>
              <a:off x="7537450" y="4577906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运行与资产底座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检测 · 分类 · 分割"/>
            <p:cNvSpPr txBox="1"/>
            <p:nvPr/>
          </p:nvSpPr>
          <p:spPr>
            <a:xfrm>
              <a:off x="1454150" y="5430266"/>
              <a:ext cx="1219200" cy="18490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1" b="0" lang="zh-CN">
                  <a:solidFill>
                    <a:srgbClr val="4C6B83"/>
                  </a:solidFill>
                  <a:latin typeface="Arial"/>
                  <a:ea typeface="SimHei"/>
                </a:rPr>
                <a:t>检测 · 分类 · 分割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检测 · 分割"/>
            <p:cNvSpPr txBox="1"/>
            <p:nvPr/>
          </p:nvSpPr>
          <p:spPr>
            <a:xfrm>
              <a:off x="37147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4C6B83"/>
                  </a:solidFill>
                  <a:latin typeface="Arial"/>
                  <a:ea typeface="SimHei"/>
                </a:rPr>
                <a:t>检测 · 分割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无监督异常检测"/>
            <p:cNvSpPr txBox="1"/>
            <p:nvPr/>
          </p:nvSpPr>
          <p:spPr>
            <a:xfrm>
              <a:off x="59753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4C6B83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</p:grpSp>
      <p:grpSp>
        <p:nvGrpSpPr>
          <p:cNvPr id="83" name="Node | 算力与环境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d9f05c59afa7b59b616d3bd2d29ea49b60eccaedfc61de0fa0c9a96bdf5effd3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算力与环境"/>
            <p:cNvSpPr txBox="1"/>
            <p:nvPr/>
          </p:nvSpPr>
          <p:spPr>
            <a:xfrm>
              <a:off x="83248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算力与环境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4C6B83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数据与资产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80af7916d020880727b6fe31c7b6d71c2dbdca5115e09bbec06f0a8a67ab7d68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数据与资产"/>
            <p:cNvSpPr txBox="1"/>
            <p:nvPr/>
          </p:nvSpPr>
          <p:spPr>
            <a:xfrm>
              <a:off x="105346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数据与资产</a:t>
              </a:r>
            </a:p>
          </p:txBody>
        </p:sp>
        <p:sp>
          <p:nvSpPr>
            <p:cNvPr id="90" name="Text | 图像 · 权重 · 日志"/>
            <p:cNvSpPr txBox="1"/>
            <p:nvPr/>
          </p:nvSpPr>
          <p:spPr>
            <a:xfrm>
              <a:off x="10534650" y="5432298"/>
              <a:ext cx="1193800" cy="18109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2" b="0" lang="zh-CN">
                  <a:solidFill>
                    <a:srgbClr val="4C6B83"/>
                  </a:solidFill>
                  <a:latin typeface="Arial"/>
                  <a:ea typeface="SimHei"/>
                </a:rPr>
                <a:t>图像 · 权重 · 日志</a:t>
              </a:r>
            </a:p>
          </p:txBody>
        </p:sp>
      </p:grpSp>
      <p:grpSp>
        <p:nvGrpSpPr>
          <p:cNvPr id="91" name="Node | 平台统一支撑"/>
          <p:cNvGrpSpPr/>
          <p:nvPr/>
        </p:nvGrpSpPr>
        <p:grpSpPr>
          <a:xfrm>
            <a:off x="406400" y="6045200"/>
            <a:ext cx="11379200" cy="351092"/>
            <a:chOff x="406400" y="6045200"/>
            <a:chExt cx="11379200" cy="351092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统一管理"/>
            <p:cNvSpPr txBox="1"/>
            <p:nvPr/>
          </p:nvSpPr>
          <p:spPr>
            <a:xfrm>
              <a:off x="717550" y="6155500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统一管理</a:t>
              </a:r>
            </a:p>
          </p:txBody>
        </p:sp>
        <p:sp>
          <p:nvSpPr>
            <p:cNvPr id="95" name="Text | 项目归属     ·     用户权限     ·     环境检查     ·     GPU 状态     ·     存储配额     ·     操作记录"/>
            <p:cNvSpPr txBox="1"/>
            <p:nvPr/>
          </p:nvSpPr>
          <p:spPr>
            <a:xfrm>
              <a:off x="1898650" y="616096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项目归属     ·     用户权限     ·     环境检查     ·     GPU 状态     ·     存储配额     ·     操作记录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从数据到模型的可视化闭环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从数据到模型的可视化闭环</a:t>
            </a:r>
          </a:p>
        </p:txBody>
      </p:sp>
      <p:sp>
        <p:nvSpPr>
          <p:cNvPr id="12" name="Text | 将分散的准备、训练与验证环节，组织为统一的模型研发工作流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将分散的准备、训练与验证环节，组织为统一的模型研发工作流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2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02</a:t>
            </a:r>
          </a:p>
        </p:txBody>
      </p:sp>
      <p:grpSp>
        <p:nvGrpSpPr>
          <p:cNvPr id="17" name="Node | 准备数据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准备数据"/>
            <p:cNvSpPr txBox="1"/>
            <p:nvPr/>
          </p:nvSpPr>
          <p:spPr>
            <a:xfrm>
              <a:off x="9271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准备数据</a:t>
              </a:r>
            </a:p>
          </p:txBody>
        </p:sp>
        <p:pic>
          <p:nvPicPr>
            <p:cNvPr id="21" name="Picture | Independent image" descr="8f47fa394a6b9f34faa9cab5dd29fefa11f025f02bf330ae6a05abf32f9a8e9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导入图像与标注"/>
            <p:cNvSpPr txBox="1"/>
            <p:nvPr/>
          </p:nvSpPr>
          <p:spPr>
            <a:xfrm>
              <a:off x="4762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导入图像与标注</a:t>
              </a:r>
            </a:p>
          </p:txBody>
        </p:sp>
        <p:sp>
          <p:nvSpPr>
            <p:cNvPr id="24" name="Text | 转换格式 · 检查样本"/>
            <p:cNvSpPr txBox="1"/>
            <p:nvPr/>
          </p:nvSpPr>
          <p:spPr>
            <a:xfrm>
              <a:off x="4762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转换格式 · 检查样本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组合配置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组合配置"/>
            <p:cNvSpPr txBox="1"/>
            <p:nvPr/>
          </p:nvSpPr>
          <p:spPr>
            <a:xfrm>
              <a:off x="32385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组合配置</a:t>
              </a:r>
            </a:p>
          </p:txBody>
        </p:sp>
        <p:pic>
          <p:nvPicPr>
            <p:cNvPr id="30" name="Picture | Independent image" descr="2ee78d4bd8cc4cc462affc22d7629177eb607dcfce7e5fb3670d2a1b2b9cffb8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数据 + 模型 + 参数"/>
            <p:cNvSpPr txBox="1"/>
            <p:nvPr/>
          </p:nvSpPr>
          <p:spPr>
            <a:xfrm>
              <a:off x="27876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数据 + 模型 + 参数</a:t>
              </a:r>
            </a:p>
          </p:txBody>
        </p:sp>
        <p:sp>
          <p:nvSpPr>
            <p:cNvPr id="33" name="Text | 模板复用 · 可视化配置"/>
            <p:cNvSpPr txBox="1"/>
            <p:nvPr/>
          </p:nvSpPr>
          <p:spPr>
            <a:xfrm>
              <a:off x="27876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模板复用 · 可视化配置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训练监控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训练监控"/>
            <p:cNvSpPr txBox="1"/>
            <p:nvPr/>
          </p:nvSpPr>
          <p:spPr>
            <a:xfrm>
              <a:off x="55499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训练监控</a:t>
              </a:r>
            </a:p>
          </p:txBody>
        </p:sp>
        <p:pic>
          <p:nvPicPr>
            <p:cNvPr id="39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启动任务 · 查看曲线"/>
            <p:cNvSpPr txBox="1"/>
            <p:nvPr/>
          </p:nvSpPr>
          <p:spPr>
            <a:xfrm>
              <a:off x="50990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启动任务 · 查看曲线</a:t>
              </a:r>
            </a:p>
          </p:txBody>
        </p:sp>
        <p:sp>
          <p:nvSpPr>
            <p:cNvPr id="42" name="Text | 进度 · 损失 · 评估指标"/>
            <p:cNvSpPr txBox="1"/>
            <p:nvPr/>
          </p:nvSpPr>
          <p:spPr>
            <a:xfrm>
              <a:off x="50990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进度 · 损失 · 评估指标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验证效果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验证效果"/>
            <p:cNvSpPr txBox="1"/>
            <p:nvPr/>
          </p:nvSpPr>
          <p:spPr>
            <a:xfrm>
              <a:off x="78613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验证效果</a:t>
              </a:r>
            </a:p>
          </p:txBody>
        </p:sp>
        <p:pic>
          <p:nvPicPr>
            <p:cNvPr id="48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独立评估 · 图像推理"/>
            <p:cNvSpPr txBox="1"/>
            <p:nvPr/>
          </p:nvSpPr>
          <p:spPr>
            <a:xfrm>
              <a:off x="74104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独立评估 · 图像推理</a:t>
              </a:r>
            </a:p>
          </p:txBody>
        </p:sp>
        <p:sp>
          <p:nvSpPr>
            <p:cNvPr id="51" name="Text | 预览结果 · 判断可用性"/>
            <p:cNvSpPr txBox="1"/>
            <p:nvPr/>
          </p:nvSpPr>
          <p:spPr>
            <a:xfrm>
              <a:off x="74104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预览结果 · 判断可用性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模型交付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模型交付"/>
            <p:cNvSpPr txBox="1"/>
            <p:nvPr/>
          </p:nvSpPr>
          <p:spPr>
            <a:xfrm>
              <a:off x="101727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模型交付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导出下载 · 注册版本"/>
            <p:cNvSpPr txBox="1"/>
            <p:nvPr/>
          </p:nvSpPr>
          <p:spPr>
            <a:xfrm>
              <a:off x="97218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导出下载 · 注册版本</a:t>
              </a:r>
            </a:p>
          </p:txBody>
        </p:sp>
        <p:sp>
          <p:nvSpPr>
            <p:cNvPr id="60" name="Text | 按产品切换激活模型"/>
            <p:cNvSpPr txBox="1"/>
            <p:nvPr/>
          </p:nvSpPr>
          <p:spPr>
            <a:xfrm>
              <a:off x="97218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按产品切换激活模型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依据验证结果，迭代数据与配置"/>
          <p:cNvSpPr txBox="1"/>
          <p:nvPr/>
        </p:nvSpPr>
        <p:spPr>
          <a:xfrm>
            <a:off x="3105150" y="4518088"/>
            <a:ext cx="3746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007D9D"/>
                </a:solidFill>
                <a:latin typeface="Arial"/>
                <a:ea typeface="SimHei"/>
              </a:rPr>
              <a:t>依据验证结果，迭代数据与配置</a:t>
            </a:r>
          </a:p>
        </p:txBody>
      </p:sp>
      <p:sp>
        <p:nvSpPr>
          <p:cNvPr id="64" name="Text | 四类视觉任务，共用一套平台能力"/>
          <p:cNvSpPr txBox="1"/>
          <p:nvPr/>
        </p:nvSpPr>
        <p:spPr>
          <a:xfrm>
            <a:off x="406400" y="49062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082D48"/>
                </a:solidFill>
                <a:latin typeface="Arial"/>
                <a:ea typeface="SimHei"/>
              </a:rPr>
              <a:t>四类视觉任务，共用一套平台能力</a:t>
            </a:r>
          </a:p>
        </p:txBody>
      </p:sp>
      <p:grpSp>
        <p:nvGrpSpPr>
          <p:cNvPr id="65" name="Node | 目标检测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目标检测"/>
            <p:cNvSpPr txBox="1"/>
            <p:nvPr/>
          </p:nvSpPr>
          <p:spPr>
            <a:xfrm>
              <a:off x="6731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目标检测</a:t>
              </a:r>
            </a:p>
          </p:txBody>
        </p:sp>
        <p:sp>
          <p:nvSpPr>
            <p:cNvPr id="69" name="Text | 发现缺陷与目标位置"/>
            <p:cNvSpPr txBox="1"/>
            <p:nvPr/>
          </p:nvSpPr>
          <p:spPr>
            <a:xfrm>
              <a:off x="6731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发现缺陷与目标位置</a:t>
              </a:r>
            </a:p>
          </p:txBody>
        </p:sp>
      </p:grpSp>
      <p:grpSp>
        <p:nvGrpSpPr>
          <p:cNvPr id="70" name="Node | 图像分类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图像分类"/>
            <p:cNvSpPr txBox="1"/>
            <p:nvPr/>
          </p:nvSpPr>
          <p:spPr>
            <a:xfrm>
              <a:off x="35623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图像分类</a:t>
              </a:r>
            </a:p>
          </p:txBody>
        </p:sp>
        <p:sp>
          <p:nvSpPr>
            <p:cNvPr id="74" name="Text | 识别类别与质量状态"/>
            <p:cNvSpPr txBox="1"/>
            <p:nvPr/>
          </p:nvSpPr>
          <p:spPr>
            <a:xfrm>
              <a:off x="35623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识别类别与质量状态</a:t>
              </a:r>
            </a:p>
          </p:txBody>
        </p:sp>
      </p:grpSp>
      <p:grpSp>
        <p:nvGrpSpPr>
          <p:cNvPr id="75" name="Node | 语义分割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语义分割"/>
            <p:cNvSpPr txBox="1"/>
            <p:nvPr/>
          </p:nvSpPr>
          <p:spPr>
            <a:xfrm>
              <a:off x="64516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语义分割</a:t>
              </a:r>
            </a:p>
          </p:txBody>
        </p:sp>
        <p:sp>
          <p:nvSpPr>
            <p:cNvPr id="79" name="Text | 刻画区域与结构边界"/>
            <p:cNvSpPr txBox="1"/>
            <p:nvPr/>
          </p:nvSpPr>
          <p:spPr>
            <a:xfrm>
              <a:off x="64516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刻画区域与结构边界</a:t>
              </a:r>
            </a:p>
          </p:txBody>
        </p:sp>
      </p:grpSp>
      <p:grpSp>
        <p:nvGrpSpPr>
          <p:cNvPr id="80" name="Node | 无监督异常检测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无监督异常检测"/>
            <p:cNvSpPr txBox="1"/>
            <p:nvPr/>
          </p:nvSpPr>
          <p:spPr>
            <a:xfrm>
              <a:off x="93408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  <p:sp>
          <p:nvSpPr>
            <p:cNvPr id="84" name="Text | 利用正常样本学习异常"/>
            <p:cNvSpPr txBox="1"/>
            <p:nvPr/>
          </p:nvSpPr>
          <p:spPr>
            <a:xfrm>
              <a:off x="93408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利用正常样本学习异常</a:t>
              </a:r>
            </a:p>
          </p:txBody>
        </p:sp>
      </p:grpSp>
      <p:sp>
        <p:nvSpPr>
          <p:cNvPr id="85" name="Text | 降低使用门槛   /   复用训练经验   /   沉淀模型资产"/>
          <p:cNvSpPr txBox="1"/>
          <p:nvPr/>
        </p:nvSpPr>
        <p:spPr>
          <a:xfrm>
            <a:off x="698500" y="61527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087F79"/>
                </a:solidFill>
                <a:latin typeface="Arial"/>
                <a:ea typeface="SimHei"/>
              </a:rPr>
              <a:t>降低使用门槛   /   复用训练经验   /   沉淀模型资产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Detection｜工业缺陷检测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Detection｜工业缺陷检测</a:t>
            </a:r>
          </a:p>
        </p:txBody>
      </p:sp>
      <p:sp>
        <p:nvSpPr>
          <p:cNvPr id="12" name="Text | 目标框、类别与置信度，让缺陷位置与类型一目了然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目标框、类别与置信度，让缺陷位置与类型一目了然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3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03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缺陷定位与识别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缺陷定位与识别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输出：目标框 · 类别 · 置信度"/>
            <p:cNvSpPr txBox="1"/>
            <p:nvPr/>
          </p:nvSpPr>
          <p:spPr>
            <a:xfrm>
              <a:off x="533400" y="4437316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07D9D"/>
                  </a:solidFill>
                  <a:latin typeface="Arial"/>
                  <a:ea typeface="SimHei"/>
                </a:rPr>
                <a:t>输出：目标框 · 类别 · 置信度</a:t>
              </a:r>
            </a:p>
          </p:txBody>
        </p:sp>
        <p:sp>
          <p:nvSpPr>
            <p:cNvPr id="22" name="Text | 检测结果示意，非真实模型预测"/>
            <p:cNvSpPr txBox="1"/>
            <p:nvPr/>
          </p:nvSpPr>
          <p:spPr>
            <a:xfrm>
              <a:off x="533400" y="4659694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zh-CN">
                  <a:solidFill>
                    <a:srgbClr val="4C6B83"/>
                  </a:solidFill>
                  <a:latin typeface="Arial"/>
                  <a:ea typeface="SimHei"/>
                </a:rPr>
                <a:t>检测结果示意，非真实模型预测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：VGG16 → SSD300；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SSD：VGG16 → SSD300；MobileNetV3 → SSDLite320</a:t>
              </a:r>
            </a:p>
          </p:txBody>
        </p:sp>
      </p:grpSp>
      <p:grpSp>
        <p:nvGrpSpPr>
          <p:cNvPr id="37" name="Node | COCO 数据与标注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数据与标注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COCO 数据与标注</a:t>
              </a:r>
            </a:p>
          </p:txBody>
        </p:sp>
        <p:sp>
          <p:nvSpPr>
            <p:cNvPr id="41" name="Text | 框标注 · 类别管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框标注 · 类别管理</a:t>
              </a:r>
            </a:p>
          </p:txBody>
        </p:sp>
      </p:grpSp>
      <p:grpSp>
        <p:nvGrpSpPr>
          <p:cNvPr id="42" name="Node | 训练与指标跟踪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训练与指标跟踪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训练与指标跟踪</a:t>
              </a:r>
            </a:p>
          </p:txBody>
        </p:sp>
        <p:sp>
          <p:nvSpPr>
            <p:cNvPr id="46" name="Text | mAP / mAP50 · 训练曲线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mAP / mAP50 · 训练曲线</a:t>
              </a:r>
            </a:p>
          </p:txBody>
        </p:sp>
      </p:grpSp>
      <p:grpSp>
        <p:nvGrpSpPr>
          <p:cNvPr id="47" name="Node | 检测结果预览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检测结果预览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检测结果预览</a:t>
              </a:r>
            </a:p>
          </p:txBody>
        </p:sp>
        <p:sp>
          <p:nvSpPr>
            <p:cNvPr id="51" name="Text | 定位缺陷 · 查看类别"/>
            <p:cNvSpPr txBox="1"/>
            <p:nvPr/>
          </p:nvSpPr>
          <p:spPr>
            <a:xfrm>
              <a:off x="91122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定位缺陷 · 查看类别</a:t>
              </a:r>
            </a:p>
          </p:txBody>
        </p:sp>
      </p:grpSp>
      <p:sp>
        <p:nvSpPr>
          <p:cNvPr id="52" name="Text | 预设按框架区分；PP-YOLOE、RT-DETR 等不属于 TorchDet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4C6B83"/>
                </a:solidFill>
                <a:latin typeface="Arial"/>
                <a:ea typeface="SimHei"/>
              </a:rPr>
              <a:t>预设按框架区分；PP-YOLOE、RT-DETR 等不属于 TorchDet。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割模型｜像素级结构与区域识别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分割模型｜像素级结构与区域识别</a:t>
            </a:r>
          </a:p>
        </p:txBody>
      </p:sp>
      <p:sp>
        <p:nvSpPr>
          <p:cNvPr id="12" name="Text | 以 TEM 分割示例说明任务；模型覆盖轻量网络、编码器解码器与 Transformer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以 TEM 分割示例说明任务；模型覆盖轻量网络、编码器解码器与 Transformer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4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04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像素级预测示例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像素级预测示例</a:t>
              </a:r>
            </a:p>
          </p:txBody>
        </p:sp>
        <p:pic>
          <p:nvPicPr>
            <p:cNvPr id="20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图像区域 · 结构边界 · 标签掩码"/>
            <p:cNvSpPr txBox="1"/>
            <p:nvPr/>
          </p:nvSpPr>
          <p:spPr>
            <a:xfrm>
              <a:off x="533400" y="4385628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zh-CN">
                  <a:solidFill>
                    <a:srgbClr val="007D9D"/>
                  </a:solidFill>
                  <a:latin typeface="Arial"/>
                  <a:ea typeface="SimHei"/>
                </a:rPr>
                <a:t>图像区域 · 结构边界 · 标签掩码</a:t>
              </a:r>
            </a:p>
          </p:txBody>
        </p:sp>
        <p:sp>
          <p:nvSpPr>
            <p:cNvPr id="22" name="Text | 项目内 TEM 分割示例"/>
            <p:cNvSpPr txBox="1"/>
            <p:nvPr/>
          </p:nvSpPr>
          <p:spPr>
            <a:xfrm>
              <a:off x="533400" y="4647882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项目内 TEM 分割示例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的 DeepLabV3P 使用 torchvision DeepLabV3，并非 V3+ 解码器。"/>
            <p:cNvSpPr txBox="1"/>
            <p:nvPr/>
          </p:nvSpPr>
          <p:spPr>
            <a:xfrm>
              <a:off x="4997450" y="456711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TorchSeg 的 DeepLabV3P 使用 torchvision DeepLabV3，并非 V3+ 解码器。</a:t>
              </a:r>
            </a:p>
          </p:txBody>
        </p:sp>
      </p:grpSp>
      <p:grpSp>
        <p:nvGrpSpPr>
          <p:cNvPr id="37" name="Node | 数据组织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数据组织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数据组织</a:t>
              </a:r>
            </a:p>
          </p:txBody>
        </p:sp>
        <p:sp>
          <p:nvSpPr>
            <p:cNvPr id="41" name="Text | 图像 + 掩码 + 训练 / 验证划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图像 + 掩码 + 训练 / 验证划分</a:t>
              </a:r>
            </a:p>
          </p:txBody>
        </p:sp>
      </p:grpSp>
      <p:grpSp>
        <p:nvGrpSpPr>
          <p:cNvPr id="42" name="Node | 评估指标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评估指标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评估指标</a:t>
              </a:r>
            </a:p>
          </p:txBody>
        </p:sp>
        <p:sp>
          <p:nvSpPr>
            <p:cNvPr id="46" name="Text | mIoU · Dice · 准确率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mIoU · Dice · 准确率</a:t>
              </a:r>
            </a:p>
          </p:txBody>
        </p:sp>
      </p:grpSp>
      <p:grpSp>
        <p:nvGrpSpPr>
          <p:cNvPr id="47" name="Node | 业务用途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业务用途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业务用途</a:t>
              </a:r>
            </a:p>
          </p:txBody>
        </p:sp>
        <p:sp>
          <p:nvSpPr>
            <p:cNvPr id="51" name="Text | 缺陷区域 · 微观结构 · 边界分析"/>
            <p:cNvSpPr txBox="1"/>
            <p:nvPr/>
          </p:nvSpPr>
          <p:spPr>
            <a:xfrm>
              <a:off x="9112250" y="5641467"/>
              <a:ext cx="2533650" cy="2401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7" b="0" lang="zh-CN">
                  <a:solidFill>
                    <a:srgbClr val="4C6B83"/>
                  </a:solidFill>
                  <a:latin typeface="Arial"/>
                  <a:ea typeface="SimHei"/>
                </a:rPr>
                <a:t>缺陷区域 · 微观结构 · 边界分析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类与异常检测｜补齐视觉任务覆盖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分类与异常检测｜补齐视觉任务覆盖</a:t>
            </a:r>
          </a:p>
        </p:txBody>
      </p:sp>
      <p:sp>
        <p:nvSpPr>
          <p:cNvPr id="12" name="Text | 从整图类别判断，到基于正常样本的异常识别，复用同一套模型研发流程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从整图类别判断，到基于正常样本的异常识别，复用同一套模型研发流程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5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05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｜图像分类"/>
            <p:cNvSpPr txBox="1"/>
            <p:nvPr/>
          </p:nvSpPr>
          <p:spPr>
            <a:xfrm>
              <a:off x="5905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PaddleClas｜图像分类</a:t>
              </a:r>
            </a:p>
          </p:txBody>
        </p:sp>
        <p:sp>
          <p:nvSpPr>
            <p:cNvPr id="20" name="Text | 按类别学习，输出整图分类结果"/>
            <p:cNvSpPr txBox="1"/>
            <p:nvPr/>
          </p:nvSpPr>
          <p:spPr>
            <a:xfrm>
              <a:off x="5905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按类别学习，输出整图分类结果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分类输出示意"/>
            <p:cNvSpPr txBox="1"/>
            <p:nvPr/>
          </p:nvSpPr>
          <p:spPr>
            <a:xfrm>
              <a:off x="6032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分类输出示意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个分类变体"/>
            <p:cNvSpPr txBox="1"/>
            <p:nvPr/>
          </p:nvSpPr>
          <p:spPr>
            <a:xfrm>
              <a:off x="5905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9 个分类变体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｜异常检测"/>
            <p:cNvSpPr txBox="1"/>
            <p:nvPr/>
          </p:nvSpPr>
          <p:spPr>
            <a:xfrm>
              <a:off x="63690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TorchAnomaly｜异常检测</a:t>
              </a:r>
            </a:p>
          </p:txBody>
        </p:sp>
        <p:sp>
          <p:nvSpPr>
            <p:cNvPr id="32" name="Text | 基于正常样本，输出异常分数与热力图"/>
            <p:cNvSpPr txBox="1"/>
            <p:nvPr/>
          </p:nvSpPr>
          <p:spPr>
            <a:xfrm>
              <a:off x="63690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基于正常样本，输出异常分数与热力图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异常热力图示意"/>
            <p:cNvSpPr txBox="1"/>
            <p:nvPr/>
          </p:nvSpPr>
          <p:spPr>
            <a:xfrm>
              <a:off x="63817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异常热力图示意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个 anomalib 预设"/>
            <p:cNvSpPr txBox="1"/>
            <p:nvPr/>
          </p:nvSpPr>
          <p:spPr>
            <a:xfrm>
              <a:off x="63690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5 个 anomalib 预设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仅列当前界面预设；自定义 YAML 的兼容性取决于所选后端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4C6B83"/>
                </a:solidFill>
                <a:latin typeface="Arial"/>
                <a:ea typeface="SimHei"/>
              </a:rPr>
              <a:t>仅列当前界面预设；自定义 YAML 的兼容性取决于所选后端。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HawkeyePlus 平台架构与训练模型</dc:title>
  <dc:creator>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Industrial vision: data, training, validation and model portfolio</dc:subject>
</cp:coreProperties>
</file>