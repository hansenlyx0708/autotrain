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8"/>
    <p:sldId id="258" r:id="rId9"/>
    <p:sldId id="259" r:id="rId10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D752F7-289C-44A5-8822-3196108F8BC6}">
          <p14:sldIdLst>
            <p14:sldId id="256"/>
            <p14:sldId id="257"/>
            <p14:sldId id="258"/>
          </p14:sldIdLst>
        </p14:section>
        <p14:section name="Hawkeye" id="{942C7107-20FA-4E5A-A41F-A290AF16B9C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HawkeyePlus combines dataset, model and training configurations, then starts the selected Python training backend. It manages jobs, monitoring, validation and model assets rather than implementing a new training algorithm. PaddlePaddle covers PaddleDetection/PaddleClas/PaddleSeg; PyTorch covers TorchDet/TorchSeg; anomalib is the PyTorch-based TorchAnomaly adapter. Compute selection does not imply distributed cluster scheduling.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workflow combines repository examples and conceptual detection graphics. Napari is the companion desktop segmentation annotation tool, separate from the web rectangle annotation tool. Export support varies by backend; PaddleClas has no platform export entrypoint. Model release registers configurations and weights, versions and the active model; it does not automatically deploy to production machines. The feedback path represents a user revising data and configuration.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Detection models are read directly from DETECTION_PRESETS and TORCH_DET_PRESETS. PaddleDetection has seven preset families; TorchDet has four. SSD/VGG16 uses SSD300; SSD/MobileNetV3-Large uses SSDLite320. TorchDet supports COCO detector-head transfer for Faster R-CNN, RetinaNet and FCOS; SSD falls back to ImageNet backbone initialization. PP-YOLOE, YOLOv3, PicoDet, RT-DETR and CenterNet are not TorchDet families. Defect boxes are illustrative, not inference results or benchmark evidence.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PaddleSeg has seven current UI architectures. TorchSeg has four UI presets. The TorchSeg UI calls one preset DeepLabV3+ (config key DeepLabV3P), but the runtime uses torchvision DeepLabV3 without a V3+ decoder. DeepLabV3 is also a runtime alias, not a fifth UI preset. TEM images are project examples, not a benchmark for all models.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nine PaddleClas choices are listed by exact configuration name in Supported_Models.md. The five TorchAnomaly presets are PatchCore, PaDiM, STFPM, EfficientAD and SuperSimpleNet. Training uses normal images. ReverseDistillation is not a current UI preset. Classification and anomaly images are conceptual illustrations. Environment/version compatibility still applies.</a:t>
            </a:r>
          </a:p>
          <a:p>
            <a:r>
              <a:t>Editable native text, panels and lines; independent illustration images. UI presets do not imply completed hardware validation. Full model/backbone list: Supported_Models.md.</a:t>
            </a:r>
          </a:p>
          <a:p>
            <a:r>
              <a:t>Sources:</a:t>
            </a:r>
          </a:p>
          <a:p>
            <a:r>
              <a:t>README.md</a:t>
            </a:r>
          </a:p>
          <a:p>
            <a:r>
              <a:t>docs/ARCHITECTURE.md</a:t>
            </a:r>
          </a:p>
          <a:p>
            <a:r>
              <a:t>docs/FEATURES.md</a:t>
            </a:r>
          </a:p>
          <a:p>
            <a:r>
              <a:t>src/lib/frameworks.ts</a:t>
            </a:r>
          </a:p>
          <a:p>
            <a:r>
              <a:t>src/lib/yaml-merge.ts</a:t>
            </a:r>
          </a:p>
          <a:p>
            <a:r>
              <a:t>src/app/api/training-jobs/route.ts</a:t>
            </a:r>
          </a:p>
          <a:p>
            <a:r>
              <a:t>src/app/api/checkpoints/export/route.ts</a:t>
            </a:r>
          </a:p>
          <a:p>
            <a:r>
              <a:t>src/app/api/deployed-models/route.ts</a:t>
            </a:r>
          </a:p>
          <a:p>
            <a:r>
              <a:t>src/app/api/deployed-models/active/route.ts</a:t>
            </a:r>
          </a:p>
          <a:p>
            <a:r>
              <a:t>src/lib/model-yaml.ts</a:t>
            </a:r>
          </a:p>
          <a:p>
            <a:r>
              <a:t>torchtrain/torchtrain/det/models.py</a:t>
            </a:r>
          </a:p>
          <a:p>
            <a:r>
              <a:t>torchtrain/torchtrain/seg/models.py</a:t>
            </a:r>
          </a:p>
          <a:p>
            <a:r>
              <a:t>docs/tem_report/assets/01_raw.png</a:t>
            </a:r>
          </a:p>
          <a:p>
            <a:r>
              <a:t>docs/tem_report/assets/03_added.png</a:t>
            </a:r>
          </a:p>
          <a:p>
            <a:r>
              <a:t>docs/tem_report/assets/11_napari_ui.png</a:t>
            </a:r>
          </a:p>
          <a:p>
            <a:r>
              <a:t>docs/tem_report/assets/12b_train_job_redacted.png</a:t>
            </a:r>
          </a:p>
          <a:p>
            <a:r>
              <a:t>docs/tem_report/assets/13_train_curve.png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Relationship Id="rId3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B29DD-080A-CE13-DAD6-168F8A2A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AD317206-D91F-1336-CC8E-1F966C0D7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B8055-86D8-8523-039D-70EFE0ED66D1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900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oup 197" descr="preencoded.png">
            <a:extLst>
              <a:ext uri="{FF2B5EF4-FFF2-40B4-BE49-F238E27FC236}">
                <a16:creationId xmlns:a16="http://schemas.microsoft.com/office/drawing/2014/main" id="{4B8A1DC3-C7F2-0815-D274-288BE1E6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1E83117-2520-4E9C-E79D-5E07E8A7A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A8399F9-4C95-FE3A-F317-9812913D2A3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226227E-BAEF-CDE3-90B0-7ECD14B3EF3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8D55F3E-1E80-4BEF-005B-183FC593CC4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1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attern 8" descr="preencoded.png">
            <a:extLst>
              <a:ext uri="{FF2B5EF4-FFF2-40B4-BE49-F238E27FC236}">
                <a16:creationId xmlns:a16="http://schemas.microsoft.com/office/drawing/2014/main" id="{B8E80A6B-5BA5-70C0-B12B-3DC2E63FE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5000C53-B8E4-94E7-8D3D-447AC585A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E901877-029A-B0C5-675B-F28FE38053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816F44E-91FA-4B17-32C7-B4FC86255156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66F2E182-5788-561E-827E-2FE15A4958B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8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8D5C5AA6-FEAB-3DD7-F35A-7501ACB0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1476D00D-D330-F4CE-4B89-C7CC0B6689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6DFFAB2-90C7-B619-D564-62E14EC6B43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7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5448F-7CFF-8266-10E6-61DE5C65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5D79DFEB-C225-1261-AFEB-F7442840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117A0D9-97CF-05FE-83BB-8EC19583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16A89E2-9E9D-DCC1-A6A7-FACB9FB222B6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6E166A4-5F37-185C-6F42-2F705278EF3B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FCA6C-5E91-371E-F6D8-3BC784B4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3667A855-22D6-A798-4ECC-D78A8C05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9E76867D-9CC8-F74B-C61C-695F1E8B7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36699C-5E35-4C3F-E47A-5D4264B268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7A6491E-D2AE-28FB-61D1-982D84867254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24C0605-140B-C7F0-FB36-D99ADFA7A6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76353-BD20-46D2-A72C-5C484B55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9D0E6881-060A-AB9B-5A7C-27172765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07D63953-6E28-D248-EEF7-4EF1AE963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F8251C-6E56-45F3-67C1-19338E46299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DFB88CA-7BDD-C5D2-D0D9-42576E51CD3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081D625-CB24-F79C-BCA5-9D73F71545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9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EDA09F-2CAE-03F5-559E-7163E6F5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DDDDCE1A-2BFE-3539-1DC7-03BCCBE2D6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C13EDCC-C727-934F-B6F6-513EE85A1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8D453EB8-8FBB-E049-F733-858FB7188C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09545377-FB9F-72DD-893C-D3A86AB459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24E7A4-9F06-2FC4-53C2-8FD1F411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0156C217-ED27-1987-3AAF-DCCCED2B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4513BAE6-9B84-829F-360C-ED3D4CF96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BDE3458-FB1F-9B12-CBDE-37288940397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E5EDD19B-0B4C-B918-350E-613B80C3E3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2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DEC582-4D3A-C5C6-7073-835D2B48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 descr="preencoded.png">
            <a:extLst>
              <a:ext uri="{FF2B5EF4-FFF2-40B4-BE49-F238E27FC236}">
                <a16:creationId xmlns:a16="http://schemas.microsoft.com/office/drawing/2014/main" id="{86F016A3-A12E-F2C3-BDDC-2BE61BCEA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295767F6-1E66-CD1E-FF6D-A5AE1840152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07DADA49-B525-57A6-91BE-2DC7CB8B58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239A6917-4E30-B879-02B5-AEEFBA024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0524158-9B67-8AD0-F8E0-97BD2414D34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B934B2-E209-40BE-E632-D5145F1B624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4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82161E95-137C-762B-5401-06854DB2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1340E75-D038-C64C-8C5B-2A1770AF9C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3D5FA6A9-756D-3BA7-7893-77FF13863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83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181FEDD9-F1FD-572D-9F17-F350B3EBD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1F8B124D-8828-84D4-5D9B-69C9442BD2B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1F4AFAF-74BC-A3A1-D4C6-0F585EC0C73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93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8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A439952-8DC5-BBFA-6602-D37B43158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64F8ECB-E27D-88ED-802A-BCAC3DD945D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04194E36-DFE9-A075-0C80-FE6E903F6B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6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C7A54E2-B4D1-D66F-983A-A5ACCE2AD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AE5427FE-97B9-3B82-3231-E3AD69E57C1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CEA0CE0-4606-19F8-44D7-6E7EF0F2BC5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5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C48B190A-417E-2438-D264-54D1C37BE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D8ACB0CC-7B7C-BFE3-8EAC-D50C7EFBBD2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A9AABEF-7A91-F2F3-4E38-0B3FBAB1010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7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FC52305F-34F0-B1D5-DE10-C1B2A0F54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667F37A6-5375-2A26-37E1-EAEA5974FF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9A5B3A55-416D-1AC4-A8FA-C773B6E56CE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36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A5D4B26D-0920-FF79-8759-3773758CF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45511307-062A-DA15-22F5-81926D9D689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31C8ECDB-1801-DB70-024C-9B3DB3C6DFB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0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D947F29C-9419-D3E9-F52A-A6944373A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9DBC16B1-8E89-74E6-8043-3BCCD32C1A3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7504A2D-01C5-8B6B-7D97-9759CF68E0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3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48B9C272-85AD-AA13-4422-5D58F248B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8CD410BF-CD02-A3B0-AFDC-220FCE620A8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4D613A87-A1A1-4610-D3D8-4B4AB12171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3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5F2BAC4-4836-EB1A-0F89-3B87BFEA6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9E014613-0972-8C4A-5199-4213D649F3A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A6BA411F-12FB-B835-9534-36616AB333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0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69D2121-1907-D5ED-EDAE-F264C11E6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3F2FFB2-FD84-32DC-4166-1204CECBF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659C679A-2229-65A8-9311-81AC6CFFD47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3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68D06372-A8B0-AC53-63C4-8062C472F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0600352E-AC97-1129-81E2-C5A35EECECF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DB10F33-31BD-6075-2644-E5685D59531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AD71202-B59D-AA51-CD7D-ADD5754CD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FE1954F3-0FCB-4BCE-075F-59BB5C31FE6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190B417-0548-595A-D7EB-AA1B43685C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98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27E8393-02B2-33C5-5862-BA9303C23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407264D-7C82-B419-56CD-EE44AD0712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D5E89F4-3B4B-17A7-F4EC-81BE741B670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5967BE44-FE85-90B0-6A34-1D9E6274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BBD8A698-2258-3FBA-D593-3DE31FE4283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7BD45D5B-4074-AECC-8CFE-B661E70484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163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634490A-DB97-60E0-D7BD-A2D216CC2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4DEB32EA-A240-BD84-565C-959A51FF14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302E79D-A5FF-8BA0-A938-CD4C1E35D85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76F4FB81-4CBB-EE50-C79B-CD0230F16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2C4627D-9C10-8E70-10AD-C6FBDACBFDF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40EFB13-9E1C-9655-F7AB-65B8E9464BA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69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BDD950E-5DE5-AF2B-CE50-CE05D619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586C435-75F5-B056-DDA7-E2AF0C9279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F5C06A2-9127-6A34-4605-B40F08F8D01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8B23076-99A0-E3EB-80BE-DEF8AD529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A264F1BF-E4DC-CC2D-01EA-E252D106CF6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117BA73-2B38-2A8A-9A80-6ACD02EAB36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42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10B20E29-E654-2063-B781-47BEBC459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5AFF22CB-D0F6-8D78-00FD-5292AFAED65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6F15737-163E-15D8-837B-392A067A91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4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F59CFC3C-A3FC-9613-B4C7-810735CFD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DDE42A7-3D15-660C-027E-176B5AC295B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6DC8EB8D-C8F7-BF6E-07F9-3F408DFDC67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46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EB8D14F-1C68-82BB-AFE1-459987D70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1CC8CA86-10A1-FB0C-34D3-EC8E64201B5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7C0CA1A1-4B4B-0A66-C20D-61A2B71697F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3F81A0F5-A999-DB90-9ED6-A4524D25E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7036F6A1-090D-B176-1E81-46DDE7B297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CB18DD6-4C33-511C-EA0D-DF2F12BF6C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80390260-133C-0681-21B2-D2E9F604A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B85A1E9E-DC90-C129-23AC-746952B230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481374AE-A7AC-BED2-B935-9EABC4ECAB8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64A62BC5-D916-2CDD-687A-02DC9B2C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F7D263AA-DC77-F7BF-5DD2-83F7187007C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84FD16-9925-85BB-D88F-8228B939FD0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80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D3C668C7-7EBC-6523-5D6D-4BFD686EB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2FD642E-7DD5-F984-6F02-FB443B3A298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07C6A82-5EEE-266E-329A-D7B3D2F5FD0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46CDC01-57AD-5990-BF86-B1C67DA20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1F94EE5-4DC6-AD54-3F51-84B2F75652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BC46434-69E9-9B2E-224F-A9E62D3D90D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7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6484-A416-5A9C-C472-D6312022A665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55A276F-F759-FB6A-04DA-F4D16DBB6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9AF21BF5-7529-4276-2DDB-82AF2B03FE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7505C072-7B52-8059-881B-C89763D8F5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1B7FB-4D8B-4E38-6436-CC6A16C22EA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09E1E26-DD20-9126-5608-4FFA1EEC1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BF6F5ED3-3984-89F9-F325-CE4CA2867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CF57352B-3910-B79A-FFD5-4614EAF3E55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76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B9D75063-6B66-B15C-8A29-9A47ADA524CD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D786941-018B-9391-8892-CD974FD2D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61EC6AD2-9A10-1C0F-5F19-A738F89529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FE644321-4AE5-C723-97B6-A9C20DE2A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8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AA05BC39-ED99-10F8-D89A-EC43BF57672E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7F990EF-1726-295A-4A45-52C95A736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83462151-DDD5-3535-E24C-CACE267D6BE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5200B7ED-7C08-4D33-F9FD-CA07D604611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832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2B2C9AD-1215-CCF0-D5EF-06A7280E9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514C3B8C-41AF-112D-D4B1-46CB0C5B209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37B7DF5-7F3F-B32B-EB9D-B2EB7EAA2A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1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D4C6FEE9-13DE-7A58-A374-A3BD460B9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59798D2-7D61-ADA0-D420-E589F19AF9D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22FEDC3-FF1E-53BE-215B-64F160804FC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D0C2D6A-890B-374E-245A-DA8047D3A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67ECD0F-F281-264A-E965-FD4F716BAD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1BF78BF5-76A5-258C-FF14-88CBCE9CC4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A7EC1E02-BFF5-4B62-9631-07264D97E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71666FD-2982-EDA5-3BEC-24FF84383FC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ED9ACDD5-3BCF-461A-5341-D50AFB04D5B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87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0392836A-9AE1-683E-6919-75F33F3D1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643AF61C-BF0A-E731-06B9-FD65332AFF2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WD Confidential">
            <a:extLst>
              <a:ext uri="{FF2B5EF4-FFF2-40B4-BE49-F238E27FC236}">
                <a16:creationId xmlns:a16="http://schemas.microsoft.com/office/drawing/2014/main" id="{9DCBD6C5-2DF6-8B2A-E246-81D035C6EE0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1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5774346-FC6A-0919-B864-437FAC1F9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0B23A49-61D6-BB6C-7A95-63436DEFB87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BE740E97-D0CA-5B0B-9147-1704AFFA5FB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24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89375-8AC3-6EB2-9C73-137DC0CA503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F490A43A-C064-6271-F562-204A7CF3D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3D27A07-6E37-2D4E-F9DA-30403603B6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6335F38C-16ED-D0EE-9A3E-EEF2065015D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960B0CE-69E9-706E-C131-2596DBA61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D98BCAF-7667-31A8-2CA8-FBEC2A4B2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FDB4B0F-D0F6-23BC-F2F1-20DCE6BB6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C194275-5BCF-7837-A131-9EA072C58D8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FD18241-2E7F-5BF1-E5FF-AB71CAF78B2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89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190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12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129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2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9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6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6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09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82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6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70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4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27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3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6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77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9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38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5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27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53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2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9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0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0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57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5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7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7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21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201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57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98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2DD-39EB-6F14-53F0-36CA56E93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C7AE-1CAD-1819-1135-BC8F925C1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1DE84-655A-CC43-8010-AE80D02D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640E-9FFF-4CBB-BB82-6DC04795C58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B6AB-451B-781D-1DDD-6746219F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DA29-AD02-FC6F-23A4-41A81EF4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7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4F0F728-9286-1DF2-1258-099E58F6E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51939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4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547EBF"/>
          </p15:clr>
        </p15:guide>
        <p15:guide id="2" pos="7416">
          <p15:clr>
            <a:srgbClr val="547EBF"/>
          </p15:clr>
        </p15:guide>
        <p15:guide id="3" pos="264">
          <p15:clr>
            <a:srgbClr val="547EBF"/>
          </p15:clr>
        </p15:guide>
        <p15:guide id="4" orient="horz" pos="4056">
          <p15:clr>
            <a:srgbClr val="547EBF"/>
          </p15:clr>
        </p15:guide>
        <p15:guide id="5" pos="1464">
          <p15:clr>
            <a:srgbClr val="5ACBF0"/>
          </p15:clr>
        </p15:guide>
        <p15:guide id="6" pos="864">
          <p15:clr>
            <a:srgbClr val="5ACBF0"/>
          </p15:clr>
        </p15:guide>
        <p15:guide id="7" pos="2064">
          <p15:clr>
            <a:srgbClr val="5ACBF0"/>
          </p15:clr>
        </p15:guide>
        <p15:guide id="8" pos="2016">
          <p15:clr>
            <a:srgbClr val="5ACBF0"/>
          </p15:clr>
        </p15:guide>
        <p15:guide id="9" pos="3864">
          <p15:clr>
            <a:srgbClr val="5ACBF0"/>
          </p15:clr>
        </p15:guide>
        <p15:guide id="10" pos="4464">
          <p15:clr>
            <a:srgbClr val="5ACBF0"/>
          </p15:clr>
        </p15:guide>
        <p15:guide id="11" pos="5064">
          <p15:clr>
            <a:srgbClr val="5ACBF0"/>
          </p15:clr>
        </p15:guide>
        <p15:guide id="12" pos="5664">
          <p15:clr>
            <a:srgbClr val="5ACBF0"/>
          </p15:clr>
        </p15:guide>
        <p15:guide id="13" pos="6264">
          <p15:clr>
            <a:srgbClr val="5ACBF0"/>
          </p15:clr>
        </p15:guide>
        <p15:guide id="14" pos="6216">
          <p15:clr>
            <a:srgbClr val="5ACBF0"/>
          </p15:clr>
        </p15:guide>
        <p15:guide id="15" pos="6864">
          <p15:clr>
            <a:srgbClr val="5ACBF0"/>
          </p15:clr>
        </p15:guide>
        <p15:guide id="17" pos="5616">
          <p15:clr>
            <a:srgbClr val="5ACBF0"/>
          </p15:clr>
        </p15:guide>
        <p15:guide id="18" pos="5016">
          <p15:clr>
            <a:srgbClr val="5ACBF0"/>
          </p15:clr>
        </p15:guide>
        <p15:guide id="19" pos="4416">
          <p15:clr>
            <a:srgbClr val="5ACBF0"/>
          </p15:clr>
        </p15:guide>
        <p15:guide id="20" pos="3816">
          <p15:clr>
            <a:srgbClr val="5ACBF0"/>
          </p15:clr>
        </p15:guide>
        <p15:guide id="21" pos="3216">
          <p15:clr>
            <a:srgbClr val="5ACBF0"/>
          </p15:clr>
        </p15:guide>
        <p15:guide id="22" pos="3264">
          <p15:clr>
            <a:srgbClr val="5ACBF0"/>
          </p15:clr>
        </p15:guide>
        <p15:guide id="23" pos="2616">
          <p15:clr>
            <a:srgbClr val="5ACBF0"/>
          </p15:clr>
        </p15:guide>
        <p15:guide id="24" pos="2664">
          <p15:clr>
            <a:srgbClr val="5ACBF0"/>
          </p15:clr>
        </p15:guide>
        <p15:guide id="25" pos="1416">
          <p15:clr>
            <a:srgbClr val="5ACBF0"/>
          </p15:clr>
        </p15:guide>
        <p15:guide id="26" pos="816">
          <p15:clr>
            <a:srgbClr val="5ACBF0"/>
          </p15:clr>
        </p15:guide>
        <p15:guide id="27" pos="6816">
          <p15:clr>
            <a:srgbClr val="5ACBF0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2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HawkeyePlus Platform Architecture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082D48"/>
                </a:solidFill>
                <a:latin typeface="Arial"/>
                <a:ea typeface="SimHei"/>
              </a:rPr>
              <a:t>HawkeyePlus Platform Architecture</a:t>
            </a:r>
          </a:p>
        </p:txBody>
      </p:sp>
      <p:sp>
        <p:nvSpPr>
          <p:cNvPr id="12" name="Text | Connect industrial images, model training, validation and release in one platform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4C6B83"/>
                </a:solidFill>
                <a:latin typeface="Arial"/>
                <a:ea typeface="SimHei"/>
              </a:rPr>
              <a:t>Connect industrial images, model training, validation and release in one platform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1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01</a:t>
            </a:r>
          </a:p>
        </p:txBody>
      </p:sp>
      <p:grpSp>
        <p:nvGrpSpPr>
          <p:cNvPr id="17" name="Node | Data &amp; Annotations"/>
          <p:cNvGrpSpPr/>
          <p:nvPr/>
        </p:nvGrpSpPr>
        <p:grpSpPr>
          <a:xfrm>
            <a:off x="406400" y="1504950"/>
            <a:ext cx="2997200" cy="2781300"/>
            <a:chOff x="406400" y="1504950"/>
            <a:chExt cx="29972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299720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7785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Data &amp; Annotations"/>
            <p:cNvSpPr txBox="1"/>
            <p:nvPr/>
          </p:nvSpPr>
          <p:spPr>
            <a:xfrm>
              <a:off x="920750" y="1606740"/>
              <a:ext cx="23177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Data &amp; Annotations</a:t>
              </a:r>
            </a:p>
          </p:txBody>
        </p:sp>
        <p:pic>
          <p:nvPicPr>
            <p:cNvPr id="21" name="Picture | Independent image" descr="8579d0deefb513079e6032a0090151449e8830ef3cc775ab46f598f1603659e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56" y="1924050"/>
              <a:ext cx="2718288" cy="1682750"/>
            </a:xfrm>
            <a:prstGeom prst="rect">
              <a:avLst/>
            </a:prstGeom>
          </p:spPr>
        </p:pic>
        <p:sp>
          <p:nvSpPr>
            <p:cNvPr id="22" name="Text | Images + Labels / Masks"/>
            <p:cNvSpPr txBox="1"/>
            <p:nvPr/>
          </p:nvSpPr>
          <p:spPr>
            <a:xfrm>
              <a:off x="571500" y="3540442"/>
              <a:ext cx="266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Images + Labels / Masks</a:t>
              </a:r>
            </a:p>
          </p:txBody>
        </p:sp>
        <p:sp>
          <p:nvSpPr>
            <p:cNvPr id="23" name="Panel | 3"/>
            <p:cNvSpPr/>
            <p:nvPr/>
          </p:nvSpPr>
          <p:spPr>
            <a:xfrm>
              <a:off x="5778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Import"/>
            <p:cNvSpPr txBox="1"/>
            <p:nvPr/>
          </p:nvSpPr>
          <p:spPr>
            <a:xfrm>
              <a:off x="615950" y="3868229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Import</a:t>
              </a:r>
            </a:p>
          </p:txBody>
        </p:sp>
        <p:sp>
          <p:nvSpPr>
            <p:cNvPr id="25" name="Panel | 4"/>
            <p:cNvSpPr/>
            <p:nvPr/>
          </p:nvSpPr>
          <p:spPr>
            <a:xfrm>
              <a:off x="149860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 | Annotate"/>
            <p:cNvSpPr txBox="1"/>
            <p:nvPr/>
          </p:nvSpPr>
          <p:spPr>
            <a:xfrm>
              <a:off x="1536700" y="3868229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Annotate</a:t>
              </a:r>
            </a:p>
          </p:txBody>
        </p:sp>
        <p:sp>
          <p:nvSpPr>
            <p:cNvPr id="27" name="Panel | 5"/>
            <p:cNvSpPr/>
            <p:nvPr/>
          </p:nvSpPr>
          <p:spPr>
            <a:xfrm>
              <a:off x="24193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Preview"/>
            <p:cNvSpPr txBox="1"/>
            <p:nvPr/>
          </p:nvSpPr>
          <p:spPr>
            <a:xfrm>
              <a:off x="2457450" y="3868229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Preview</a:t>
              </a:r>
            </a:p>
          </p:txBody>
        </p:sp>
      </p:grpSp>
      <p:grpSp>
        <p:nvGrpSpPr>
          <p:cNvPr id="29" name="Node | Visual Training Hub"/>
          <p:cNvGrpSpPr/>
          <p:nvPr/>
        </p:nvGrpSpPr>
        <p:grpSpPr>
          <a:xfrm>
            <a:off x="3689350" y="1504950"/>
            <a:ext cx="4552950" cy="2781300"/>
            <a:chOff x="3689350" y="1504950"/>
            <a:chExt cx="4552950" cy="2781300"/>
          </a:xfrm>
        </p:grpSpPr>
        <p:sp>
          <p:nvSpPr>
            <p:cNvPr id="30" name="Panel | 6"/>
            <p:cNvSpPr/>
            <p:nvPr/>
          </p:nvSpPr>
          <p:spPr>
            <a:xfrm>
              <a:off x="3689350" y="1504950"/>
              <a:ext cx="455295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anel | 7"/>
            <p:cNvSpPr/>
            <p:nvPr/>
          </p:nvSpPr>
          <p:spPr>
            <a:xfrm>
              <a:off x="5048250" y="1504950"/>
              <a:ext cx="1828800" cy="19050"/>
            </a:xfrm>
            <a:prstGeom prst="roundRect">
              <a:avLst>
                <a:gd name="adj" fmla="val 33333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Visual Training Hub"/>
            <p:cNvSpPr txBox="1"/>
            <p:nvPr/>
          </p:nvSpPr>
          <p:spPr>
            <a:xfrm>
              <a:off x="3905250" y="1583754"/>
              <a:ext cx="41275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en-US">
                  <a:solidFill>
                    <a:srgbClr val="082D48"/>
                  </a:solidFill>
                  <a:latin typeface="Arial"/>
                  <a:ea typeface="SimHei"/>
                </a:rPr>
                <a:t>Visual Training Hub</a:t>
              </a:r>
            </a:p>
          </p:txBody>
        </p:sp>
        <p:sp>
          <p:nvSpPr>
            <p:cNvPr id="33" name="Panel | 8"/>
            <p:cNvSpPr/>
            <p:nvPr/>
          </p:nvSpPr>
          <p:spPr>
            <a:xfrm>
              <a:off x="39306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Dataset"/>
            <p:cNvSpPr txBox="1"/>
            <p:nvPr/>
          </p:nvSpPr>
          <p:spPr>
            <a:xfrm>
              <a:off x="3968750" y="2034921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082D48"/>
                  </a:solidFill>
                  <a:latin typeface="Arial"/>
                  <a:ea typeface="SimHei"/>
                </a:rPr>
                <a:t>Dataset</a:t>
              </a:r>
            </a:p>
          </p:txBody>
        </p:sp>
        <p:sp>
          <p:nvSpPr>
            <p:cNvPr id="35" name="Panel | 9"/>
            <p:cNvSpPr/>
            <p:nvPr/>
          </p:nvSpPr>
          <p:spPr>
            <a:xfrm>
              <a:off x="532130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 | Model"/>
            <p:cNvSpPr txBox="1"/>
            <p:nvPr/>
          </p:nvSpPr>
          <p:spPr>
            <a:xfrm>
              <a:off x="5359400" y="2034921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082D48"/>
                  </a:solidFill>
                  <a:latin typeface="Arial"/>
                  <a:ea typeface="SimHei"/>
                </a:rPr>
                <a:t>Model</a:t>
              </a:r>
            </a:p>
          </p:txBody>
        </p:sp>
        <p:sp>
          <p:nvSpPr>
            <p:cNvPr id="37" name="Panel | 10"/>
            <p:cNvSpPr/>
            <p:nvPr/>
          </p:nvSpPr>
          <p:spPr>
            <a:xfrm>
              <a:off x="67119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 | Training"/>
            <p:cNvSpPr txBox="1"/>
            <p:nvPr/>
          </p:nvSpPr>
          <p:spPr>
            <a:xfrm>
              <a:off x="6750050" y="2034921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082D48"/>
                  </a:solidFill>
                  <a:latin typeface="Arial"/>
                  <a:ea typeface="SimHei"/>
                </a:rPr>
                <a:t>Training</a:t>
              </a:r>
            </a:p>
          </p:txBody>
        </p:sp>
        <p:sp>
          <p:nvSpPr>
            <p:cNvPr id="39" name="Connector | 5"/>
            <p:cNvSpPr/>
            <p:nvPr/>
          </p:nvSpPr>
          <p:spPr>
            <a:xfrm>
              <a:off x="4572000" y="2298700"/>
              <a:ext cx="2781300" cy="234950"/>
            </a:xfrm>
            <a:custGeom>
              <a:avLst/>
              <a:gdLst/>
              <a:ahLst/>
              <a:cxnLst/>
              <a:rect l="0" t="0" r="r" b="b"/>
              <a:pathLst>
                <a:path w="43800" h="3700" fill="none">
                  <a:moveTo>
                    <a:pt x="0" y="0"/>
                  </a:moveTo>
                  <a:lnTo>
                    <a:pt x="0" y="1800"/>
                  </a:lnTo>
                  <a:lnTo>
                    <a:pt x="43800" y="1800"/>
                  </a:lnTo>
                  <a:lnTo>
                    <a:pt x="43800" y="0"/>
                  </a:lnTo>
                  <a:moveTo>
                    <a:pt x="22000" y="0"/>
                  </a:moveTo>
                  <a:lnTo>
                    <a:pt x="22000" y="3700"/>
                  </a:lnTo>
                </a:path>
              </a:pathLst>
            </a:custGeom>
            <a:noFill/>
            <a:ln w="11430" cap="rnd">
              <a:solidFill>
                <a:srgbClr val="007D9D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| Independent image" descr="0e1cacdd2dd64d49c68307ca39c10d929dcfdd478b4480a29a0805d6b17ec43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5732" y="2400300"/>
              <a:ext cx="3306536" cy="1543050"/>
            </a:xfrm>
            <a:prstGeom prst="rect">
              <a:avLst/>
            </a:prstGeom>
          </p:spPr>
        </p:pic>
        <p:sp>
          <p:nvSpPr>
            <p:cNvPr id="41" name="Panel | 11"/>
            <p:cNvSpPr/>
            <p:nvPr/>
          </p:nvSpPr>
          <p:spPr>
            <a:xfrm>
              <a:off x="3873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 | Job Setup"/>
            <p:cNvSpPr txBox="1"/>
            <p:nvPr/>
          </p:nvSpPr>
          <p:spPr>
            <a:xfrm>
              <a:off x="3911600" y="3969829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Job Setup</a:t>
              </a:r>
            </a:p>
          </p:txBody>
        </p:sp>
        <p:sp>
          <p:nvSpPr>
            <p:cNvPr id="43" name="Panel | 12"/>
            <p:cNvSpPr/>
            <p:nvPr/>
          </p:nvSpPr>
          <p:spPr>
            <a:xfrm>
              <a:off x="53340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 | GPU Selection"/>
            <p:cNvSpPr txBox="1"/>
            <p:nvPr/>
          </p:nvSpPr>
          <p:spPr>
            <a:xfrm>
              <a:off x="5372100" y="3969829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GPU Selection</a:t>
              </a:r>
            </a:p>
          </p:txBody>
        </p:sp>
        <p:sp>
          <p:nvSpPr>
            <p:cNvPr id="45" name="Panel | 13"/>
            <p:cNvSpPr/>
            <p:nvPr/>
          </p:nvSpPr>
          <p:spPr>
            <a:xfrm>
              <a:off x="6794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Training Monitor"/>
            <p:cNvSpPr txBox="1"/>
            <p:nvPr/>
          </p:nvSpPr>
          <p:spPr>
            <a:xfrm>
              <a:off x="6832600" y="3970782"/>
              <a:ext cx="1193800" cy="22915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2" b="1" lang="en-US">
                  <a:solidFill>
                    <a:srgbClr val="007D9D"/>
                  </a:solidFill>
                  <a:latin typeface="Arial"/>
                  <a:ea typeface="SimHei"/>
                </a:rPr>
                <a:t>Training Monitor</a:t>
              </a:r>
            </a:p>
          </p:txBody>
        </p:sp>
      </p:grpSp>
      <p:grpSp>
        <p:nvGrpSpPr>
          <p:cNvPr id="47" name="Node | Validation &amp; Delivery"/>
          <p:cNvGrpSpPr/>
          <p:nvPr/>
        </p:nvGrpSpPr>
        <p:grpSpPr>
          <a:xfrm>
            <a:off x="8528050" y="1504950"/>
            <a:ext cx="3257550" cy="2781300"/>
            <a:chOff x="8528050" y="1504950"/>
            <a:chExt cx="3257550" cy="2781300"/>
          </a:xfrm>
        </p:grpSpPr>
        <p:sp>
          <p:nvSpPr>
            <p:cNvPr id="48" name="Panel | 14"/>
            <p:cNvSpPr/>
            <p:nvPr/>
          </p:nvSpPr>
          <p:spPr>
            <a:xfrm>
              <a:off x="8528050" y="1504950"/>
              <a:ext cx="325755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 | 02"/>
            <p:cNvSpPr txBox="1"/>
            <p:nvPr/>
          </p:nvSpPr>
          <p:spPr>
            <a:xfrm>
              <a:off x="869950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50" name="Text | Validation &amp; Delivery"/>
            <p:cNvSpPr txBox="1"/>
            <p:nvPr/>
          </p:nvSpPr>
          <p:spPr>
            <a:xfrm>
              <a:off x="9042400" y="1606740"/>
              <a:ext cx="25400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Validation &amp; Delivery</a:t>
              </a:r>
            </a:p>
          </p:txBody>
        </p:sp>
        <p:pic>
          <p:nvPicPr>
            <p:cNvPr id="51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4389" y="1955800"/>
              <a:ext cx="755073" cy="692150"/>
            </a:xfrm>
            <a:prstGeom prst="rect">
              <a:avLst/>
            </a:prstGeom>
          </p:spPr>
        </p:pic>
        <p:sp>
          <p:nvSpPr>
            <p:cNvPr id="52" name="Text | Evaluate &amp; Infer"/>
            <p:cNvSpPr txBox="1"/>
            <p:nvPr/>
          </p:nvSpPr>
          <p:spPr>
            <a:xfrm>
              <a:off x="9512300" y="2043049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082D48"/>
                  </a:solidFill>
                  <a:latin typeface="Arial"/>
                  <a:ea typeface="SimHei"/>
                </a:rPr>
                <a:t>Evaluate &amp; Infer</a:t>
              </a:r>
            </a:p>
          </p:txBody>
        </p:sp>
        <p:sp>
          <p:nvSpPr>
            <p:cNvPr id="53" name="Text | Metrics · Prediction preview"/>
            <p:cNvSpPr txBox="1"/>
            <p:nvPr/>
          </p:nvSpPr>
          <p:spPr>
            <a:xfrm>
              <a:off x="9512300" y="232518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4C6B83"/>
                  </a:solidFill>
                  <a:latin typeface="Arial"/>
                  <a:ea typeface="SimHei"/>
                </a:rPr>
                <a:t>Metrics · Prediction preview</a:t>
              </a:r>
            </a:p>
          </p:txBody>
        </p:sp>
        <p:cxnSp>
          <p:nvCxnSpPr>
            <p:cNvPr id="54" name="Connector | 6"/>
            <p:cNvCxnSpPr/>
            <p:nvPr/>
          </p:nvCxnSpPr>
          <p:spPr>
            <a:xfrm>
              <a:off x="9512300" y="2590800"/>
              <a:ext cx="20891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4389" y="2673350"/>
              <a:ext cx="755073" cy="692150"/>
            </a:xfrm>
            <a:prstGeom prst="rect">
              <a:avLst/>
            </a:prstGeom>
          </p:spPr>
        </p:pic>
        <p:sp>
          <p:nvSpPr>
            <p:cNvPr id="56" name="Text | Model Export"/>
            <p:cNvSpPr txBox="1"/>
            <p:nvPr/>
          </p:nvSpPr>
          <p:spPr>
            <a:xfrm>
              <a:off x="9512300" y="2760599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082D48"/>
                  </a:solidFill>
                  <a:latin typeface="Arial"/>
                  <a:ea typeface="SimHei"/>
                </a:rPr>
                <a:t>Model Export</a:t>
              </a:r>
            </a:p>
          </p:txBody>
        </p:sp>
        <p:sp>
          <p:nvSpPr>
            <p:cNvPr id="57" name="Text | Convert · Package · Download"/>
            <p:cNvSpPr txBox="1"/>
            <p:nvPr/>
          </p:nvSpPr>
          <p:spPr>
            <a:xfrm>
              <a:off x="9512300" y="304273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4C6B83"/>
                  </a:solidFill>
                  <a:latin typeface="Arial"/>
                  <a:ea typeface="SimHei"/>
                </a:rPr>
                <a:t>Convert · Package · Download</a:t>
              </a:r>
            </a:p>
          </p:txBody>
        </p:sp>
        <p:cxnSp>
          <p:nvCxnSpPr>
            <p:cNvPr id="58" name="Connector | 7"/>
            <p:cNvCxnSpPr/>
            <p:nvPr/>
          </p:nvCxnSpPr>
          <p:spPr>
            <a:xfrm>
              <a:off x="9512300" y="3308350"/>
              <a:ext cx="20891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74389" y="3390900"/>
              <a:ext cx="755073" cy="692150"/>
            </a:xfrm>
            <a:prstGeom prst="rect">
              <a:avLst/>
            </a:prstGeom>
          </p:spPr>
        </p:pic>
        <p:sp>
          <p:nvSpPr>
            <p:cNvPr id="60" name="Text | Model Registry"/>
            <p:cNvSpPr txBox="1"/>
            <p:nvPr/>
          </p:nvSpPr>
          <p:spPr>
            <a:xfrm>
              <a:off x="9512300" y="3478149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082D48"/>
                  </a:solidFill>
                  <a:latin typeface="Arial"/>
                  <a:ea typeface="SimHei"/>
                </a:rPr>
                <a:t>Model Registry</a:t>
              </a:r>
            </a:p>
          </p:txBody>
        </p:sp>
        <p:sp>
          <p:nvSpPr>
            <p:cNvPr id="61" name="Text | Product versions · Activation"/>
            <p:cNvSpPr txBox="1"/>
            <p:nvPr/>
          </p:nvSpPr>
          <p:spPr>
            <a:xfrm>
              <a:off x="9512300" y="3760279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4C6B83"/>
                  </a:solidFill>
                  <a:latin typeface="Arial"/>
                  <a:ea typeface="SimHei"/>
                </a:rPr>
                <a:t>Product versions · Activation</a:t>
              </a:r>
            </a:p>
          </p:txBody>
        </p:sp>
      </p:grpSp>
      <p:cxnSp>
        <p:nvCxnSpPr>
          <p:cNvPr id="62" name="Connector | 8"/>
          <p:cNvCxnSpPr/>
          <p:nvPr/>
        </p:nvCxnSpPr>
        <p:spPr>
          <a:xfrm>
            <a:off x="3435350" y="2844800"/>
            <a:ext cx="2032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| 9"/>
          <p:cNvCxnSpPr/>
          <p:nvPr/>
        </p:nvCxnSpPr>
        <p:spPr>
          <a:xfrm>
            <a:off x="8293100" y="2844800"/>
            <a:ext cx="1905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| 10"/>
          <p:cNvCxnSpPr/>
          <p:nvPr/>
        </p:nvCxnSpPr>
        <p:spPr>
          <a:xfrm>
            <a:off x="5969000" y="4298950"/>
            <a:ext cx="0" cy="15875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Node | Multi-framework Training"/>
          <p:cNvGrpSpPr/>
          <p:nvPr/>
        </p:nvGrpSpPr>
        <p:grpSpPr>
          <a:xfrm>
            <a:off x="406400" y="4508500"/>
            <a:ext cx="6781800" cy="342202"/>
            <a:chOff x="406400" y="4508500"/>
            <a:chExt cx="6781800" cy="342202"/>
          </a:xfrm>
        </p:grpSpPr>
        <p:sp>
          <p:nvSpPr>
            <p:cNvPr id="66" name="Panel | 15"/>
            <p:cNvSpPr/>
            <p:nvPr/>
          </p:nvSpPr>
          <p:spPr>
            <a:xfrm>
              <a:off x="406400" y="4508500"/>
              <a:ext cx="6781800" cy="323850"/>
            </a:xfrm>
            <a:prstGeom prst="roundRect">
              <a:avLst>
                <a:gd name="adj" fmla="val 2352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 | Multi-framework Training"/>
            <p:cNvSpPr txBox="1"/>
            <p:nvPr/>
          </p:nvSpPr>
          <p:spPr>
            <a:xfrm>
              <a:off x="577850" y="4569778"/>
              <a:ext cx="5715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07D9D"/>
                  </a:solidFill>
                  <a:latin typeface="Arial"/>
                  <a:ea typeface="SimHei"/>
                </a:rPr>
                <a:t>Multi-framework Training</a:t>
              </a:r>
            </a:p>
          </p:txBody>
        </p:sp>
      </p:grpSp>
      <p:grpSp>
        <p:nvGrpSpPr>
          <p:cNvPr id="68" name="Node | Compute &amp; Asset Foundation"/>
          <p:cNvGrpSpPr/>
          <p:nvPr/>
        </p:nvGrpSpPr>
        <p:grpSpPr>
          <a:xfrm>
            <a:off x="7366000" y="4508500"/>
            <a:ext cx="4419600" cy="342202"/>
            <a:chOff x="7366000" y="4508500"/>
            <a:chExt cx="4419600" cy="342202"/>
          </a:xfrm>
        </p:grpSpPr>
        <p:sp>
          <p:nvSpPr>
            <p:cNvPr id="69" name="Panel | 16"/>
            <p:cNvSpPr/>
            <p:nvPr/>
          </p:nvSpPr>
          <p:spPr>
            <a:xfrm>
              <a:off x="7366000" y="4508500"/>
              <a:ext cx="4419600" cy="323850"/>
            </a:xfrm>
            <a:prstGeom prst="roundRect">
              <a:avLst>
                <a:gd name="adj" fmla="val 2352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 | Compute &amp; Asset Foundation"/>
            <p:cNvSpPr txBox="1"/>
            <p:nvPr/>
          </p:nvSpPr>
          <p:spPr>
            <a:xfrm>
              <a:off x="7537450" y="4569778"/>
              <a:ext cx="3937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07D9D"/>
                  </a:solidFill>
                  <a:latin typeface="Arial"/>
                  <a:ea typeface="SimHei"/>
                </a:rPr>
                <a:t>Compute &amp; Asset Foundation</a:t>
              </a:r>
            </a:p>
          </p:txBody>
        </p:sp>
      </p:grpSp>
      <p:grpSp>
        <p:nvGrpSpPr>
          <p:cNvPr id="71" name="Node | PaddlePaddle"/>
          <p:cNvGrpSpPr/>
          <p:nvPr/>
        </p:nvGrpSpPr>
        <p:grpSpPr>
          <a:xfrm>
            <a:off x="457200" y="4961202"/>
            <a:ext cx="2216150" cy="878946"/>
            <a:chOff x="457200" y="4961202"/>
            <a:chExt cx="2216150" cy="878946"/>
          </a:xfrm>
        </p:grpSpPr>
        <p:pic>
          <p:nvPicPr>
            <p:cNvPr id="72" name="Picture | Independent image" descr="10f25e817439b63bbb2888f8667673b9137f3e1d356d9294429af5d5fbbc5a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7200" y="4961202"/>
              <a:ext cx="958850" cy="878946"/>
            </a:xfrm>
            <a:prstGeom prst="rect">
              <a:avLst/>
            </a:prstGeom>
          </p:spPr>
        </p:pic>
        <p:sp>
          <p:nvSpPr>
            <p:cNvPr id="73" name="Text | PaddlePaddle"/>
            <p:cNvSpPr txBox="1"/>
            <p:nvPr/>
          </p:nvSpPr>
          <p:spPr>
            <a:xfrm>
              <a:off x="14541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PaddlePaddle</a:t>
              </a:r>
            </a:p>
          </p:txBody>
        </p:sp>
        <p:sp>
          <p:nvSpPr>
            <p:cNvPr id="74" name="Text | Detect · Classify · Segment"/>
            <p:cNvSpPr txBox="1"/>
            <p:nvPr/>
          </p:nvSpPr>
          <p:spPr>
            <a:xfrm>
              <a:off x="1454150" y="5443601"/>
              <a:ext cx="1219200" cy="15220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9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8" b="0" lang="en-US">
                  <a:solidFill>
                    <a:srgbClr val="4C6B83"/>
                  </a:solidFill>
                  <a:latin typeface="Arial"/>
                  <a:ea typeface="SimHei"/>
                </a:rPr>
                <a:t>Detect · Classify · Segment</a:t>
              </a:r>
            </a:p>
          </p:txBody>
        </p:sp>
      </p:grpSp>
      <p:grpSp>
        <p:nvGrpSpPr>
          <p:cNvPr id="75" name="Node | PyTorch"/>
          <p:cNvGrpSpPr/>
          <p:nvPr/>
        </p:nvGrpSpPr>
        <p:grpSpPr>
          <a:xfrm>
            <a:off x="2717800" y="4961202"/>
            <a:ext cx="2216150" cy="878946"/>
            <a:chOff x="2717800" y="4961202"/>
            <a:chExt cx="2216150" cy="878946"/>
          </a:xfrm>
        </p:grpSpPr>
        <p:pic>
          <p:nvPicPr>
            <p:cNvPr id="76" name="Picture | Independent image" descr="b7cda7eda4823c4e073e91afa226f093818297236f9f4082c33c14ca94c0cbd4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17800" y="4961202"/>
              <a:ext cx="958850" cy="878946"/>
            </a:xfrm>
            <a:prstGeom prst="rect">
              <a:avLst/>
            </a:prstGeom>
          </p:spPr>
        </p:pic>
        <p:sp>
          <p:nvSpPr>
            <p:cNvPr id="77" name="Text | PyTorch"/>
            <p:cNvSpPr txBox="1"/>
            <p:nvPr/>
          </p:nvSpPr>
          <p:spPr>
            <a:xfrm>
              <a:off x="37147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PyTorch</a:t>
              </a:r>
            </a:p>
          </p:txBody>
        </p:sp>
        <p:sp>
          <p:nvSpPr>
            <p:cNvPr id="78" name="Text | Detect · Segment"/>
            <p:cNvSpPr txBox="1"/>
            <p:nvPr/>
          </p:nvSpPr>
          <p:spPr>
            <a:xfrm>
              <a:off x="3714750" y="5404358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4C6B83"/>
                  </a:solidFill>
                  <a:latin typeface="Arial"/>
                  <a:ea typeface="SimHei"/>
                </a:rPr>
                <a:t>Detect · Segment</a:t>
              </a:r>
            </a:p>
          </p:txBody>
        </p:sp>
      </p:grpSp>
      <p:grpSp>
        <p:nvGrpSpPr>
          <p:cNvPr id="79" name="Node | anomalib"/>
          <p:cNvGrpSpPr/>
          <p:nvPr/>
        </p:nvGrpSpPr>
        <p:grpSpPr>
          <a:xfrm>
            <a:off x="4978400" y="4961202"/>
            <a:ext cx="2216150" cy="878946"/>
            <a:chOff x="4978400" y="4961202"/>
            <a:chExt cx="2216150" cy="878946"/>
          </a:xfrm>
        </p:grpSpPr>
        <p:pic>
          <p:nvPicPr>
            <p:cNvPr id="80" name="Picture | Independent image" descr="14cf058bf4c31d285d2775644809936f5b5199b273ff11a60778980103dad71b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8400" y="4961202"/>
              <a:ext cx="958850" cy="878946"/>
            </a:xfrm>
            <a:prstGeom prst="rect">
              <a:avLst/>
            </a:prstGeom>
          </p:spPr>
        </p:pic>
        <p:sp>
          <p:nvSpPr>
            <p:cNvPr id="81" name="Text | anomalib"/>
            <p:cNvSpPr txBox="1"/>
            <p:nvPr/>
          </p:nvSpPr>
          <p:spPr>
            <a:xfrm>
              <a:off x="59753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anomalib</a:t>
              </a:r>
            </a:p>
          </p:txBody>
        </p:sp>
        <p:sp>
          <p:nvSpPr>
            <p:cNvPr id="82" name="Text | Anomaly Detection"/>
            <p:cNvSpPr txBox="1"/>
            <p:nvPr/>
          </p:nvSpPr>
          <p:spPr>
            <a:xfrm>
              <a:off x="5975350" y="5404612"/>
              <a:ext cx="1219200" cy="2202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4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97" b="0" lang="en-US">
                  <a:solidFill>
                    <a:srgbClr val="4C6B83"/>
                  </a:solidFill>
                  <a:latin typeface="Arial"/>
                  <a:ea typeface="SimHei"/>
                </a:rPr>
                <a:t>Anomaly Detection</a:t>
              </a:r>
            </a:p>
          </p:txBody>
        </p:sp>
      </p:grpSp>
      <p:grpSp>
        <p:nvGrpSpPr>
          <p:cNvPr id="83" name="Node | Compute"/>
          <p:cNvGrpSpPr/>
          <p:nvPr/>
        </p:nvGrpSpPr>
        <p:grpSpPr>
          <a:xfrm>
            <a:off x="7391400" y="4981310"/>
            <a:ext cx="2127250" cy="832379"/>
            <a:chOff x="7391400" y="4981310"/>
            <a:chExt cx="2127250" cy="832379"/>
          </a:xfrm>
        </p:grpSpPr>
        <p:pic>
          <p:nvPicPr>
            <p:cNvPr id="84" name="Picture | Independent image" descr="d9f05c59afa7b59b616d3bd2d29ea49b60eccaedfc61de0fa0c9a96bdf5effd3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91400" y="4981310"/>
              <a:ext cx="908050" cy="832379"/>
            </a:xfrm>
            <a:prstGeom prst="rect">
              <a:avLst/>
            </a:prstGeom>
          </p:spPr>
        </p:pic>
        <p:sp>
          <p:nvSpPr>
            <p:cNvPr id="85" name="Text | Compute"/>
            <p:cNvSpPr txBox="1"/>
            <p:nvPr/>
          </p:nvSpPr>
          <p:spPr>
            <a:xfrm>
              <a:off x="8324850" y="5108892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Compute</a:t>
              </a:r>
            </a:p>
          </p:txBody>
        </p:sp>
        <p:sp>
          <p:nvSpPr>
            <p:cNvPr id="86" name="Text | GPU / Python"/>
            <p:cNvSpPr txBox="1"/>
            <p:nvPr/>
          </p:nvSpPr>
          <p:spPr>
            <a:xfrm>
              <a:off x="8324850" y="5404358"/>
              <a:ext cx="11938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4C6B83"/>
                  </a:solidFill>
                  <a:latin typeface="Arial"/>
                  <a:ea typeface="SimHei"/>
                </a:rPr>
                <a:t>GPU / Python</a:t>
              </a:r>
            </a:p>
          </p:txBody>
        </p:sp>
      </p:grpSp>
      <p:grpSp>
        <p:nvGrpSpPr>
          <p:cNvPr id="87" name="Node | Data &amp; Assets"/>
          <p:cNvGrpSpPr/>
          <p:nvPr/>
        </p:nvGrpSpPr>
        <p:grpSpPr>
          <a:xfrm>
            <a:off x="9601200" y="4981310"/>
            <a:ext cx="2127250" cy="832379"/>
            <a:chOff x="9601200" y="4981310"/>
            <a:chExt cx="2127250" cy="832379"/>
          </a:xfrm>
        </p:grpSpPr>
        <p:pic>
          <p:nvPicPr>
            <p:cNvPr id="88" name="Picture | Independent image" descr="80af7916d020880727b6fe31c7b6d71c2dbdca5115e09bbec06f0a8a67ab7d68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01200" y="4981310"/>
              <a:ext cx="908050" cy="832379"/>
            </a:xfrm>
            <a:prstGeom prst="rect">
              <a:avLst/>
            </a:prstGeom>
          </p:spPr>
        </p:pic>
        <p:sp>
          <p:nvSpPr>
            <p:cNvPr id="89" name="Text | Data &amp; Assets"/>
            <p:cNvSpPr txBox="1"/>
            <p:nvPr/>
          </p:nvSpPr>
          <p:spPr>
            <a:xfrm>
              <a:off x="10534650" y="5109782"/>
              <a:ext cx="1193800" cy="26938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5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2" b="1" lang="en-US">
                  <a:solidFill>
                    <a:srgbClr val="082D48"/>
                  </a:solidFill>
                  <a:latin typeface="Arial"/>
                  <a:ea typeface="SimHei"/>
                </a:rPr>
                <a:t>Data &amp; Assets</a:t>
              </a:r>
            </a:p>
          </p:txBody>
        </p:sp>
        <p:sp>
          <p:nvSpPr>
            <p:cNvPr id="90" name="Text | Images · Weights · Logs"/>
            <p:cNvSpPr txBox="1"/>
            <p:nvPr/>
          </p:nvSpPr>
          <p:spPr>
            <a:xfrm>
              <a:off x="10534650" y="5434838"/>
              <a:ext cx="1193800" cy="16755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02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5" b="0" lang="en-US">
                  <a:solidFill>
                    <a:srgbClr val="4C6B83"/>
                  </a:solidFill>
                  <a:latin typeface="Arial"/>
                  <a:ea typeface="SimHei"/>
                </a:rPr>
                <a:t>Images · Weights · Logs</a:t>
              </a:r>
            </a:p>
          </p:txBody>
        </p:sp>
      </p:grpSp>
      <p:grpSp>
        <p:nvGrpSpPr>
          <p:cNvPr id="91" name="Node | Platform Management"/>
          <p:cNvGrpSpPr/>
          <p:nvPr/>
        </p:nvGrpSpPr>
        <p:grpSpPr>
          <a:xfrm>
            <a:off x="406400" y="6045200"/>
            <a:ext cx="11379200" cy="349250"/>
            <a:chOff x="406400" y="6045200"/>
            <a:chExt cx="11379200" cy="349250"/>
          </a:xfrm>
        </p:grpSpPr>
        <p:sp>
          <p:nvSpPr>
            <p:cNvPr id="92" name="Panel | 17"/>
            <p:cNvSpPr/>
            <p:nvPr/>
          </p:nvSpPr>
          <p:spPr>
            <a:xfrm>
              <a:off x="406400" y="6045200"/>
              <a:ext cx="11379200" cy="349250"/>
            </a:xfrm>
            <a:prstGeom prst="roundRect">
              <a:avLst>
                <a:gd name="adj" fmla="val 2181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ircle | 4"/>
            <p:cNvSpPr/>
            <p:nvPr/>
          </p:nvSpPr>
          <p:spPr>
            <a:xfrm>
              <a:off x="552450" y="619125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 | Management"/>
            <p:cNvSpPr txBox="1"/>
            <p:nvPr/>
          </p:nvSpPr>
          <p:spPr>
            <a:xfrm>
              <a:off x="717550" y="6148514"/>
              <a:ext cx="12700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87F79"/>
                  </a:solidFill>
                  <a:latin typeface="Arial"/>
                  <a:ea typeface="SimHei"/>
                </a:rPr>
                <a:t>Management</a:t>
              </a:r>
            </a:p>
          </p:txBody>
        </p:sp>
        <p:sp>
          <p:nvSpPr>
            <p:cNvPr id="95" name="Text | Project ownership   ·   User roles   ·   Environment checks   ·   GPU status   ·   Storage quotas   ·   Activity logs"/>
            <p:cNvSpPr txBox="1"/>
            <p:nvPr/>
          </p:nvSpPr>
          <p:spPr>
            <a:xfrm>
              <a:off x="1898650" y="6154230"/>
              <a:ext cx="95885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4C6B83"/>
                  </a:solidFill>
                  <a:latin typeface="Arial"/>
                  <a:ea typeface="SimHei"/>
                </a:rPr>
                <a:t>Project ownership   ·   User roles   ·   Environment checks   ·   GPU status   ·   Storage quotas   ·   Activity logs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A Visual Lifecycle: From Data to Models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082D48"/>
                </a:solidFill>
                <a:latin typeface="Arial"/>
                <a:ea typeface="SimHei"/>
              </a:rPr>
              <a:t>A Visual Lifecycle: From Data to Models</a:t>
            </a:r>
          </a:p>
        </p:txBody>
      </p:sp>
      <p:sp>
        <p:nvSpPr>
          <p:cNvPr id="12" name="Text | Bring preparation, training and validation into a shared model-development workflow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4C6B83"/>
                </a:solidFill>
                <a:latin typeface="Arial"/>
                <a:ea typeface="SimHei"/>
              </a:rPr>
              <a:t>Bring preparation, training and validation into a shared model-development workflow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2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02</a:t>
            </a:r>
          </a:p>
        </p:txBody>
      </p:sp>
      <p:grpSp>
        <p:nvGrpSpPr>
          <p:cNvPr id="17" name="Node | Prepare Data"/>
          <p:cNvGrpSpPr/>
          <p:nvPr/>
        </p:nvGrpSpPr>
        <p:grpSpPr>
          <a:xfrm>
            <a:off x="406400" y="1543050"/>
            <a:ext cx="2133600" cy="2781300"/>
            <a:chOff x="406400" y="1543050"/>
            <a:chExt cx="21336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651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Prepare Data"/>
            <p:cNvSpPr txBox="1"/>
            <p:nvPr/>
          </p:nvSpPr>
          <p:spPr>
            <a:xfrm>
              <a:off x="927100" y="1638490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Prepare Data</a:t>
              </a:r>
            </a:p>
          </p:txBody>
        </p:sp>
        <p:pic>
          <p:nvPicPr>
            <p:cNvPr id="21" name="Picture | Independent image" descr="8f47fa394a6b9f34faa9cab5dd29fefa11f025f02bf330ae6a05abf32f9a8e9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8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22" name="Connector | 5"/>
            <p:cNvCxnSpPr/>
            <p:nvPr/>
          </p:nvCxnSpPr>
          <p:spPr>
            <a:xfrm>
              <a:off x="5651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Import images &amp; labels"/>
            <p:cNvSpPr txBox="1"/>
            <p:nvPr/>
          </p:nvSpPr>
          <p:spPr>
            <a:xfrm>
              <a:off x="476250" y="3722814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082D48"/>
                  </a:solidFill>
                  <a:latin typeface="Arial"/>
                  <a:ea typeface="SimHei"/>
                </a:rPr>
                <a:t>Import images &amp; labels</a:t>
              </a:r>
            </a:p>
          </p:txBody>
        </p:sp>
        <p:sp>
          <p:nvSpPr>
            <p:cNvPr id="24" name="Text | Convert formats · Review samples"/>
            <p:cNvSpPr txBox="1"/>
            <p:nvPr/>
          </p:nvSpPr>
          <p:spPr>
            <a:xfrm>
              <a:off x="476250" y="3988752"/>
              <a:ext cx="1993900" cy="19775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5" b="0" lang="en-US">
                  <a:solidFill>
                    <a:srgbClr val="4C6B83"/>
                  </a:solidFill>
                  <a:latin typeface="Arial"/>
                  <a:ea typeface="SimHei"/>
                </a:rPr>
                <a:t>Convert formats · Review samples</a:t>
              </a:r>
            </a:p>
          </p:txBody>
        </p:sp>
      </p:grpSp>
      <p:cxnSp>
        <p:nvCxnSpPr>
          <p:cNvPr id="25" name="Connector | 6"/>
          <p:cNvCxnSpPr/>
          <p:nvPr/>
        </p:nvCxnSpPr>
        <p:spPr>
          <a:xfrm>
            <a:off x="25717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Node | Configure"/>
          <p:cNvGrpSpPr/>
          <p:nvPr/>
        </p:nvGrpSpPr>
        <p:grpSpPr>
          <a:xfrm>
            <a:off x="2717800" y="1543050"/>
            <a:ext cx="2133600" cy="2781300"/>
            <a:chOff x="2717800" y="1543050"/>
            <a:chExt cx="2133600" cy="2781300"/>
          </a:xfrm>
        </p:grpSpPr>
        <p:sp>
          <p:nvSpPr>
            <p:cNvPr id="27" name="Panel | 3"/>
            <p:cNvSpPr/>
            <p:nvPr/>
          </p:nvSpPr>
          <p:spPr>
            <a:xfrm>
              <a:off x="27178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02"/>
            <p:cNvSpPr txBox="1"/>
            <p:nvPr/>
          </p:nvSpPr>
          <p:spPr>
            <a:xfrm>
              <a:off x="28765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9" name="Text | Configure"/>
            <p:cNvSpPr txBox="1"/>
            <p:nvPr/>
          </p:nvSpPr>
          <p:spPr>
            <a:xfrm>
              <a:off x="3238500" y="1638490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Configure</a:t>
              </a:r>
            </a:p>
          </p:txBody>
        </p:sp>
        <p:pic>
          <p:nvPicPr>
            <p:cNvPr id="30" name="Picture | Independent image" descr="2ee78d4bd8cc4cc462affc22d7629177eb607dcfce7e5fb3670d2a1b2b9cffb8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02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31" name="Connector | 7"/>
            <p:cNvCxnSpPr/>
            <p:nvPr/>
          </p:nvCxnSpPr>
          <p:spPr>
            <a:xfrm>
              <a:off x="28765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| Dataset + Model + Parameters"/>
            <p:cNvSpPr txBox="1"/>
            <p:nvPr/>
          </p:nvSpPr>
          <p:spPr>
            <a:xfrm>
              <a:off x="2787650" y="3733355"/>
              <a:ext cx="1993900" cy="22243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3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8" b="0" lang="en-US">
                  <a:solidFill>
                    <a:srgbClr val="082D48"/>
                  </a:solidFill>
                  <a:latin typeface="Arial"/>
                  <a:ea typeface="SimHei"/>
                </a:rPr>
                <a:t>Dataset + Model + Parameters</a:t>
              </a:r>
            </a:p>
          </p:txBody>
        </p:sp>
        <p:sp>
          <p:nvSpPr>
            <p:cNvPr id="33" name="Text | Reusable templates · Visual setup"/>
            <p:cNvSpPr txBox="1"/>
            <p:nvPr/>
          </p:nvSpPr>
          <p:spPr>
            <a:xfrm>
              <a:off x="2787650" y="3987800"/>
              <a:ext cx="1993900" cy="1994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4" b="0" lang="en-US">
                  <a:solidFill>
                    <a:srgbClr val="4C6B83"/>
                  </a:solidFill>
                  <a:latin typeface="Arial"/>
                  <a:ea typeface="SimHei"/>
                </a:rPr>
                <a:t>Reusable templates · Visual setup</a:t>
              </a:r>
            </a:p>
          </p:txBody>
        </p:sp>
      </p:grpSp>
      <p:cxnSp>
        <p:nvCxnSpPr>
          <p:cNvPr id="34" name="Connector | 8"/>
          <p:cNvCxnSpPr/>
          <p:nvPr/>
        </p:nvCxnSpPr>
        <p:spPr>
          <a:xfrm>
            <a:off x="48831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Node | Training Monitor"/>
          <p:cNvGrpSpPr/>
          <p:nvPr/>
        </p:nvGrpSpPr>
        <p:grpSpPr>
          <a:xfrm>
            <a:off x="5029200" y="1543050"/>
            <a:ext cx="2133600" cy="2781300"/>
            <a:chOff x="5029200" y="1543050"/>
            <a:chExt cx="2133600" cy="2781300"/>
          </a:xfrm>
        </p:grpSpPr>
        <p:sp>
          <p:nvSpPr>
            <p:cNvPr id="36" name="Panel | 4"/>
            <p:cNvSpPr/>
            <p:nvPr/>
          </p:nvSpPr>
          <p:spPr>
            <a:xfrm>
              <a:off x="50292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 | 03"/>
            <p:cNvSpPr txBox="1"/>
            <p:nvPr/>
          </p:nvSpPr>
          <p:spPr>
            <a:xfrm>
              <a:off x="51879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8" name="Text | Training Monitor"/>
            <p:cNvSpPr txBox="1"/>
            <p:nvPr/>
          </p:nvSpPr>
          <p:spPr>
            <a:xfrm>
              <a:off x="5549900" y="1663129"/>
              <a:ext cx="1447800" cy="27801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5" b="1" lang="en-US">
                  <a:solidFill>
                    <a:srgbClr val="082D48"/>
                  </a:solidFill>
                  <a:latin typeface="Arial"/>
                  <a:ea typeface="SimHei"/>
                </a:rPr>
                <a:t>Training Monitor</a:t>
              </a:r>
            </a:p>
          </p:txBody>
        </p:sp>
        <p:pic>
          <p:nvPicPr>
            <p:cNvPr id="39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16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0" name="Connector | 9"/>
            <p:cNvCxnSpPr/>
            <p:nvPr/>
          </p:nvCxnSpPr>
          <p:spPr>
            <a:xfrm>
              <a:off x="51879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 | Run jobs · Track training"/>
            <p:cNvSpPr txBox="1"/>
            <p:nvPr/>
          </p:nvSpPr>
          <p:spPr>
            <a:xfrm>
              <a:off x="5099050" y="3722814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082D48"/>
                  </a:solidFill>
                  <a:latin typeface="Arial"/>
                  <a:ea typeface="SimHei"/>
                </a:rPr>
                <a:t>Run jobs · Track training</a:t>
              </a:r>
            </a:p>
          </p:txBody>
        </p:sp>
        <p:sp>
          <p:nvSpPr>
            <p:cNvPr id="42" name="Text | Progress · Loss · Metrics"/>
            <p:cNvSpPr txBox="1"/>
            <p:nvPr/>
          </p:nvSpPr>
          <p:spPr>
            <a:xfrm>
              <a:off x="5099050" y="3969829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4C6B83"/>
                  </a:solidFill>
                  <a:latin typeface="Arial"/>
                  <a:ea typeface="SimHei"/>
                </a:rPr>
                <a:t>Progress · Loss · Metrics</a:t>
              </a:r>
            </a:p>
          </p:txBody>
        </p:sp>
      </p:grpSp>
      <p:cxnSp>
        <p:nvCxnSpPr>
          <p:cNvPr id="43" name="Connector | 10"/>
          <p:cNvCxnSpPr/>
          <p:nvPr/>
        </p:nvCxnSpPr>
        <p:spPr>
          <a:xfrm>
            <a:off x="71945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Node | Validate"/>
          <p:cNvGrpSpPr/>
          <p:nvPr/>
        </p:nvGrpSpPr>
        <p:grpSpPr>
          <a:xfrm>
            <a:off x="7340600" y="1543050"/>
            <a:ext cx="2133600" cy="2781300"/>
            <a:chOff x="7340600" y="1543050"/>
            <a:chExt cx="2133600" cy="2781300"/>
          </a:xfrm>
        </p:grpSpPr>
        <p:sp>
          <p:nvSpPr>
            <p:cNvPr id="45" name="Panel | 5"/>
            <p:cNvSpPr/>
            <p:nvPr/>
          </p:nvSpPr>
          <p:spPr>
            <a:xfrm>
              <a:off x="73406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04"/>
            <p:cNvSpPr txBox="1"/>
            <p:nvPr/>
          </p:nvSpPr>
          <p:spPr>
            <a:xfrm>
              <a:off x="74993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7" name="Text | Validate"/>
            <p:cNvSpPr txBox="1"/>
            <p:nvPr/>
          </p:nvSpPr>
          <p:spPr>
            <a:xfrm>
              <a:off x="7861300" y="1638490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Validate</a:t>
              </a:r>
            </a:p>
          </p:txBody>
        </p:sp>
        <p:pic>
          <p:nvPicPr>
            <p:cNvPr id="48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830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9" name="Connector | 11"/>
            <p:cNvCxnSpPr/>
            <p:nvPr/>
          </p:nvCxnSpPr>
          <p:spPr>
            <a:xfrm>
              <a:off x="74993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| Evaluate · Preview predictions"/>
            <p:cNvSpPr txBox="1"/>
            <p:nvPr/>
          </p:nvSpPr>
          <p:spPr>
            <a:xfrm>
              <a:off x="7410450" y="3731514"/>
              <a:ext cx="1993900" cy="22564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3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4" b="0" lang="en-US">
                  <a:solidFill>
                    <a:srgbClr val="082D48"/>
                  </a:solidFill>
                  <a:latin typeface="Arial"/>
                  <a:ea typeface="SimHei"/>
                </a:rPr>
                <a:t>Evaluate · Preview predictions</a:t>
              </a:r>
            </a:p>
          </p:txBody>
        </p:sp>
        <p:sp>
          <p:nvSpPr>
            <p:cNvPr id="51" name="Text | Inspect results · Assess readiness"/>
            <p:cNvSpPr txBox="1"/>
            <p:nvPr/>
          </p:nvSpPr>
          <p:spPr>
            <a:xfrm>
              <a:off x="7410450" y="3987990"/>
              <a:ext cx="1993900" cy="199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2" b="0" lang="en-US">
                  <a:solidFill>
                    <a:srgbClr val="4C6B83"/>
                  </a:solidFill>
                  <a:latin typeface="Arial"/>
                  <a:ea typeface="SimHei"/>
                </a:rPr>
                <a:t>Inspect results · Assess readiness</a:t>
              </a:r>
            </a:p>
          </p:txBody>
        </p:sp>
      </p:grpSp>
      <p:cxnSp>
        <p:nvCxnSpPr>
          <p:cNvPr id="52" name="Connector | 12"/>
          <p:cNvCxnSpPr/>
          <p:nvPr/>
        </p:nvCxnSpPr>
        <p:spPr>
          <a:xfrm>
            <a:off x="95059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Node | Deliver Models"/>
          <p:cNvGrpSpPr/>
          <p:nvPr/>
        </p:nvGrpSpPr>
        <p:grpSpPr>
          <a:xfrm>
            <a:off x="9652000" y="1543050"/>
            <a:ext cx="2133600" cy="2781300"/>
            <a:chOff x="9652000" y="1543050"/>
            <a:chExt cx="2133600" cy="2781300"/>
          </a:xfrm>
        </p:grpSpPr>
        <p:sp>
          <p:nvSpPr>
            <p:cNvPr id="54" name="Panel | 6"/>
            <p:cNvSpPr/>
            <p:nvPr/>
          </p:nvSpPr>
          <p:spPr>
            <a:xfrm>
              <a:off x="96520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 | 05"/>
            <p:cNvSpPr txBox="1"/>
            <p:nvPr/>
          </p:nvSpPr>
          <p:spPr>
            <a:xfrm>
              <a:off x="98107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6" name="Text | Deliver Models"/>
            <p:cNvSpPr txBox="1"/>
            <p:nvPr/>
          </p:nvSpPr>
          <p:spPr>
            <a:xfrm>
              <a:off x="10172700" y="1644269"/>
              <a:ext cx="1447800" cy="3109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49" b="1" lang="en-US">
                  <a:solidFill>
                    <a:srgbClr val="082D48"/>
                  </a:solidFill>
                  <a:latin typeface="Arial"/>
                  <a:ea typeface="SimHei"/>
                </a:rPr>
                <a:t>Deliver Models</a:t>
              </a:r>
            </a:p>
          </p:txBody>
        </p:sp>
        <p:pic>
          <p:nvPicPr>
            <p:cNvPr id="57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44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58" name="Connector | 13"/>
            <p:cNvCxnSpPr/>
            <p:nvPr/>
          </p:nvCxnSpPr>
          <p:spPr>
            <a:xfrm>
              <a:off x="98107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Export · Register versions"/>
            <p:cNvSpPr txBox="1"/>
            <p:nvPr/>
          </p:nvSpPr>
          <p:spPr>
            <a:xfrm>
              <a:off x="9721850" y="3722814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082D48"/>
                  </a:solidFill>
                  <a:latin typeface="Arial"/>
                  <a:ea typeface="SimHei"/>
                </a:rPr>
                <a:t>Export · Register versions</a:t>
              </a:r>
            </a:p>
          </p:txBody>
        </p:sp>
        <p:sp>
          <p:nvSpPr>
            <p:cNvPr id="60" name="Text | Select the active product model"/>
            <p:cNvSpPr txBox="1"/>
            <p:nvPr/>
          </p:nvSpPr>
          <p:spPr>
            <a:xfrm>
              <a:off x="9721850" y="3977894"/>
              <a:ext cx="1993900" cy="21671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3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lang="en-US">
                  <a:solidFill>
                    <a:srgbClr val="4C6B83"/>
                  </a:solidFill>
                  <a:latin typeface="Arial"/>
                  <a:ea typeface="SimHei"/>
                </a:rPr>
                <a:t>Select the active product model</a:t>
              </a:r>
            </a:p>
          </p:txBody>
        </p:sp>
      </p:grpSp>
      <p:sp>
        <p:nvSpPr>
          <p:cNvPr id="61" name="Connector | 14"/>
          <p:cNvSpPr/>
          <p:nvPr/>
        </p:nvSpPr>
        <p:spPr>
          <a:xfrm>
            <a:off x="1473200" y="4349750"/>
            <a:ext cx="6934200" cy="260350"/>
          </a:xfrm>
          <a:custGeom>
            <a:avLst/>
            <a:gdLst/>
            <a:ahLst/>
            <a:cxnLst/>
            <a:rect l="0" t="0" r="r" b="b"/>
            <a:pathLst>
              <a:path w="109200" h="4100" fill="none">
                <a:moveTo>
                  <a:pt x="109200" y="0"/>
                </a:moveTo>
                <a:lnTo>
                  <a:pt x="109200" y="4100"/>
                </a:lnTo>
                <a:lnTo>
                  <a:pt x="0" y="4100"/>
                </a:ln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nel | 7"/>
          <p:cNvSpPr/>
          <p:nvPr/>
        </p:nvSpPr>
        <p:spPr>
          <a:xfrm>
            <a:off x="3048000" y="4470400"/>
            <a:ext cx="3860800" cy="266700"/>
          </a:xfrm>
          <a:prstGeom prst="roundRect">
            <a:avLst>
              <a:gd name="adj" fmla="val 11904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 | Use validation results to refine data and configuration"/>
          <p:cNvSpPr txBox="1"/>
          <p:nvPr/>
        </p:nvSpPr>
        <p:spPr>
          <a:xfrm>
            <a:off x="3105150" y="4516946"/>
            <a:ext cx="3746500" cy="2400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1"/>
              </a:lnSpc>
              <a:spcBef>
                <a:spcPts val="0"/>
              </a:spcBef>
              <a:spcAft>
                <a:spcPts val="0"/>
              </a:spcAft>
            </a:pPr>
            <a:r>
              <a:rPr sz="1196" b="0" lang="en-US">
                <a:solidFill>
                  <a:srgbClr val="007D9D"/>
                </a:solidFill>
                <a:latin typeface="Arial"/>
                <a:ea typeface="SimHei"/>
              </a:rPr>
              <a:t>Use validation results to refine data and configuration</a:t>
            </a:r>
          </a:p>
        </p:txBody>
      </p:sp>
      <p:sp>
        <p:nvSpPr>
          <p:cNvPr id="64" name="Text | Four vision tasks. One shared training platform."/>
          <p:cNvSpPr txBox="1"/>
          <p:nvPr/>
        </p:nvSpPr>
        <p:spPr>
          <a:xfrm>
            <a:off x="406400" y="4896612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082D48"/>
                </a:solidFill>
                <a:latin typeface="Arial"/>
                <a:ea typeface="SimHei"/>
              </a:rPr>
              <a:t>Four vision tasks. One shared training platform.</a:t>
            </a:r>
          </a:p>
        </p:txBody>
      </p:sp>
      <p:grpSp>
        <p:nvGrpSpPr>
          <p:cNvPr id="65" name="Node | Object Detection"/>
          <p:cNvGrpSpPr/>
          <p:nvPr/>
        </p:nvGrpSpPr>
        <p:grpSpPr>
          <a:xfrm>
            <a:off x="406400" y="5251450"/>
            <a:ext cx="2711450" cy="717550"/>
            <a:chOff x="406400" y="5251450"/>
            <a:chExt cx="2711450" cy="717550"/>
          </a:xfrm>
        </p:grpSpPr>
        <p:sp>
          <p:nvSpPr>
            <p:cNvPr id="66" name="Panel | 8"/>
            <p:cNvSpPr/>
            <p:nvPr/>
          </p:nvSpPr>
          <p:spPr>
            <a:xfrm>
              <a:off x="4064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anel | 9"/>
            <p:cNvSpPr/>
            <p:nvPr/>
          </p:nvSpPr>
          <p:spPr>
            <a:xfrm>
              <a:off x="5334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 | Object Detection"/>
            <p:cNvSpPr txBox="1"/>
            <p:nvPr/>
          </p:nvSpPr>
          <p:spPr>
            <a:xfrm>
              <a:off x="67310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Object Detection</a:t>
              </a:r>
            </a:p>
          </p:txBody>
        </p:sp>
        <p:sp>
          <p:nvSpPr>
            <p:cNvPr id="69" name="Text | Locate objects and defects"/>
            <p:cNvSpPr txBox="1"/>
            <p:nvPr/>
          </p:nvSpPr>
          <p:spPr>
            <a:xfrm>
              <a:off x="673100" y="5672264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Locate objects and defects</a:t>
              </a:r>
            </a:p>
          </p:txBody>
        </p:sp>
      </p:grpSp>
      <p:grpSp>
        <p:nvGrpSpPr>
          <p:cNvPr id="70" name="Node | Image Classification"/>
          <p:cNvGrpSpPr/>
          <p:nvPr/>
        </p:nvGrpSpPr>
        <p:grpSpPr>
          <a:xfrm>
            <a:off x="3295650" y="5251450"/>
            <a:ext cx="2711450" cy="717550"/>
            <a:chOff x="3295650" y="5251450"/>
            <a:chExt cx="2711450" cy="717550"/>
          </a:xfrm>
        </p:grpSpPr>
        <p:sp>
          <p:nvSpPr>
            <p:cNvPr id="71" name="Panel | 10"/>
            <p:cNvSpPr/>
            <p:nvPr/>
          </p:nvSpPr>
          <p:spPr>
            <a:xfrm>
              <a:off x="32956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anel | 11"/>
            <p:cNvSpPr/>
            <p:nvPr/>
          </p:nvSpPr>
          <p:spPr>
            <a:xfrm>
              <a:off x="34226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 | Image Classification"/>
            <p:cNvSpPr txBox="1"/>
            <p:nvPr/>
          </p:nvSpPr>
          <p:spPr>
            <a:xfrm>
              <a:off x="356235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Image Classification</a:t>
              </a:r>
            </a:p>
          </p:txBody>
        </p:sp>
        <p:sp>
          <p:nvSpPr>
            <p:cNvPr id="74" name="Text | Recognize categories and quality"/>
            <p:cNvSpPr txBox="1"/>
            <p:nvPr/>
          </p:nvSpPr>
          <p:spPr>
            <a:xfrm>
              <a:off x="3562350" y="5672455"/>
              <a:ext cx="2324100" cy="2403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8" b="0" lang="en-US">
                  <a:solidFill>
                    <a:srgbClr val="4C6B83"/>
                  </a:solidFill>
                  <a:latin typeface="Arial"/>
                  <a:ea typeface="SimHei"/>
                </a:rPr>
                <a:t>Recognize categories and quality</a:t>
              </a:r>
            </a:p>
          </p:txBody>
        </p:sp>
      </p:grpSp>
      <p:grpSp>
        <p:nvGrpSpPr>
          <p:cNvPr id="75" name="Node | Semantic Segmentation"/>
          <p:cNvGrpSpPr/>
          <p:nvPr/>
        </p:nvGrpSpPr>
        <p:grpSpPr>
          <a:xfrm>
            <a:off x="6184900" y="5251450"/>
            <a:ext cx="2711450" cy="717550"/>
            <a:chOff x="6184900" y="5251450"/>
            <a:chExt cx="2711450" cy="717550"/>
          </a:xfrm>
        </p:grpSpPr>
        <p:sp>
          <p:nvSpPr>
            <p:cNvPr id="76" name="Panel | 12"/>
            <p:cNvSpPr/>
            <p:nvPr/>
          </p:nvSpPr>
          <p:spPr>
            <a:xfrm>
              <a:off x="61849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anel | 13"/>
            <p:cNvSpPr/>
            <p:nvPr/>
          </p:nvSpPr>
          <p:spPr>
            <a:xfrm>
              <a:off x="63119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 | Semantic Segmentation"/>
            <p:cNvSpPr txBox="1"/>
            <p:nvPr/>
          </p:nvSpPr>
          <p:spPr>
            <a:xfrm>
              <a:off x="645160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Semantic Segmentation</a:t>
              </a:r>
            </a:p>
          </p:txBody>
        </p:sp>
        <p:sp>
          <p:nvSpPr>
            <p:cNvPr id="79" name="Text | Map regions and boundaries"/>
            <p:cNvSpPr txBox="1"/>
            <p:nvPr/>
          </p:nvSpPr>
          <p:spPr>
            <a:xfrm>
              <a:off x="6451600" y="5672264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Map regions and boundaries</a:t>
              </a:r>
            </a:p>
          </p:txBody>
        </p:sp>
      </p:grpSp>
      <p:grpSp>
        <p:nvGrpSpPr>
          <p:cNvPr id="80" name="Node | Anomaly Detection"/>
          <p:cNvGrpSpPr/>
          <p:nvPr/>
        </p:nvGrpSpPr>
        <p:grpSpPr>
          <a:xfrm>
            <a:off x="9074150" y="5251450"/>
            <a:ext cx="2711450" cy="717550"/>
            <a:chOff x="9074150" y="5251450"/>
            <a:chExt cx="2711450" cy="717550"/>
          </a:xfrm>
        </p:grpSpPr>
        <p:sp>
          <p:nvSpPr>
            <p:cNvPr id="81" name="Panel | 14"/>
            <p:cNvSpPr/>
            <p:nvPr/>
          </p:nvSpPr>
          <p:spPr>
            <a:xfrm>
              <a:off x="90741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anel | 15"/>
            <p:cNvSpPr/>
            <p:nvPr/>
          </p:nvSpPr>
          <p:spPr>
            <a:xfrm>
              <a:off x="92011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 | Anomaly Detection"/>
            <p:cNvSpPr txBox="1"/>
            <p:nvPr/>
          </p:nvSpPr>
          <p:spPr>
            <a:xfrm>
              <a:off x="9340850" y="5382578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Anomaly Detection</a:t>
              </a:r>
            </a:p>
          </p:txBody>
        </p:sp>
        <p:sp>
          <p:nvSpPr>
            <p:cNvPr id="84" name="Text | Learn from normal samples"/>
            <p:cNvSpPr txBox="1"/>
            <p:nvPr/>
          </p:nvSpPr>
          <p:spPr>
            <a:xfrm>
              <a:off x="9340850" y="5672264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Learn from normal samples</a:t>
              </a:r>
            </a:p>
          </p:txBody>
        </p:sp>
      </p:grpSp>
      <p:sp>
        <p:nvSpPr>
          <p:cNvPr id="85" name="Text | Simplify adoption   /   Reuse training knowledge   /   Build model assets"/>
          <p:cNvSpPr txBox="1"/>
          <p:nvPr/>
        </p:nvSpPr>
        <p:spPr>
          <a:xfrm>
            <a:off x="698500" y="6144578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en-US">
                <a:solidFill>
                  <a:srgbClr val="087F79"/>
                </a:solidFill>
                <a:latin typeface="Arial"/>
                <a:ea typeface="SimHei"/>
              </a:rPr>
              <a:t>Simplify adoption   /   Reuse training knowledge   /   Build model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Object Detection | Industrial Defect Localization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082D48"/>
                </a:solidFill>
                <a:latin typeface="Arial"/>
                <a:ea typeface="SimHei"/>
              </a:rPr>
              <a:t>Object Detection | Industrial Defect Localization</a:t>
            </a:r>
          </a:p>
        </p:txBody>
      </p:sp>
      <p:sp>
        <p:nvSpPr>
          <p:cNvPr id="12" name="Text | Locate defects and identify their classes with bounding boxes and confidence scores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4C6B83"/>
                </a:solidFill>
                <a:latin typeface="Arial"/>
                <a:ea typeface="SimHei"/>
              </a:rPr>
              <a:t>Locate defects and identify their classes with bounding boxes and confidence scores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3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03</a:t>
            </a:r>
          </a:p>
        </p:txBody>
      </p:sp>
      <p:grpSp>
        <p:nvGrpSpPr>
          <p:cNvPr id="17" name="Node | Detection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Locate &amp; Classify Defects"/>
            <p:cNvSpPr txBox="1"/>
            <p:nvPr/>
          </p:nvSpPr>
          <p:spPr>
            <a:xfrm>
              <a:off x="584200" y="1626362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en-US">
                  <a:solidFill>
                    <a:srgbClr val="082D48"/>
                  </a:solidFill>
                  <a:latin typeface="Arial"/>
                  <a:ea typeface="SimHei"/>
                </a:rPr>
                <a:t>Locate &amp; Classify Defects</a:t>
              </a:r>
            </a:p>
          </p:txBody>
        </p:sp>
        <p:pic>
          <p:nvPicPr>
            <p:cNvPr id="20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38945"/>
              <a:ext cx="3937000" cy="2399109"/>
            </a:xfrm>
            <a:prstGeom prst="rect">
              <a:avLst/>
            </a:prstGeom>
          </p:spPr>
        </p:pic>
        <p:sp>
          <p:nvSpPr>
            <p:cNvPr id="21" name="Text | Output: Boxes · Classes · Confidence"/>
            <p:cNvSpPr txBox="1"/>
            <p:nvPr/>
          </p:nvSpPr>
          <p:spPr>
            <a:xfrm>
              <a:off x="533400" y="4429442"/>
              <a:ext cx="393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07D9D"/>
                  </a:solidFill>
                  <a:latin typeface="Arial"/>
                  <a:ea typeface="SimHei"/>
                </a:rPr>
                <a:t>Output: Boxes · Classes · Confidence</a:t>
              </a:r>
            </a:p>
          </p:txBody>
        </p:sp>
        <p:sp>
          <p:nvSpPr>
            <p:cNvPr id="22" name="Text | Illustrative output, not a model prediction"/>
            <p:cNvSpPr txBox="1"/>
            <p:nvPr/>
          </p:nvSpPr>
          <p:spPr>
            <a:xfrm>
              <a:off x="533400" y="4653852"/>
              <a:ext cx="3937000" cy="20066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lang="en-US">
                  <a:solidFill>
                    <a:srgbClr val="4C6B83"/>
                  </a:solidFill>
                  <a:latin typeface="Arial"/>
                  <a:ea typeface="SimHei"/>
                </a:rPr>
                <a:t>Illustrative output, not a model prediction</a:t>
              </a:r>
            </a:p>
          </p:txBody>
        </p:sp>
      </p:grpSp>
      <p:grpSp>
        <p:nvGrpSpPr>
          <p:cNvPr id="23" name="Node | PaddleDetection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Detection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PaddleDetection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YOLOE  ·  YOLOv3  ·  PicoDet  ·  RT-DETR"/>
            <p:cNvSpPr txBox="1"/>
            <p:nvPr/>
          </p:nvSpPr>
          <p:spPr>
            <a:xfrm>
              <a:off x="4997450" y="19825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PP-YOLOE  ·  YOLOv3  ·  PicoDet  ·  RT-DETR</a:t>
              </a:r>
            </a:p>
          </p:txBody>
        </p:sp>
        <p:sp>
          <p:nvSpPr>
            <p:cNvPr id="29" name="Text | Faster R-CNN  ·  RetinaNet  ·  CenterNet"/>
            <p:cNvSpPr txBox="1"/>
            <p:nvPr/>
          </p:nvSpPr>
          <p:spPr>
            <a:xfrm>
              <a:off x="4997450" y="229374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Faster R-CNN  ·  RetinaNet  ·  CenterNet</a:t>
              </a:r>
            </a:p>
          </p:txBody>
        </p:sp>
      </p:grpSp>
      <p:grpSp>
        <p:nvGrpSpPr>
          <p:cNvPr id="30" name="Node | TorchDet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Det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TorchDet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Faster R-CNN  ·  RetinaNet  ·  FCOS  ·  SSD / SSDLite"/>
            <p:cNvSpPr txBox="1"/>
            <p:nvPr/>
          </p:nvSpPr>
          <p:spPr>
            <a:xfrm>
              <a:off x="4997450" y="37097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Faster R-CNN  ·  RetinaNet  ·  FCOS  ·  SSD / SSDLite</a:t>
              </a:r>
            </a:p>
          </p:txBody>
        </p:sp>
        <p:sp>
          <p:nvSpPr>
            <p:cNvPr id="36" name="Text | SSD variants: VGG16 → SSD300; MobileNetV3 → SSDLite320"/>
            <p:cNvSpPr txBox="1"/>
            <p:nvPr/>
          </p:nvSpPr>
          <p:spPr>
            <a:xfrm>
              <a:off x="4997450" y="4548314"/>
              <a:ext cx="65468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SSD variants: VGG16 → SSD300; MobileNetV3 → SSDLite320</a:t>
              </a:r>
            </a:p>
          </p:txBody>
        </p:sp>
      </p:grpSp>
      <p:grpSp>
        <p:nvGrpSpPr>
          <p:cNvPr id="37" name="Node | COCO Images &amp; Labels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9e95fdd8cbc9f9a0c34a291105fb480dc039dba98b573e29df9046a523f6996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COCO Images &amp; Labels"/>
            <p:cNvSpPr txBox="1"/>
            <p:nvPr/>
          </p:nvSpPr>
          <p:spPr>
            <a:xfrm>
              <a:off x="14033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COCO Images &amp; Labels</a:t>
              </a:r>
            </a:p>
          </p:txBody>
        </p:sp>
        <p:sp>
          <p:nvSpPr>
            <p:cNvPr id="41" name="Text | Box labels · Classes"/>
            <p:cNvSpPr txBox="1"/>
            <p:nvPr/>
          </p:nvSpPr>
          <p:spPr>
            <a:xfrm>
              <a:off x="140335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Box labels · Classes</a:t>
              </a:r>
            </a:p>
          </p:txBody>
        </p:sp>
      </p:grpSp>
      <p:grpSp>
        <p:nvGrpSpPr>
          <p:cNvPr id="42" name="Node | Training &amp; Metric Tracking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Training &amp; Metric Tracking"/>
            <p:cNvSpPr txBox="1"/>
            <p:nvPr/>
          </p:nvSpPr>
          <p:spPr>
            <a:xfrm>
              <a:off x="525780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Training &amp; Metric Tracking</a:t>
              </a:r>
            </a:p>
          </p:txBody>
        </p:sp>
        <p:sp>
          <p:nvSpPr>
            <p:cNvPr id="46" name="Text | mAP / mAP50 · Training curves"/>
            <p:cNvSpPr txBox="1"/>
            <p:nvPr/>
          </p:nvSpPr>
          <p:spPr>
            <a:xfrm>
              <a:off x="525780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mAP / mAP50 · Training curves</a:t>
              </a:r>
            </a:p>
          </p:txBody>
        </p:sp>
      </p:grpSp>
      <p:grpSp>
        <p:nvGrpSpPr>
          <p:cNvPr id="47" name="Node | Detection Preview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Detection Preview"/>
            <p:cNvSpPr txBox="1"/>
            <p:nvPr/>
          </p:nvSpPr>
          <p:spPr>
            <a:xfrm>
              <a:off x="91122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Detection Preview</a:t>
              </a:r>
            </a:p>
          </p:txBody>
        </p:sp>
        <p:sp>
          <p:nvSpPr>
            <p:cNvPr id="51" name="Text | Locate defects · Inspect classes"/>
            <p:cNvSpPr txBox="1"/>
            <p:nvPr/>
          </p:nvSpPr>
          <p:spPr>
            <a:xfrm>
              <a:off x="911225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Locate defects · Inspect classes</a:t>
              </a:r>
            </a:p>
          </p:txBody>
        </p:sp>
      </p:grpSp>
      <p:sp>
        <p:nvSpPr>
          <p:cNvPr id="52" name="Text | Presets are backend-specific; PP-YOLOE and RT-DETR are not TorchDet models."/>
          <p:cNvSpPr txBox="1"/>
          <p:nvPr/>
        </p:nvSpPr>
        <p:spPr>
          <a:xfrm>
            <a:off x="406400" y="6167564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4C6B83"/>
                </a:solidFill>
                <a:latin typeface="Arial"/>
                <a:ea typeface="SimHei"/>
              </a:rPr>
              <a:t>Presets are backend-specific; PP-YOLOE and RT-DETR are not TorchDet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Segmentation Models | Pixel-level Understanding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082D48"/>
                </a:solidFill>
                <a:latin typeface="Arial"/>
                <a:ea typeface="SimHei"/>
              </a:rPr>
              <a:t>Segmentation Models | Pixel-level Understanding</a:t>
            </a:r>
          </a:p>
        </p:txBody>
      </p:sp>
      <p:sp>
        <p:nvSpPr>
          <p:cNvPr id="12" name="Text | TEM images illustrate segmentation across compact, encoder-decoder and Transformer architectures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4C6B83"/>
                </a:solidFill>
                <a:latin typeface="Arial"/>
                <a:ea typeface="SimHei"/>
              </a:rPr>
              <a:t>TEM images illustrate segmentation across compact, encoder-decoder and Transformer architectures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4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04</a:t>
            </a:r>
          </a:p>
        </p:txBody>
      </p:sp>
      <p:grpSp>
        <p:nvGrpSpPr>
          <p:cNvPr id="17" name="Node | Segmentation example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ixel-level Prediction Example"/>
            <p:cNvSpPr txBox="1"/>
            <p:nvPr/>
          </p:nvSpPr>
          <p:spPr>
            <a:xfrm>
              <a:off x="584200" y="1626362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en-US">
                  <a:solidFill>
                    <a:srgbClr val="082D48"/>
                  </a:solidFill>
                  <a:latin typeface="Arial"/>
                  <a:ea typeface="SimHei"/>
                </a:rPr>
                <a:t>Pixel-level Prediction Example</a:t>
              </a:r>
            </a:p>
          </p:txBody>
        </p:sp>
        <p:pic>
          <p:nvPicPr>
            <p:cNvPr id="20" name="Picture | Independent image" descr="a5f5495a2a992184381fd38d452b6e8d6428ddfa7afef07a273d36adde28bba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6500" y="1911350"/>
              <a:ext cx="2590800" cy="2374900"/>
            </a:xfrm>
            <a:prstGeom prst="rect">
              <a:avLst/>
            </a:prstGeom>
          </p:spPr>
        </p:pic>
        <p:sp>
          <p:nvSpPr>
            <p:cNvPr id="21" name="Text | Regions · Boundaries · Label masks"/>
            <p:cNvSpPr txBox="1"/>
            <p:nvPr/>
          </p:nvSpPr>
          <p:spPr>
            <a:xfrm>
              <a:off x="533400" y="4378071"/>
              <a:ext cx="393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lang="en-US">
                  <a:solidFill>
                    <a:srgbClr val="007D9D"/>
                  </a:solidFill>
                  <a:latin typeface="Arial"/>
                  <a:ea typeface="SimHei"/>
                </a:rPr>
                <a:t>Regions · Boundaries · Label masks</a:t>
              </a:r>
            </a:p>
          </p:txBody>
        </p:sp>
        <p:sp>
          <p:nvSpPr>
            <p:cNvPr id="22" name="Text | TEM segmentation example from this project"/>
            <p:cNvSpPr txBox="1"/>
            <p:nvPr/>
          </p:nvSpPr>
          <p:spPr>
            <a:xfrm>
              <a:off x="533400" y="4641723"/>
              <a:ext cx="393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en-US">
                  <a:solidFill>
                    <a:srgbClr val="4C6B83"/>
                  </a:solidFill>
                  <a:latin typeface="Arial"/>
                  <a:ea typeface="SimHei"/>
                </a:rPr>
                <a:t>TEM segmentation example from this project</a:t>
              </a:r>
            </a:p>
          </p:txBody>
        </p:sp>
      </p:grpSp>
      <p:grpSp>
        <p:nvGrpSpPr>
          <p:cNvPr id="23" name="Node | PaddleSeg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Seg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PaddleSeg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LiteSeg  ·  BiSeNetV2  ·  OCRNet  ·  UNet  ·  DeepLabV3+"/>
            <p:cNvSpPr txBox="1"/>
            <p:nvPr/>
          </p:nvSpPr>
          <p:spPr>
            <a:xfrm>
              <a:off x="4997450" y="20194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PP-LiteSeg  ·  BiSeNetV2  ·  OCRNet  ·  UNet  ·  DeepLabV3+</a:t>
              </a:r>
            </a:p>
          </p:txBody>
        </p:sp>
        <p:sp>
          <p:nvSpPr>
            <p:cNvPr id="29" name="Text | SegFormer-B0  ·  FCN"/>
            <p:cNvSpPr txBox="1"/>
            <p:nvPr/>
          </p:nvSpPr>
          <p:spPr>
            <a:xfrm>
              <a:off x="4997450" y="233064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SegFormer-B0  ·  FCN</a:t>
              </a:r>
            </a:p>
          </p:txBody>
        </p:sp>
      </p:grpSp>
      <p:grpSp>
        <p:nvGrpSpPr>
          <p:cNvPr id="30" name="Node | TorchSeg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Seg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TorchSeg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UNet  ·  DeepLabV3 (UI: DeepLabV3+)  ·  FCN  ·  LR-ASPP"/>
            <p:cNvSpPr txBox="1"/>
            <p:nvPr/>
          </p:nvSpPr>
          <p:spPr>
            <a:xfrm>
              <a:off x="4997450" y="37466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UNet  ·  DeepLabV3 (UI: DeepLabV3+)  ·  FCN  ·  LR-ASPP</a:t>
              </a:r>
            </a:p>
          </p:txBody>
        </p:sp>
        <p:sp>
          <p:nvSpPr>
            <p:cNvPr id="36" name="Text | TorchSeg maps DeepLabV3P to torchvision DeepLabV3, not a V3+ decoder."/>
            <p:cNvSpPr txBox="1"/>
            <p:nvPr/>
          </p:nvSpPr>
          <p:spPr>
            <a:xfrm>
              <a:off x="4997450" y="4560380"/>
              <a:ext cx="65468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en-US">
                  <a:solidFill>
                    <a:srgbClr val="4C6B83"/>
                  </a:solidFill>
                  <a:latin typeface="Arial"/>
                  <a:ea typeface="SimHei"/>
                </a:rPr>
                <a:t>TorchSeg maps DeepLabV3P to torchvision DeepLabV3, not a V3+ decoder.</a:t>
              </a:r>
            </a:p>
          </p:txBody>
        </p:sp>
      </p:grpSp>
      <p:grpSp>
        <p:nvGrpSpPr>
          <p:cNvPr id="37" name="Node | Dataset Layout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9e95fdd8cbc9f9a0c34a291105fb480dc039dba98b573e29df9046a523f6996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Dataset Layout"/>
            <p:cNvSpPr txBox="1"/>
            <p:nvPr/>
          </p:nvSpPr>
          <p:spPr>
            <a:xfrm>
              <a:off x="14033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Dataset Layout</a:t>
              </a:r>
            </a:p>
          </p:txBody>
        </p:sp>
        <p:sp>
          <p:nvSpPr>
            <p:cNvPr id="41" name="Text | Images + masks + train / validation splits"/>
            <p:cNvSpPr txBox="1"/>
            <p:nvPr/>
          </p:nvSpPr>
          <p:spPr>
            <a:xfrm>
              <a:off x="1403350" y="5649658"/>
              <a:ext cx="2533650" cy="21370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65" b="0" lang="en-US">
                  <a:solidFill>
                    <a:srgbClr val="4C6B83"/>
                  </a:solidFill>
                  <a:latin typeface="Arial"/>
                  <a:ea typeface="SimHei"/>
                </a:rPr>
                <a:t>Images + masks + train / validation splits</a:t>
              </a:r>
            </a:p>
          </p:txBody>
        </p:sp>
      </p:grpSp>
      <p:grpSp>
        <p:nvGrpSpPr>
          <p:cNvPr id="42" name="Node | Evaluation Metrics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Evaluation Metrics"/>
            <p:cNvSpPr txBox="1"/>
            <p:nvPr/>
          </p:nvSpPr>
          <p:spPr>
            <a:xfrm>
              <a:off x="525780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Evaluation Metrics</a:t>
              </a:r>
            </a:p>
          </p:txBody>
        </p:sp>
        <p:sp>
          <p:nvSpPr>
            <p:cNvPr id="46" name="Text | mIoU · Dice · Accuracy"/>
            <p:cNvSpPr txBox="1"/>
            <p:nvPr/>
          </p:nvSpPr>
          <p:spPr>
            <a:xfrm>
              <a:off x="5257800" y="5634164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mIoU · Dice · Accuracy</a:t>
              </a:r>
            </a:p>
          </p:txBody>
        </p:sp>
      </p:grpSp>
      <p:grpSp>
        <p:nvGrpSpPr>
          <p:cNvPr id="47" name="Node | Applications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a5f5495a2a992184381fd38d452b6e8d6428ddfa7afef07a273d36adde28bba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Applications"/>
            <p:cNvSpPr txBox="1"/>
            <p:nvPr/>
          </p:nvSpPr>
          <p:spPr>
            <a:xfrm>
              <a:off x="9112250" y="5318442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Applications</a:t>
              </a:r>
            </a:p>
          </p:txBody>
        </p:sp>
        <p:sp>
          <p:nvSpPr>
            <p:cNvPr id="51" name="Text | Defect regions · Microstructure · Boundaries"/>
            <p:cNvSpPr txBox="1"/>
            <p:nvPr/>
          </p:nvSpPr>
          <p:spPr>
            <a:xfrm>
              <a:off x="9112250" y="5659628"/>
              <a:ext cx="2533650" cy="19634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2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8" b="0" lang="en-US">
                  <a:solidFill>
                    <a:srgbClr val="4C6B83"/>
                  </a:solidFill>
                  <a:latin typeface="Arial"/>
                  <a:ea typeface="SimHei"/>
                </a:rPr>
                <a:t>Defect regions · Microstructure · Boundaries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HAWKEYEPLUS  /  INDUSTRIAL VISION AI"/>
          <p:cNvSpPr txBox="1"/>
          <p:nvPr/>
        </p:nvSpPr>
        <p:spPr>
          <a:xfrm>
            <a:off x="546100" y="35668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HAWKEYEPLUS  /  INDUSTRIAL VISION AI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Classification &amp; Anomaly Detection"/>
          <p:cNvSpPr txBox="1"/>
          <p:nvPr/>
        </p:nvSpPr>
        <p:spPr>
          <a:xfrm>
            <a:off x="406400" y="59366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en-US">
                <a:solidFill>
                  <a:srgbClr val="082D48"/>
                </a:solidFill>
                <a:latin typeface="Arial"/>
                <a:ea typeface="SimHei"/>
              </a:rPr>
              <a:t>Classification &amp; Anomaly Detection</a:t>
            </a:r>
          </a:p>
        </p:txBody>
      </p:sp>
      <p:sp>
        <p:nvSpPr>
          <p:cNvPr id="12" name="Text | From image-level labels to learning normal appearance, reuse the same model-development workflow"/>
          <p:cNvSpPr txBox="1"/>
          <p:nvPr/>
        </p:nvSpPr>
        <p:spPr>
          <a:xfrm>
            <a:off x="425450" y="1064578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en-US">
                <a:solidFill>
                  <a:srgbClr val="4C6B83"/>
                </a:solidFill>
                <a:latin typeface="Arial"/>
                <a:ea typeface="SimHei"/>
              </a:rPr>
              <a:t>From image-level labels to learning normal appearance, reuse the same model-development workflow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HawkeyePlus  ·  AI Model Training Platform"/>
          <p:cNvSpPr txBox="1"/>
          <p:nvPr/>
        </p:nvSpPr>
        <p:spPr>
          <a:xfrm>
            <a:off x="412750" y="6607238"/>
            <a:ext cx="666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HawkeyePlus  ·  AI Model Training Platform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05"/>
          <p:cNvSpPr txBox="1"/>
          <p:nvPr/>
        </p:nvSpPr>
        <p:spPr>
          <a:xfrm>
            <a:off x="11455400" y="6607238"/>
            <a:ext cx="3175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05</a:t>
            </a:r>
          </a:p>
        </p:txBody>
      </p:sp>
      <p:grpSp>
        <p:nvGrpSpPr>
          <p:cNvPr id="17" name="Node | PaddleClas"/>
          <p:cNvGrpSpPr/>
          <p:nvPr/>
        </p:nvGrpSpPr>
        <p:grpSpPr>
          <a:xfrm>
            <a:off x="406400" y="1504950"/>
            <a:ext cx="5600700" cy="4514850"/>
            <a:chOff x="406400" y="1504950"/>
            <a:chExt cx="5600700" cy="45148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addleClas | Image Classification"/>
            <p:cNvSpPr txBox="1"/>
            <p:nvPr/>
          </p:nvSpPr>
          <p:spPr>
            <a:xfrm>
              <a:off x="590550" y="1626997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PaddleClas | Image Classification</a:t>
              </a:r>
            </a:p>
          </p:txBody>
        </p:sp>
        <p:sp>
          <p:nvSpPr>
            <p:cNvPr id="20" name="Text | Learn labeled categories; predict image-level classes"/>
            <p:cNvSpPr txBox="1"/>
            <p:nvPr/>
          </p:nvSpPr>
          <p:spPr>
            <a:xfrm>
              <a:off x="590550" y="1965071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4C6B83"/>
                  </a:solidFill>
                  <a:latin typeface="Arial"/>
                  <a:ea typeface="SimHei"/>
                </a:rPr>
                <a:t>Learn labeled categories; predict image-level classes</a:t>
              </a:r>
            </a:p>
          </p:txBody>
        </p:sp>
        <p:pic>
          <p:nvPicPr>
            <p:cNvPr id="21" name="Picture | Independent image" descr="d9f2c819103d2d99178667bc713b62c470ca8263d9dc14a7a3b597989ce9141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673" y="2254250"/>
              <a:ext cx="3126154" cy="1905000"/>
            </a:xfrm>
            <a:prstGeom prst="rect">
              <a:avLst/>
            </a:prstGeom>
          </p:spPr>
        </p:pic>
        <p:sp>
          <p:nvSpPr>
            <p:cNvPr id="22" name="Text | Illustrative classification"/>
            <p:cNvSpPr txBox="1"/>
            <p:nvPr/>
          </p:nvSpPr>
          <p:spPr>
            <a:xfrm>
              <a:off x="603250" y="4203573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en-US">
                  <a:solidFill>
                    <a:srgbClr val="4C6B83"/>
                  </a:solidFill>
                  <a:latin typeface="Arial"/>
                  <a:ea typeface="SimHei"/>
                </a:rPr>
                <a:t>Illustrative classification</a:t>
              </a:r>
            </a:p>
          </p:txBody>
        </p:sp>
        <p:cxnSp>
          <p:nvCxnSpPr>
            <p:cNvPr id="23" name="Connector | 5"/>
            <p:cNvCxnSpPr/>
            <p:nvPr/>
          </p:nvCxnSpPr>
          <p:spPr>
            <a:xfrm>
              <a:off x="590550" y="4476750"/>
              <a:ext cx="52324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| 9 Classification Variants"/>
            <p:cNvSpPr txBox="1"/>
            <p:nvPr/>
          </p:nvSpPr>
          <p:spPr>
            <a:xfrm>
              <a:off x="590550" y="4589399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007D9D"/>
                  </a:solidFill>
                  <a:latin typeface="Arial"/>
                  <a:ea typeface="SimHei"/>
                </a:rPr>
                <a:t>9 Classification Variants</a:t>
              </a:r>
            </a:p>
          </p:txBody>
        </p:sp>
        <p:sp>
          <p:nvSpPr>
            <p:cNvPr id="25" name="Text | ResNet18 · ResNet34 · ResNet50 · ResNet101"/>
            <p:cNvSpPr txBox="1"/>
            <p:nvPr/>
          </p:nvSpPr>
          <p:spPr>
            <a:xfrm>
              <a:off x="590550" y="4886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ResNet18 · ResNet34 · ResNet50 · ResNet101</a:t>
              </a:r>
            </a:p>
          </p:txBody>
        </p:sp>
        <p:sp>
          <p:nvSpPr>
            <p:cNvPr id="26" name="Text | MobileNetV3 Small / Large (x1.0)"/>
            <p:cNvSpPr txBox="1"/>
            <p:nvPr/>
          </p:nvSpPr>
          <p:spPr>
            <a:xfrm>
              <a:off x="590550" y="5140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MobileNetV3 Small / Large (x1.0)</a:t>
              </a:r>
            </a:p>
          </p:txBody>
        </p:sp>
        <p:sp>
          <p:nvSpPr>
            <p:cNvPr id="27" name="Text | PP-LCNet x1.0 · PP-HGNet Small"/>
            <p:cNvSpPr txBox="1"/>
            <p:nvPr/>
          </p:nvSpPr>
          <p:spPr>
            <a:xfrm>
              <a:off x="590550" y="5394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PP-LCNet x1.0 · PP-HGNet Small</a:t>
              </a:r>
            </a:p>
          </p:txBody>
        </p:sp>
        <p:sp>
          <p:nvSpPr>
            <p:cNvPr id="28" name="Text | Swin Transformer Tiny (patch4 / window7 / 224)"/>
            <p:cNvSpPr txBox="1"/>
            <p:nvPr/>
          </p:nvSpPr>
          <p:spPr>
            <a:xfrm>
              <a:off x="590550" y="5648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Swin Transformer Tiny (patch4 / window7 / 224)</a:t>
              </a:r>
            </a:p>
          </p:txBody>
        </p:sp>
      </p:grpSp>
      <p:grpSp>
        <p:nvGrpSpPr>
          <p:cNvPr id="29" name="Node | TorchAnomaly"/>
          <p:cNvGrpSpPr/>
          <p:nvPr/>
        </p:nvGrpSpPr>
        <p:grpSpPr>
          <a:xfrm>
            <a:off x="6184900" y="1504950"/>
            <a:ext cx="5600700" cy="4514850"/>
            <a:chOff x="6184900" y="1504950"/>
            <a:chExt cx="5600700" cy="4514850"/>
          </a:xfrm>
        </p:grpSpPr>
        <p:sp>
          <p:nvSpPr>
            <p:cNvPr id="30" name="Panel | 3"/>
            <p:cNvSpPr/>
            <p:nvPr/>
          </p:nvSpPr>
          <p:spPr>
            <a:xfrm>
              <a:off x="61849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TorchAnomaly | Anomaly Detection"/>
            <p:cNvSpPr txBox="1"/>
            <p:nvPr/>
          </p:nvSpPr>
          <p:spPr>
            <a:xfrm>
              <a:off x="6369050" y="1626997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TorchAnomaly | Anomaly Detection</a:t>
              </a:r>
            </a:p>
          </p:txBody>
        </p:sp>
        <p:sp>
          <p:nvSpPr>
            <p:cNvPr id="32" name="Text | Learn normal appearance; produce anomaly scores and heatmaps"/>
            <p:cNvSpPr txBox="1"/>
            <p:nvPr/>
          </p:nvSpPr>
          <p:spPr>
            <a:xfrm>
              <a:off x="6369050" y="1965071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en-US">
                  <a:solidFill>
                    <a:srgbClr val="4C6B83"/>
                  </a:solidFill>
                  <a:latin typeface="Arial"/>
                  <a:ea typeface="SimHei"/>
                </a:rPr>
                <a:t>Learn normal appearance; produce anomaly scores and heatmaps</a:t>
              </a:r>
            </a:p>
          </p:txBody>
        </p:sp>
        <p:pic>
          <p:nvPicPr>
            <p:cNvPr id="33" name="Picture | Independent image" descr="d84699fd34171909ef48bde5cbb997c7c984c852253b3ddefc2e991c3477e6f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2173" y="2254250"/>
              <a:ext cx="3126154" cy="1905000"/>
            </a:xfrm>
            <a:prstGeom prst="rect">
              <a:avLst/>
            </a:prstGeom>
          </p:spPr>
        </p:pic>
        <p:sp>
          <p:nvSpPr>
            <p:cNvPr id="34" name="Text | Illustrative anomaly heatmap"/>
            <p:cNvSpPr txBox="1"/>
            <p:nvPr/>
          </p:nvSpPr>
          <p:spPr>
            <a:xfrm>
              <a:off x="6381750" y="4203573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en-US">
                  <a:solidFill>
                    <a:srgbClr val="4C6B83"/>
                  </a:solidFill>
                  <a:latin typeface="Arial"/>
                  <a:ea typeface="SimHei"/>
                </a:rPr>
                <a:t>Illustrative anomaly heatmap</a:t>
              </a:r>
            </a:p>
          </p:txBody>
        </p:sp>
        <p:cxnSp>
          <p:nvCxnSpPr>
            <p:cNvPr id="35" name="Connector | 6"/>
            <p:cNvCxnSpPr/>
            <p:nvPr/>
          </p:nvCxnSpPr>
          <p:spPr>
            <a:xfrm>
              <a:off x="6369050" y="4476750"/>
              <a:ext cx="52324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| 5 anomalib Presets"/>
            <p:cNvSpPr txBox="1"/>
            <p:nvPr/>
          </p:nvSpPr>
          <p:spPr>
            <a:xfrm>
              <a:off x="6369050" y="4589399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en-US">
                  <a:solidFill>
                    <a:srgbClr val="007D9D"/>
                  </a:solidFill>
                  <a:latin typeface="Arial"/>
                  <a:ea typeface="SimHei"/>
                </a:rPr>
                <a:t>5 anomalib Presets</a:t>
              </a:r>
            </a:p>
          </p:txBody>
        </p:sp>
        <p:sp>
          <p:nvSpPr>
            <p:cNvPr id="37" name="Text | PatchCore  ·  PaDiM  ·  STFPM  ·  EfficientAD"/>
            <p:cNvSpPr txBox="1"/>
            <p:nvPr/>
          </p:nvSpPr>
          <p:spPr>
            <a:xfrm>
              <a:off x="6369050" y="49277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PatchCore  ·  PaDiM  ·  STFPM  ·  EfficientAD</a:t>
              </a:r>
            </a:p>
          </p:txBody>
        </p:sp>
        <p:sp>
          <p:nvSpPr>
            <p:cNvPr id="38" name="Text | SuperSimpleNet"/>
            <p:cNvSpPr txBox="1"/>
            <p:nvPr/>
          </p:nvSpPr>
          <p:spPr>
            <a:xfrm>
              <a:off x="6369050" y="52960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SuperSimpleNet</a:t>
              </a:r>
            </a:p>
          </p:txBody>
        </p:sp>
      </p:grpSp>
      <p:sp>
        <p:nvSpPr>
          <p:cNvPr id="39" name="Text | Current UI presets only; custom YAML compatibility depends on the selected backend."/>
          <p:cNvSpPr txBox="1"/>
          <p:nvPr/>
        </p:nvSpPr>
        <p:spPr>
          <a:xfrm>
            <a:off x="406400" y="6167564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4C6B83"/>
                </a:solidFill>
                <a:latin typeface="Arial"/>
                <a:ea typeface="SimHei"/>
              </a:rPr>
              <a:t>Current UI presets only; custom YAML compatibility depends on the selected backend.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DPPTv5_2026">
  <a:themeElements>
    <a:clrScheme name="WD_FINAL">
      <a:dk1>
        <a:srgbClr val="000000"/>
      </a:dk1>
      <a:lt1>
        <a:srgbClr val="FFFFFF"/>
      </a:lt1>
      <a:dk2>
        <a:srgbClr val="00263E"/>
      </a:dk2>
      <a:lt2>
        <a:srgbClr val="E3E3E3"/>
      </a:lt2>
      <a:accent1>
        <a:srgbClr val="3C8CFF"/>
      </a:accent1>
      <a:accent2>
        <a:srgbClr val="002883"/>
      </a:accent2>
      <a:accent3>
        <a:srgbClr val="48C3F0"/>
      </a:accent3>
      <a:accent4>
        <a:srgbClr val="00E5D1"/>
      </a:accent4>
      <a:accent5>
        <a:srgbClr val="2266FF"/>
      </a:accent5>
      <a:accent6>
        <a:srgbClr val="806CFF"/>
      </a:accent6>
      <a:hlink>
        <a:srgbClr val="2266FF"/>
      </a:hlink>
      <a:folHlink>
        <a:srgbClr val="40E1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3E3"/>
        </a:solidFill>
        <a:ln>
          <a:noFill/>
        </a:ln>
      </a:spPr>
      <a:bodyPr lIns="82296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/>
      <a:bodyPr spcFirstLastPara="1" wrap="square" lIns="82296" tIns="45720" rIns="0" bIns="45720" rtlCol="0" anchor="t" anchorCtr="0">
        <a:spAutoFit/>
      </a:bodyPr>
      <a:lstStyle>
        <a:defPPr algn="l">
          <a:buClr>
            <a:schemeClr val="dk1"/>
          </a:buClr>
          <a:buSzPts val="1100"/>
          <a:defRPr sz="1400" spc="-30" dirty="0">
            <a:solidFill>
              <a:schemeClr val="tx2"/>
            </a:solidFill>
            <a:latin typeface="FK Grotesk Neue" panose="020B0503020202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D_CoreMaster_v2" id="{98E0218E-061B-3C4D-9B45-6D4FD43BA911}" vid="{3B0881BA-3C58-5149-9D4F-F46C3FE8D3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FAB2 Automation - Vendor Visit Agenda and Installation Schedule - 12-23 Oct 2026</Template>
  <TotalTime>4</TotalTime>
  <Words>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WDPPTv5_2026</vt:lpstr>
      <vt:lpstr>Hawkeye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WDC,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HawkeyePlus Platform Architecture &amp; Training Models</dc:title>
  <dc:creator>HawkeyePlus</dc:creator>
  <cp:lastModifiedBy>Hansen Liu</cp:lastModifiedBy>
  <cp:revision>5</cp:revision>
  <dcterms:created xsi:type="dcterms:W3CDTF">2026-10-12T06:03:57Z</dcterms:created>
  <dcterms:modified xsi:type="dcterms:W3CDTF">2026-10-12T06:08:10Z</dcterms:modified>
  <dc:subject>Industrial vision: data, training, validation and model portfolio</dc:subject>
</cp:coreProperties>
</file>