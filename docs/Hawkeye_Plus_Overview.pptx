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Hawkeye+ AutoTrain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alibri"/>
              </a:rPr>
              <a:t>An End-to-End, Visualized Training Platform for Object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F59E0B"/>
                </a:solidFill>
                <a:latin typeface="Calibri"/>
              </a:rPr>
              <a:t>From Data to Deployable Model — In One 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Why We Built Hawkeye+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Calibri"/>
              </a:rPr>
              <a:t>Industry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Custom object-detection models are increasingly demanded by industrial inspection and defect detection.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Mainstream frameworks (e.g., PaddleDetection) are powerful but command-line driven, with hand-edited YAML and limited training visibility.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Data annotation, format conversion, training, evaluation, and deployment are fragmented across disjointed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Calibri"/>
              </a:rPr>
              <a:t>Internal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Algorithm engineers spend significant time on repetitive setup rather than model improvement.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Non-algorithm staff (annotators, QA) cannot directly participate in the model iteration loop.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Shared GPU servers lack governance, causing resource conflicts and unclear accountability.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 runs are opaque; experiments are hard to track and reproduce.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alibri"/>
              </a:rPr>
              <a:t>Our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Deliver a web-based, visualized, multi-user training platform that turns model development into a configure-and-click experience — with full transparency and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Platform Overview &amp; 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End-to-end, fully visualized training platform built on PaddleDetection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End-to-End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Projects, datasets, models, training, monitoring, validation in one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Zero Command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GUI-driven operations; YAML configurations editable / importable visually.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65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Real-Time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Live charts for loss, learning rate, mAP, GPU utilization, and ETA.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Multi-User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Role-based access (Admin / User), isolation, full activity audit log.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4290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4290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Built-In Data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Integrated annotation tool plus one-click Labelme to COCO conversion.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429000"/>
            <a:ext cx="3657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42900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566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Deployment-Ready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TensorRT model export and download directly from the platform.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Calibri"/>
              </a:rPr>
              <a:t>User Roles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Administrator — </a:t>
            </a:r>
            <a:r>
              <a:rPr sz="1200">
                <a:solidFill>
                  <a:srgbClr val="1F2937"/>
                </a:solidFill>
              </a:rPr>
              <a:t>System settings, user management, data annotation, plus all standard features.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User — </a:t>
            </a:r>
            <a:r>
              <a:rPr sz="1200">
                <a:solidFill>
                  <a:srgbClr val="1F2937"/>
                </a:solidFill>
              </a:rPr>
              <a:t>Full self-service workflow: project → dataset → model → training → validation.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End-to-End Workflow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Seven sequential, iterable steps from data to deployable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578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06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Configurations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580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4582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058400" y="3108960"/>
            <a:ext cx="13716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2743200"/>
            <a:ext cx="137160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246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Calibri"/>
              </a:rPr>
              <a:t>Supporting Modules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2628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5262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6634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74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Global overview, GPU &amp; job status in real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6432" y="452628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56432" y="45262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9312" y="46634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Data Annotation (Admin)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5074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Internal labeling and dataset preparation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452628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2784" y="45262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46634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User Management (Admin)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5074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Roles, permissions, audit 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89136" y="452628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89136" y="45262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6" y="46634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Settings (Admin)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5074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System paths, GPU mappings, environment check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0533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Persistent status indicator (System Ready / GPU Occupied / Training / Environment Error) is visible across the platform.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4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The top-level container that organizes all training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Provide an organized, isolated container for every training initiative.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Create, edit, search, and delete projects with unique names and descriptions.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All datasets, models, configurations, and jobs are scoped to a project.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Card-based listing for quick navigation across initiatives.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Clear organization. </a:t>
            </a:r>
            <a:r>
              <a:rPr sz="1200">
                <a:solidFill>
                  <a:srgbClr val="1F2937"/>
                </a:solidFill>
              </a:rPr>
              <a:t>Every asset is traceable to a business initiative.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Strong isolation. </a:t>
            </a:r>
            <a:r>
              <a:rPr sz="1200">
                <a:solidFill>
                  <a:srgbClr val="1F2937"/>
                </a:solidFill>
              </a:rPr>
              <a:t>Products, versions, and customers do not interfere with each other.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Lifecycle control. </a:t>
            </a:r>
            <a:r>
              <a:rPr sz="1200">
                <a:solidFill>
                  <a:srgbClr val="1F2937"/>
                </a:solidFill>
              </a:rPr>
              <a:t>Legacy projects can be archived rather than lost.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5 —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Dataset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Ensure training data is available, healthy, and ready to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Answer where training data comes from and verify its quality before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Chunked web upload (large files, resume-on-failure).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Server-side import of existing datasets with auto-detected paths.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Supported formats: COCO and Labelme.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One-click Labelme to COCO conversion with configurable train / val / test split.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Dataset insight: annotation counts, class distribution, sample preview with bounding boxes.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Large-file friendly. </a:t>
            </a:r>
            <a:r>
              <a:rPr sz="1200">
                <a:solidFill>
                  <a:srgbClr val="1F2937"/>
                </a:solidFill>
              </a:rPr>
              <a:t>Chunked transfer with resume support.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Format agnostic. </a:t>
            </a:r>
            <a:r>
              <a:rPr sz="1200">
                <a:solidFill>
                  <a:srgbClr val="1F2937"/>
                </a:solidFill>
              </a:rPr>
              <a:t>Built-in conversion eliminates external tooling.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Quality up-front. </a:t>
            </a:r>
            <a:r>
              <a:rPr sz="1200">
                <a:solidFill>
                  <a:srgbClr val="1F2937"/>
                </a:solidFill>
              </a:rPr>
              <a:t>Visual inspection catches issues before training starts.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6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Decide which network architecture will learn the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Allow users at any skill level to choose or define the model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Default templates from PaddleDetection.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Reusable user configurations saved by the team.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Custom YAML for advanced users.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Each model is named and bound to a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Flexible by skill level. </a:t>
            </a:r>
            <a:r>
              <a:rPr sz="1200">
                <a:solidFill>
                  <a:srgbClr val="1F2937"/>
                </a:solidFill>
              </a:rPr>
              <a:t>Beginners use templates, experts customize.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Knowledge accumulation. </a:t>
            </a:r>
            <a:r>
              <a:rPr sz="1200">
                <a:solidFill>
                  <a:srgbClr val="1F2937"/>
                </a:solidFill>
              </a:rPr>
              <a:t>Proven configurations become team assets.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Full transparency. </a:t>
            </a:r>
            <a:r>
              <a:rPr sz="1200">
                <a:solidFill>
                  <a:srgbClr val="1F2937"/>
                </a:solidFill>
              </a:rPr>
              <a:t>Underlying YAML is always inspectable.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7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Training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Define how the model will be trained — hyperparameters and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Capture and reuse training recipes independent of model and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Parameter coverage: epochs, batch size, learning rate, scheduler, warmup, worker count, and more.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Same three configuration sources: defaults, user history, custom YAML.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Configurations are independent assets, reusable across jobs.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Reusable recipes. </a:t>
            </a:r>
            <a:r>
              <a:rPr sz="1200">
                <a:solidFill>
                  <a:srgbClr val="1F2937"/>
                </a:solidFill>
              </a:rPr>
              <a:t>Proven setups power many experiments.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Decoupled design. </a:t>
            </a:r>
            <a:r>
              <a:rPr sz="1200">
                <a:solidFill>
                  <a:srgbClr val="1F2937"/>
                </a:solidFill>
              </a:rPr>
              <a:t>Any model can be paired with any configuration and dataset.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8 —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Training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Turn data + model + configuration into actual GPU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Execute training under controlled, observable, and recoverable conditions.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Job submission with selectable training configuration and explicit GPU assignment (single or multi-GPU).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Training options: AMP (mixed precision) and VDL (VisualDL logging).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Full lifecycle: Pending → Running → Completed / Failed / Stopped.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Actions: start, stop, resume from checkpoint, delete, view live logs.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Resource control. </a:t>
            </a:r>
            <a:r>
              <a:rPr sz="1200">
                <a:solidFill>
                  <a:srgbClr val="1F2937"/>
                </a:solidFill>
              </a:rPr>
              <a:t>Explicit GPU allocation prevents conflicts.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Resilient. </a:t>
            </a:r>
            <a:r>
              <a:rPr sz="1200">
                <a:solidFill>
                  <a:srgbClr val="1F2937"/>
                </a:solidFill>
              </a:rPr>
              <a:t>Long runs can be stopped and resumed from the latest checkpoint.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At-a-glance status. </a:t>
            </a:r>
            <a:r>
              <a:rPr sz="1200">
                <a:solidFill>
                  <a:srgbClr val="1F2937"/>
                </a:solidFill>
              </a:rPr>
              <a:t>Color-coded badges make queue health obvious.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9 —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Training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Eliminate the black box during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Provide real-time visibility, full traceability, and storage discipline during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Live charts: loss, learning rate, mAP, iterations per second, ETA.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Per-GPU resource monitoring (memory and utilization).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Streaming log view with error highlighting and search.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Checkpoint management: auto-save, best-model tracking, resume, cleanup.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Real-time insight. </a:t>
            </a:r>
            <a:r>
              <a:rPr sz="1200">
                <a:solidFill>
                  <a:srgbClr val="1F2937"/>
                </a:solidFill>
              </a:rPr>
              <a:t>Issues are caught early, not after wasted compute.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Auditability. </a:t>
            </a:r>
            <a:r>
              <a:rPr sz="1200">
                <a:solidFill>
                  <a:srgbClr val="1F2937"/>
                </a:solidFill>
              </a:rPr>
              <a:t>Full historical logs and checkpoints are retained.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Storage efficiency. </a:t>
            </a:r>
            <a:r>
              <a:rPr sz="1200">
                <a:solidFill>
                  <a:srgbClr val="1F2937"/>
                </a:solidFill>
              </a:rPr>
              <a:t>Automated cleanup of obsolete checkpoints.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10 —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Validation, Inference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Take a trained model from completed to evaluated, used, and deployable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9326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Close the loop from training to deployment without leaving the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Select any completed training job and a specific checkpoint.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Evaluation: mAP@0.5 / 0.75 / 0.5:0.95, AR@1 / 10 / 100, accuracy by object size (S/M/L), interactive charts.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Inference: single image or batch folder, with annotated output images.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TensorRT export: one-click export and download for deployment.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Validation history: complete record of every evaluation and inference run.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3949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08960"/>
            <a:ext cx="50292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Closes the loop. </a:t>
            </a:r>
            <a:r>
              <a:rPr sz="1200">
                <a:solidFill>
                  <a:srgbClr val="1F2937"/>
                </a:solidFill>
              </a:rPr>
              <a:t>No separate deployment toolchain required.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Model comparison. </a:t>
            </a:r>
            <a:r>
              <a:rPr sz="1200">
                <a:solidFill>
                  <a:srgbClr val="1F2937"/>
                </a:solidFill>
              </a:rPr>
              <a:t>Different checkpoints can be evaluated side by side.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</a:rPr>
              <a:t>● </a:t>
            </a:r>
            <a:r>
              <a:rPr sz="1200" b="1">
                <a:solidFill>
                  <a:srgbClr val="1F2937"/>
                </a:solidFill>
              </a:rPr>
              <a:t>Visual evidence. </a:t>
            </a:r>
            <a:r>
              <a:rPr sz="1200">
                <a:solidFill>
                  <a:srgbClr val="1F2937"/>
                </a:solidFill>
              </a:rPr>
              <a:t>Charts and annotated images make quality intuitive for non-experts.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Supporting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Cross-cutting features that complement the core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Global overview of projects, jobs, GPUs, and recent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Annotation (Admin)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Built-in image annotation tool.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Class selection, drag-to-draw, keyboard navigation.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Auto-save every 30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82880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User Management (Admin)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Create / edit / disable / delete users.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Assign roles, reset passwords.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Per-user activity log for 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82880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9136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Settings (Admin)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Python and PaddleDetection paths.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Per-GPU Python environment mapping.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One-click environment health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49240"/>
            <a:ext cx="109728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972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Health check verifies Python, CUDA, PaddleDetection, and disk space; results are surfaced as a live status badge in the global header.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Summary &amp; 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A single web platform for the full object-detection training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Value to Algorithm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Removes repetitive setup work.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Focus shifts to data and modeling.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Faster experiment cadence and iteration.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Value to Non-Algorithm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Lowers the barrier to participation.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Annotators and QA contribute directly.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Common language across functions.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Value to Leadership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Visible GPU and job resource usage.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Controlled, auditable processes.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Traceable outputs from data to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solidFill>
            <a:srgbClr val="0A4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From data to deployable model — in one platform, with transparency, control, and collaboration.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Architecture, data model, real-time training channel, and engineering details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BACKUP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Overall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Web application + dedicated training microservice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974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Next.js 16 (App Router) + React 19 + TypeScript 5.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Tailwind CSS 4 + shadcn/ui (Radix UI).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Zustand + TanStack Query for state and data.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React Hook Form + Zod for forms and validation.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Recharts, Framer Motion, next-intl, next-themes.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6974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774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Next.js API Routes (40+ endpoints under src/app/api/).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NextAuth.js with role-based middleware.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Prisma ORM over SQLite.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828800"/>
            <a:ext cx="26974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Training Microservice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3774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Bun runtime with Socket.io on port 3003.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Spawns training subprocesses.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Parses PaddleDetection logs.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Streams progress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828800"/>
            <a:ext cx="26974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9136" y="1828800"/>
            <a:ext cx="26974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965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A4E49"/>
                </a:solidFill>
                <a:latin typeface="Calibri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3774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next build produces a standalone bundle.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Bun serves the application.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Caddy reverse proxy.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start.vbs for one-click startup on Windows.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BACKUP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Data Model (Prisma Schema)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Project-rooted ownership with audit-ready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Calibri"/>
              </a:rPr>
              <a:t>Core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User, SystemConfig.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Project → Dataset / Model / TrainingConfig.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TrainingJob → TrainingLog.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ValidationJob.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GpuMetric, ActivityLog.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Design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All training assets are rooted at Project for clean ownership.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TrainingLog persists per-epoch / per-iteration metrics for later analysis.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ActivityLog records user actions to support auditing and compliance.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BACKUP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Real-Time Training Channel (Socket.io)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Bidirectional events drive live progress, logs,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Client →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training:start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training:stop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training:status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training:subscribe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training:unsubscribe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3949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949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928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Server →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training:started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training:log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training:progress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training:epoch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</a:rPr>
              <a:t>● </a:t>
            </a:r>
            <a:r>
              <a:rPr sz="1300">
                <a:solidFill>
                  <a:srgbClr val="1F2937"/>
                </a:solidFill>
              </a:rPr>
              <a:t>training:complete / stopped /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Calibri"/>
              </a:rPr>
              <a:t>Log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A dedicated parser (log-parser.ts) extracts epoch, iteration, loss, learning rate, ETA, and memory metrics.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</a:rPr>
              <a:t>● </a:t>
            </a:r>
            <a:r>
              <a:rPr sz="1200">
                <a:solidFill>
                  <a:srgbClr val="1F2937"/>
                </a:solidFill>
              </a:rPr>
              <a:t>Parsed records are persisted to the database and streamed to subscribed clients.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BACKUP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800" b="1">
                <a:solidFill>
                  <a:srgbClr val="0A4E49"/>
                </a:solidFill>
                <a:latin typeface="Calibri"/>
              </a:rPr>
              <a:t>Key Engineering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Highlights of the implementation that enable the platform's 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● </a:t>
            </a:r>
            <a:r>
              <a:rPr sz="1400" b="1">
                <a:solidFill>
                  <a:srgbClr val="1F2937"/>
                </a:solidFill>
              </a:rPr>
              <a:t>Multi-GPU, multi-environment. </a:t>
            </a:r>
            <a:r>
              <a:rPr sz="1400">
                <a:solidFill>
                  <a:srgbClr val="1F2937"/>
                </a:solidFill>
              </a:rPr>
              <a:t>SystemConfig.gpuPythonMappings binds each GPU to its own Python environment.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● </a:t>
            </a:r>
            <a:r>
              <a:rPr sz="1400" b="1">
                <a:solidFill>
                  <a:srgbClr val="1F2937"/>
                </a:solidFill>
              </a:rPr>
              <a:t>Large-file upload. </a:t>
            </a:r>
            <a:r>
              <a:rPr sz="1400">
                <a:solidFill>
                  <a:srgbClr val="1F2937"/>
                </a:solidFill>
              </a:rPr>
              <a:t>Chunked transfer with resume-on-failure for datasets.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● </a:t>
            </a:r>
            <a:r>
              <a:rPr sz="1400" b="1">
                <a:solidFill>
                  <a:srgbClr val="1F2937"/>
                </a:solidFill>
              </a:rPr>
              <a:t>Three configuration sources. </a:t>
            </a:r>
            <a:r>
              <a:rPr sz="1400">
                <a:solidFill>
                  <a:srgbClr val="1F2937"/>
                </a:solidFill>
              </a:rPr>
              <a:t>Default templates, user history, and custom YAML — unified as YAML strings in the database.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● </a:t>
            </a:r>
            <a:r>
              <a:rPr sz="1400" b="1">
                <a:solidFill>
                  <a:srgbClr val="1F2937"/>
                </a:solidFill>
              </a:rPr>
              <a:t>Job isolation. </a:t>
            </a:r>
            <a:r>
              <a:rPr sz="1400">
                <a:solidFill>
                  <a:srgbClr val="1F2937"/>
                </a:solidFill>
              </a:rPr>
              <a:t>Each training job has its own outputDir, weightsPath, and vdlLogDir.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● </a:t>
            </a:r>
            <a:r>
              <a:rPr sz="1400" b="1">
                <a:solidFill>
                  <a:srgbClr val="1F2937"/>
                </a:solidFill>
              </a:rPr>
              <a:t>Environment health check. </a:t>
            </a:r>
            <a:r>
              <a:rPr sz="1400">
                <a:solidFill>
                  <a:srgbClr val="1F2937"/>
                </a:solidFill>
              </a:rPr>
              <a:t>/api/system/environment-check verifies Python, PaddleDetection, and GPU status; surfaced as a live status badge.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Hawkeye+ AutoTrain Platform —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